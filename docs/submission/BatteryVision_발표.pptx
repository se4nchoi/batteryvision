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df899e8e-f73a-1535-f14f-ba43cb566f3d}">
          <p14:sldIdLst>
            <p14:sldId id="256"/>
            <p14:sldId id="257"/>
          </p14:sldIdLst>
        </p14:section>
        <p14:section name="실험" id="{7ac2d25a-7667-554b-9494-1f93ff41f383}">
          <p14:sldIdLst>
            <p14:sldId id="258"/>
            <p14:sldId id="259"/>
            <p14:sldId id="260"/>
            <p14:sldId id="261"/>
          </p14:sldIdLst>
        </p14:section>
        <p14:section name="최적화" id="{b18c5141-5c3c-cc91-bf53-4902d7da81f7}">
          <p14:sldIdLst>
            <p14:sldId id="262"/>
          </p14:sldIdLst>
        </p14:section>
        <p14:section name="검증" id="{b8148790-546b-f277-bf02-966a7e0de876}">
          <p14:sldIdLst>
            <p14:sldId id="263"/>
          </p14:sldIdLst>
        </p14:section>
        <p14:section name="정리" id="{ef2245b8-c325-61bf-ddb8-b6b90c7f71c7}">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EF1F5"/>
                </a:solidFill>
                <a:latin typeface="+mn-lt"/>
              </a:defRPr>
            </a:pPr>
            <a:r>
              <a:rPr sz="1400" b="0" i="0" u="none" strike="noStrike">
                <a:solidFill>
                  <a:srgbClr val="EEF1F5"/>
                </a:solidFill>
                <a:latin typeface="+mn-lt"/>
              </a:rPr>
              <a:t>클래스별 AP@50 (1차 테스트 131장)</a:t>
            </a:r>
          </a:p>
        </c:rich>
      </c:tx>
      <c:layout/>
      <c:overlay val="0"/>
    </c:title>
    <c:autoTitleDeleted val="0"/>
    <c:plotArea>
      <c:layout/>
      <c:barChart>
        <c:barDir val="col"/>
        <c:grouping val="clustered"/>
        <c:varyColors val="0"/>
        <c:ser>
          <c:idx val="0"/>
          <c:order val="0"/>
          <c:tx>
            <c:strRef>
              <c:f>Sheet1!$B$1</c:f>
              <c:strCache>
                <c:ptCount val="1"/>
                <c:pt idx="0">
                  <c:v>crack</c:v>
                </c:pt>
              </c:strCache>
            </c:strRef>
          </c:tx>
          <c:spPr>
            <a:solidFill>
              <a:srgbClr val="E5534B"/>
            </a:solidFill>
            <a:effectLst/>
          </c:spPr>
          <c:invertIfNegative val="0"/>
          <c:dLbls>
            <c:numFmt formatCode="0.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Sheet1!$B$2:$B$4</c:f>
              <c:numCache>
                <c:formatCode>General</c:formatCode>
                <c:ptCount val="3"/>
                <c:pt idx="0">
                  <c:v>1</c:v>
                </c:pt>
                <c:pt idx="1">
                  <c:v>1</c:v>
                </c:pt>
                <c:pt idx="2">
                  <c:v>1</c:v>
                </c:pt>
              </c:numCache>
            </c:numRef>
          </c:val>
        </c:ser>
        <c:ser>
          <c:idx val="1"/>
          <c:order val="1"/>
          <c:tx>
            <c:strRef>
              <c:f>Sheet1!$C$1</c:f>
              <c:strCache>
                <c:ptCount val="1"/>
                <c:pt idx="0">
                  <c:v>scratch</c:v>
                </c:pt>
              </c:strCache>
            </c:strRef>
          </c:tx>
          <c:spPr>
            <a:solidFill>
              <a:srgbClr val="F2B33D"/>
            </a:solidFill>
            <a:effectLst/>
          </c:spPr>
          <c:invertIfNegative val="0"/>
          <c:dLbls>
            <c:numFmt formatCode="0.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Sheet1!$C$2:$C$4</c:f>
              <c:numCache>
                <c:formatCode>General</c:formatCode>
                <c:ptCount val="3"/>
                <c:pt idx="0">
                  <c:v>0.858</c:v>
                </c:pt>
                <c:pt idx="1">
                  <c:v>0.784</c:v>
                </c:pt>
                <c:pt idx="2">
                  <c:v>0.664</c:v>
                </c:pt>
              </c:numCache>
            </c:numRef>
          </c:val>
        </c:ser>
        <c:dLbls>
          <c:numFmt formatCode="0.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EEF1F5"/>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3A3F48"/>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9AA4B2"/>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EEF1F5"/>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EF1F5"/>
                </a:solidFill>
                <a:latin typeface="+mn-lt"/>
              </a:defRPr>
            </a:pPr>
            <a:r>
              <a:rPr sz="1400" b="0" i="0" u="none" strike="noStrike">
                <a:solidFill>
                  <a:srgbClr val="EEF1F5"/>
                </a:solidFill>
                <a:latin typeface="+mn-lt"/>
              </a:rPr>
              <a:t>CPU ms / 사진 (낮을수록 빠름)</a:t>
            </a:r>
          </a:p>
        </c:rich>
      </c:tx>
      <c:layout/>
      <c:overlay val="0"/>
    </c:title>
    <c:autoTitleDeleted val="0"/>
    <c:plotArea>
      <c:layout/>
      <c:barChart>
        <c:barDir val="col"/>
        <c:grouping val="clustered"/>
        <c:varyColors val="0"/>
        <c:ser>
          <c:idx val="0"/>
          <c:order val="0"/>
          <c:tx>
            <c:strRef>
              <c:f>Sheet1!$B$1</c:f>
              <c:strCache>
                <c:ptCount val="1"/>
                <c:pt idx="0">
                  <c:v>FP16</c:v>
                </c:pt>
              </c:strCache>
            </c:strRef>
          </c:tx>
          <c:spPr>
            <a:solidFill>
              <a:srgbClr val="6B7480"/>
            </a:solidFill>
            <a:effectLst/>
          </c:spPr>
          <c:invertIfNegative val="0"/>
          <c:dLbls>
            <c:numFmt formatCode="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Sheet1!$B$2:$B$4</c:f>
              <c:numCache>
                <c:formatCode>General</c:formatCode>
                <c:ptCount val="3"/>
                <c:pt idx="0">
                  <c:v>43.9</c:v>
                </c:pt>
                <c:pt idx="1">
                  <c:v>48.9</c:v>
                </c:pt>
                <c:pt idx="2">
                  <c:v>33.5</c:v>
                </c:pt>
              </c:numCache>
            </c:numRef>
          </c:val>
        </c:ser>
        <c:ser>
          <c:idx val="1"/>
          <c:order val="1"/>
          <c:tx>
            <c:strRef>
              <c:f>Sheet1!$C$1</c:f>
              <c:strCache>
                <c:ptCount val="1"/>
                <c:pt idx="0">
                  <c:v>INT8</c:v>
                </c:pt>
              </c:strCache>
            </c:strRef>
          </c:tx>
          <c:spPr>
            <a:solidFill>
              <a:srgbClr val="4FD1C5"/>
            </a:solidFill>
            <a:effectLst/>
          </c:spPr>
          <c:invertIfNegative val="0"/>
          <c:dLbls>
            <c:numFmt formatCode="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Sheet1!$C$2:$C$4</c:f>
              <c:numCache>
                <c:formatCode>General</c:formatCode>
                <c:ptCount val="3"/>
                <c:pt idx="0">
                  <c:v>20</c:v>
                </c:pt>
                <c:pt idx="1">
                  <c:v>24.9</c:v>
                </c:pt>
                <c:pt idx="2">
                  <c:v>8.3</c:v>
                </c:pt>
              </c:numCache>
            </c:numRef>
          </c:val>
        </c:ser>
        <c:dLbls>
          <c:numFmt formatCode="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EEF1F5"/>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3A3F48"/>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9AA4B2"/>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EEF1F5"/>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배터리 셀 표면의 crack과 scratch를 찾는 Vision AI입니다. Intel Geti로 ATSS, YOLOX-S, YOLOX-Tiny 세 모델을 학습해 비교하고, INT8로 경량화했을 때 무엇이 달라지는지 분석했습니다.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crack은 세 모델 모두 AP 1.0이지만, scratch는 0.66에서 0.86입니다. 박스 크기는 640픽셀 사진에서 둘 다 약 44×38픽셀로 같습니다. 차이는 대비입니다. crack은 어둡고 뚜렷하고, scratch는 반사나 나무결과 비슷한 흐릿한 선입니다. 이후 나오는 오류도 대부분 scratch입니다. 실제로 배경을 결함으로 잘못 본 16건 중 13건이 scratch였습니다. 모델이 배경의 결이나 반사를 scratch로 착각한다는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라벨이 이미 달린 Roboflow 공개 데이터셋을 그대로 Geti에 가져왔습니다. 목적은 모델별 성능 차이와 INT8 경량화의 효과를 보는 것입니다. 모델은 ATSS, YOLOX-S, YOLOX-Tiny 세 가지를 각각 기본 FP16, heatmap을 출력하는 FP16 XAI, 그리고 INT8로 내보내 총 9개를 비교했습니다. 한계는 분명합니다. 사진이 전부 초록 매트, 회색, 나무 탁상 위에서 찍은 탁상 사진이고, 셀당 사진은 한 장, 촬영 세션도 반복됩니다.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 결과는 mAP 93%로 좋아 보였습니다. 하지만 데이터를 다시 보니 문제가 있었습니다. Roboflow 데이터셋을 통째로 Geti에 올리면서 테스트 153장도 함께 들어갔고, Geti가 이를 다시 나눠 학습했습니다. 그래서 1차 테스트 사진 중 일부는 모델이 학습 때 본 사진일 수 있습니다. 게다가 22장은 학습 사진과 사실상 같은 사진이었습니다. 직접 만든 데이터셋이 아니라서 놓친 부분입니다. 그래서 1차 점수는 모델끼리 비교하는 데만 쓰고, 처음 보는 사진에서의 성능은 2차 세트로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Geti 화면입니다. 세 모델 모두 같은 2,800장으로 학습했고, Geti 점수는 ATSS 86%, 나머지 81%입니다. 다만 Roboflow가 원본마다 증강 사본 3장을 만들어 두었고 Geti가 이를 무작위로 나눴기 때문에, 같은 원본의 사본이 Geti 학습과 테스트에 함께 들어갔을 가능성이 높아 Geti 점수도 낙관적입니다. 오른쪽은 직접 만든 벤치마크로 잰 값인데 순서가 같습니다. 파라미터가 가장 적은 ATSS가 가장 정확했고, 학습에 안 쓴 2차 세트에서도 ATSS가 YOLOX-S보다 훨씬 많이 잡았습니다. 다만 '작다'는 파라미터 기준이고, 연산량은 Tiny가 가장 적습니다. 왜 ATSS가 이겼는지는 가설 단계입니다. ATSS는 992×800으로 학습해 결함을 1.5배 크게 보고, 데이터가 2,800장으로 적어 작은 모델이 덜 과적합했을 수 있습니다. 모델마다 한 번씩만 학습해서 확정할 수는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결론부터 말하면, crack과 scratch를 서로 헷갈린 경우는 한 번도 없고, 오류는 전부 놓친 scratch나 배경 오검출입니다. 특히 나무 탁상 배경에서 재현율이 33%로 가장 약합니다. 나무결이 scratch처럼 가는 선 모양이라 놓치기도 하고 잘못 보기도 합니다. heatmap은 YOLOX-S가 98%의 사진에서 결함을 짚지만 ATSS는 48%로, 정확도와 설명력은 별개였습니다.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수업에서 다룬 모델 최적화를 직접 써보고 싶어서, Geti에서 INT8 모델을 받아 직접 만든 벤치마크로 측정했습니다. 같은 131장을 한 장씩, 같은 CPU에서, 전처리와 후처리를 포함해 잰 값입니다. INT8은 2배에서 4배 빠르고 크기는 절반 정도이며, mAP는 그대로입니다. 대신 신뢰도 점수가 조금 낮아져 같은 기준에서는 놓치는 결함이 늘어납니다. INT8을 쓰려면 기준값을 다시 정해야 합니다. 빨라지는 이유는 CPU의 8비트 연산 명령을 쓰고 옮길 데이터가 절반이기 때문이고, 놓침이 느는 이유는 양자화로 점수가 조금 내려가 0.30 근처 결함이 기준 아래로 떨어지기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업로더가 올린 다른 세트에서, 학습에 한 번도 쓰지 않은 45장으로 제 앱에서 다시 테스트했습니다. 1차 테스트에서 결함 셀을 거의 다 잡던 모델이 ATSS 47%, YOLOX-S 3%까지 떨어집니다. 결함을 착각한 게 아니라 점수가 낮아서 통과시킨 것이고, 정상 셀을 불합격시킨 경우는 없었습니다. 가장 큰 원인은 crack입니다. 2차 세트의 crack은 약 30×26픽셀로 1차의 절반 면적이고, ATSS는 15개 중 1개만 잡았습니다. 학습 때 본 크기의 crack만 쉬웠던 겁니다. 기준값을 바꿔 보면, ATSS는 0.15까지 낮추면 결함 97%를 잡지만 정상 셀도 87%가 걸립니다. YOLOX-S는 다릅니다. 2차 세트 mAP@50이 0.93으로 결함을 정상보다 높게 순위 매기는 건 정확한데, 점수 자체가 낮습니다. YOLOX 점수는 물체일 확률과 클래스 확률을 곱한 값이라 원래 낮게 나오고, 처음 보는 사진에서는 더 낮아집니다. 0.05로 낮추면 정상 오검출 없이 57%를 잡습니다. 즉 기준값은 모델마다 따로 정해야 하고, 그래도 부족하기 때문에 새 환경 사진으로 재학습이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 순서대로 정리했습니다. 점수가 가장 높았던 단계보다, 테스트셋이 학습 데이터에 섞인 걸 발견하고 2차 세트에서 점수가 떨어진 단계에서 더 많이 배웠습니다. 마지막으로 기준값을 낮춰 봤지만 정상 셀이 87% 걸려서, 새 환경에서는 기준값이 아니라 재학습이 필요하다는 결론입니다.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대시보드에서 실제 모델이 가상 검사 라인을 돌리는 모습을 보여드리겠습니다. (라이브 데모로 전환)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06040"/>
            <a:ext cx="4389120" cy="164592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3" name="Text 0"/>
          <p:cNvSpPr/>
          <p:nvPr>
            <p:ph idx="101" type="body" hasCustomPrompt="1"/>
          </p:nvPr>
        </p:nvSpPr>
        <p:spPr>
          <a:xfrm>
            <a:off x="548640" y="4343400"/>
            <a:ext cx="4297680" cy="822960"/>
          </a:xfrm>
          <a:prstGeom prst="rect">
            <a:avLst/>
          </a:prstGeom>
          <a:noFill/>
          <a:ln/>
        </p:spPr>
        <p:txBody>
          <a:bodyPr wrap="square" rtlCol="0"/>
          <a:lstStyle>
            <a:lvl1pPr algn="l" indent="0" marL="0">
              <a:buNone/>
              <a:defRPr lang="en-US" sz="1600" dirty="0">
                <a:solidFill>
                  <a:schemeClr val="tx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rtlCol="0"/>
          <a:lstStyle>
            <a:lvl1pPr algn="l" indent="0" marL="0">
              <a:buNone/>
              <a:defRPr lang="en-US" sz="1500" dirty="0">
                <a:solidFill>
                  <a:schemeClr val="tx2"/>
                </a:solidFill>
              </a:defRPr>
            </a:lvl1pPr>
          </a:lstStyle>
          <a:p>
            <a:pPr algn="l" indent="0" marL="0">
              <a:buNone/>
            </a:pPr>
            <a:endParaRPr lang="en-US" sz="15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tx2"/>
                </a:solidFill>
              </a:rPr>
              <a:t>BatteryVision · Intel Geti 실습</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image" Target="../media/image-2-3.jp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548640" y="2148840"/>
            <a:ext cx="4206240" cy="320040"/>
          </a:xfrm>
          <a:prstGeom prst="rect">
            <a:avLst/>
          </a:prstGeom>
          <a:noFill/>
          <a:ln/>
        </p:spPr>
        <p:txBody>
          <a:bodyPr wrap="square" lIns="0" tIns="0" rIns="0" bIns="0" rtlCol="0" anchor="t"/>
          <a:lstStyle/>
          <a:p>
            <a:pPr indent="0" marL="0">
              <a:buNone/>
            </a:pPr>
            <a:r>
              <a:rPr lang="en-US" sz="1400" b="1" dirty="0">
                <a:solidFill>
                  <a:schemeClr val="accent1"/>
                </a:solidFill>
              </a:rPr>
              <a:t>Intel Geti · OpenVINO 실습</a:t>
            </a:r>
            <a:endParaRPr lang="en-US" sz="1400" dirty="0"/>
          </a:p>
        </p:txBody>
      </p:sp>
      <p:sp>
        <p:nvSpPr>
          <p:cNvPr id="3" name="Text 0"/>
          <p:cNvSpPr/>
          <p:nvPr>
            <p:ph idx="100" type="title" hasCustomPrompt="1"/>
          </p:nvPr>
        </p:nvSpPr>
        <p:spPr>
          <a:xfrm>
            <a:off x="548640" y="2606040"/>
            <a:ext cx="4389120" cy="1645920"/>
          </a:xfrm>
          <a:prstGeom prst="rect">
            <a:avLst/>
          </a:prstGeom>
          <a:noFill/>
          <a:ln/>
        </p:spPr>
        <p:txBody>
          <a:bodyPr wrap="square" lIns="0" tIns="0" rIns="0" bIns="0" rtlCol="0" anchor="t"/>
          <a:lstStyle/>
          <a:p>
            <a:pPr algn="l" indent="0" marL="0">
              <a:buNone/>
            </a:pPr>
            <a:r>
              <a:rPr lang="en-US" sz="4000" b="1" dirty="0">
                <a:solidFill>
                  <a:schemeClr val="tx1"/>
                </a:solidFill>
              </a:rPr>
              <a:t>배터리 표면 식별</a:t>
            </a:r>
            <a:endParaRPr lang="en-US" sz="4000" dirty="0"/>
          </a:p>
          <a:p>
            <a:pPr algn="l" indent="0" marL="0">
              <a:buNone/>
            </a:pPr>
            <a:r>
              <a:rPr lang="en-US" sz="4000" b="1" dirty="0">
                <a:solidFill>
                  <a:schemeClr val="tx1"/>
                </a:solidFill>
              </a:rPr>
              <a:t>Vision AI</a:t>
            </a:r>
            <a:endParaRPr lang="en-US" sz="4000" dirty="0"/>
          </a:p>
        </p:txBody>
      </p:sp>
      <p:sp>
        <p:nvSpPr>
          <p:cNvPr id="4" name="Text 0"/>
          <p:cNvSpPr/>
          <p:nvPr>
            <p:ph idx="101" type="body" hasCustomPrompt="1"/>
          </p:nvPr>
        </p:nvSpPr>
        <p:spPr>
          <a:xfrm>
            <a:off x="548640" y="4343400"/>
            <a:ext cx="4297680" cy="822960"/>
          </a:xfrm>
          <a:prstGeom prst="rect">
            <a:avLst/>
          </a:prstGeom>
          <a:noFill/>
          <a:ln/>
        </p:spPr>
        <p:txBody>
          <a:bodyPr wrap="square" lIns="0" tIns="0" rIns="0" bIns="0" rtlCol="0" anchor="t"/>
          <a:lstStyle/>
          <a:p>
            <a:pPr algn="l" indent="0" marL="0">
              <a:buNone/>
            </a:pPr>
            <a:r>
              <a:rPr lang="en-US" sz="1600" dirty="0">
                <a:solidFill>
                  <a:schemeClr val="tx2"/>
                </a:solidFill>
              </a:rPr>
              <a:t>ATSS · YOLOX-S · YOLOX-Tiny 모델 비교 및 INT8 경량화 분석</a:t>
            </a:r>
            <a:endParaRPr lang="en-US" sz="1600" dirty="0"/>
          </a:p>
        </p:txBody>
      </p:sp>
      <p:pic>
        <p:nvPicPr>
          <p:cNvPr id="5" name="cover-crack" descr="C:\Users\user\_se4nchoi\batteryvision\docs\submission\build\img\cover_crack.jpg">    </p:cNvPr>
          <p:cNvPicPr>
            <a:picLocks noChangeAspect="1"/>
          </p:cNvPicPr>
          <p:nvPr/>
        </p:nvPicPr>
        <p:blipFill>
          <a:blip r:embed="rId1"/>
          <a:stretch>
            <a:fillRect/>
          </a:stretch>
        </p:blipFill>
        <p:spPr>
          <a:xfrm>
            <a:off x="5074920" y="2377440"/>
            <a:ext cx="2103120" cy="2103120"/>
          </a:xfrm>
          <a:prstGeom prst="rect">
            <a:avLst/>
          </a:prstGeom>
        </p:spPr>
      </p:pic>
      <p:sp>
        <p:nvSpPr>
          <p:cNvPr id="6" name="cover-dot-crack"/>
          <p:cNvSpPr/>
          <p:nvPr/>
        </p:nvSpPr>
        <p:spPr>
          <a:xfrm>
            <a:off x="5074920" y="4663440"/>
            <a:ext cx="146304" cy="146304"/>
          </a:xfrm>
          <a:prstGeom prst="ellipse">
            <a:avLst/>
          </a:prstGeom>
          <a:solidFill>
            <a:schemeClr val="accent2"/>
          </a:solidFill>
          <a:ln/>
        </p:spPr>
      </p:sp>
      <p:sp>
        <p:nvSpPr>
          <p:cNvPr id="7" name="cover-label-crack"/>
          <p:cNvSpPr txBox="1"/>
          <p:nvPr/>
        </p:nvSpPr>
        <p:spPr>
          <a:xfrm>
            <a:off x="5312664" y="4590288"/>
            <a:ext cx="1828800" cy="292608"/>
          </a:xfrm>
          <a:prstGeom prst="rect">
            <a:avLst/>
          </a:prstGeom>
          <a:noFill/>
          <a:ln/>
        </p:spPr>
        <p:txBody>
          <a:bodyPr wrap="square" lIns="0" tIns="0" rIns="0" bIns="0" rtlCol="0" anchor="t"/>
          <a:lstStyle/>
          <a:p>
            <a:pPr indent="0" marL="0">
              <a:buNone/>
            </a:pPr>
            <a:r>
              <a:rPr lang="en-US" sz="1400" b="1" dirty="0">
                <a:solidFill>
                  <a:schemeClr val="tx1"/>
                </a:solidFill>
              </a:rPr>
              <a:t>crack</a:t>
            </a:r>
            <a:endParaRPr lang="en-US" sz="1400" dirty="0"/>
          </a:p>
        </p:txBody>
      </p:sp>
      <p:pic>
        <p:nvPicPr>
          <p:cNvPr id="8" name="cover-scratch" descr="C:\Users\user\_se4nchoi\batteryvision\docs\submission\build\img\cover_scratch.jpg">    </p:cNvPr>
          <p:cNvPicPr>
            <a:picLocks noChangeAspect="1"/>
          </p:cNvPicPr>
          <p:nvPr/>
        </p:nvPicPr>
        <p:blipFill>
          <a:blip r:embed="rId2"/>
          <a:stretch>
            <a:fillRect/>
          </a:stretch>
        </p:blipFill>
        <p:spPr>
          <a:xfrm>
            <a:off x="7360920" y="2377440"/>
            <a:ext cx="2103120" cy="2103120"/>
          </a:xfrm>
          <a:prstGeom prst="rect">
            <a:avLst/>
          </a:prstGeom>
        </p:spPr>
      </p:pic>
      <p:sp>
        <p:nvSpPr>
          <p:cNvPr id="9" name="cover-dot-scratch"/>
          <p:cNvSpPr/>
          <p:nvPr/>
        </p:nvSpPr>
        <p:spPr>
          <a:xfrm>
            <a:off x="7360920" y="4663440"/>
            <a:ext cx="146304" cy="146304"/>
          </a:xfrm>
          <a:prstGeom prst="ellipse">
            <a:avLst/>
          </a:prstGeom>
          <a:solidFill>
            <a:schemeClr val="accent3"/>
          </a:solidFill>
          <a:ln/>
        </p:spPr>
      </p:sp>
      <p:sp>
        <p:nvSpPr>
          <p:cNvPr id="10" name="cover-label-scratch"/>
          <p:cNvSpPr txBox="1"/>
          <p:nvPr/>
        </p:nvSpPr>
        <p:spPr>
          <a:xfrm>
            <a:off x="7598664" y="4590288"/>
            <a:ext cx="1828800" cy="292608"/>
          </a:xfrm>
          <a:prstGeom prst="rect">
            <a:avLst/>
          </a:prstGeom>
          <a:noFill/>
          <a:ln/>
        </p:spPr>
        <p:txBody>
          <a:bodyPr wrap="square" lIns="0" tIns="0" rIns="0" bIns="0" rtlCol="0" anchor="t"/>
          <a:lstStyle/>
          <a:p>
            <a:pPr indent="0" marL="0">
              <a:buNone/>
            </a:pPr>
            <a:r>
              <a:rPr lang="en-US" sz="1400" b="1" dirty="0">
                <a:solidFill>
                  <a:schemeClr val="tx1"/>
                </a:solidFill>
              </a:rPr>
              <a:t>scratch</a:t>
            </a:r>
            <a:endParaRPr lang="en-US" sz="1400" dirty="0"/>
          </a:p>
        </p:txBody>
      </p:sp>
      <p:pic>
        <p:nvPicPr>
          <p:cNvPr id="11" name="cover-정상" descr="C:\Users\user\_se4nchoi\batteryvision\docs\submission\build\img\cover_good.jpg">    </p:cNvPr>
          <p:cNvPicPr>
            <a:picLocks noChangeAspect="1"/>
          </p:cNvPicPr>
          <p:nvPr/>
        </p:nvPicPr>
        <p:blipFill>
          <a:blip r:embed="rId3"/>
          <a:stretch>
            <a:fillRect/>
          </a:stretch>
        </p:blipFill>
        <p:spPr>
          <a:xfrm>
            <a:off x="9646920" y="2377440"/>
            <a:ext cx="2103120" cy="2103120"/>
          </a:xfrm>
          <a:prstGeom prst="rect">
            <a:avLst/>
          </a:prstGeom>
        </p:spPr>
      </p:pic>
      <p:sp>
        <p:nvSpPr>
          <p:cNvPr id="12" name="cover-dot-정상"/>
          <p:cNvSpPr/>
          <p:nvPr/>
        </p:nvSpPr>
        <p:spPr>
          <a:xfrm>
            <a:off x="9646920" y="4663440"/>
            <a:ext cx="146304" cy="146304"/>
          </a:xfrm>
          <a:prstGeom prst="ellipse">
            <a:avLst/>
          </a:prstGeom>
          <a:solidFill>
            <a:schemeClr val="accent6"/>
          </a:solidFill>
          <a:ln/>
        </p:spPr>
      </p:sp>
      <p:sp>
        <p:nvSpPr>
          <p:cNvPr id="13" name="cover-label-정상"/>
          <p:cNvSpPr txBox="1"/>
          <p:nvPr/>
        </p:nvSpPr>
        <p:spPr>
          <a:xfrm>
            <a:off x="9884664" y="4590288"/>
            <a:ext cx="1828800" cy="292608"/>
          </a:xfrm>
          <a:prstGeom prst="rect">
            <a:avLst/>
          </a:prstGeom>
          <a:noFill/>
          <a:ln/>
        </p:spPr>
        <p:txBody>
          <a:bodyPr wrap="square" lIns="0" tIns="0" rIns="0" bIns="0" rtlCol="0" anchor="t"/>
          <a:lstStyle/>
          <a:p>
            <a:pPr indent="0" marL="0">
              <a:buNone/>
            </a:pPr>
            <a:r>
              <a:rPr lang="en-US" sz="1400" b="1" dirty="0">
                <a:solidFill>
                  <a:schemeClr val="tx1"/>
                </a:solidFill>
              </a:rPr>
              <a:t>정상</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meme-backdrop" descr="C:\Users\user\_se4nchoi\batteryvision\docs\submission\build\img\meme_bg.png">    </p:cNvPr>
          <p:cNvPicPr>
            <a:picLocks noChangeAspect="1"/>
          </p:cNvPicPr>
          <p:nvPr/>
        </p:nvPicPr>
        <p:blipFill>
          <a:blip r:embed="rId1"/>
          <a:stretch>
            <a:fillRect/>
          </a:stretch>
        </p:blipFill>
        <p:spPr>
          <a:xfrm>
            <a:off x="5989320" y="0"/>
            <a:ext cx="1600200" cy="1600200"/>
          </a:xfrm>
          <a:prstGeom prst="rect">
            <a:avLst/>
          </a:prstGeom>
        </p:spPr>
      </p:pic>
      <p:sp>
        <p:nvSpPr>
          <p:cNvPr id="3"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crack은 쉽고, scratch는 어려워</a:t>
            </a:r>
            <a:endParaRPr lang="en-US" sz="3200" dirty="0"/>
          </a:p>
        </p:txBody>
      </p:sp>
      <p:sp>
        <p:nvSpPr>
          <p:cNvPr id="4"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비슷한 크기, 다른 대비</a:t>
            </a:r>
            <a:endParaRPr lang="en-US" sz="1500" dirty="0"/>
          </a:p>
        </p:txBody>
      </p:sp>
      <p:sp>
        <p:nvSpPr>
          <p:cNvPr id="5" name="meme-credit"/>
          <p:cNvSpPr txBox="1"/>
          <p:nvPr/>
        </p:nvSpPr>
        <p:spPr>
          <a:xfrm>
            <a:off x="3291840" y="6419088"/>
            <a:ext cx="3657600" cy="274320"/>
          </a:xfrm>
          <a:prstGeom prst="rect">
            <a:avLst/>
          </a:prstGeom>
          <a:noFill/>
          <a:ln/>
        </p:spPr>
        <p:txBody>
          <a:bodyPr wrap="square" lIns="0" tIns="0" rIns="0" bIns="0" rtlCol="0" anchor="ctr"/>
          <a:lstStyle/>
          <a:p>
            <a:pPr indent="0" marL="0">
              <a:buNone/>
            </a:pPr>
            <a:r>
              <a:rPr lang="en-US" sz="900" dirty="0">
                <a:solidFill>
                  <a:schemeClr val="tx2"/>
                </a:solidFill>
              </a:rPr>
              <a:t>배경 이미지: Mnet 방송 화면</a:t>
            </a:r>
            <a:endParaRPr lang="en-US" sz="900" dirty="0"/>
          </a:p>
        </p:txBody>
      </p:sp>
      <p:pic>
        <p:nvPicPr>
          <p:cNvPr id="6" name="zoom-crack" descr="C:\Users\user\_se4nchoi\batteryvision\docs\submission\build\img\zoom_crack.jpg">    </p:cNvPr>
          <p:cNvPicPr>
            <a:picLocks noChangeAspect="1"/>
          </p:cNvPicPr>
          <p:nvPr/>
        </p:nvPicPr>
        <p:blipFill>
          <a:blip r:embed="rId2"/>
          <a:stretch>
            <a:fillRect/>
          </a:stretch>
        </p:blipFill>
        <p:spPr>
          <a:xfrm>
            <a:off x="548640" y="1645920"/>
            <a:ext cx="3108960" cy="3108960"/>
          </a:xfrm>
          <a:prstGeom prst="rect">
            <a:avLst/>
          </a:prstGeom>
        </p:spPr>
      </p:pic>
      <p:sp>
        <p:nvSpPr>
          <p:cNvPr id="7" name="zoom-dot-crack"/>
          <p:cNvSpPr/>
          <p:nvPr/>
        </p:nvSpPr>
        <p:spPr>
          <a:xfrm>
            <a:off x="548640" y="4956048"/>
            <a:ext cx="146304" cy="146304"/>
          </a:xfrm>
          <a:prstGeom prst="ellipse">
            <a:avLst/>
          </a:prstGeom>
          <a:solidFill>
            <a:schemeClr val="accent2"/>
          </a:solidFill>
          <a:ln/>
        </p:spPr>
      </p:sp>
      <p:sp>
        <p:nvSpPr>
          <p:cNvPr id="8" name="zoom-cap-crack"/>
          <p:cNvSpPr txBox="1"/>
          <p:nvPr/>
        </p:nvSpPr>
        <p:spPr>
          <a:xfrm>
            <a:off x="786384" y="4882896"/>
            <a:ext cx="2834640" cy="292608"/>
          </a:xfrm>
          <a:prstGeom prst="rect">
            <a:avLst/>
          </a:prstGeom>
          <a:noFill/>
          <a:ln/>
        </p:spPr>
        <p:txBody>
          <a:bodyPr wrap="square" lIns="0" tIns="0" rIns="0" bIns="0" rtlCol="0" anchor="t"/>
          <a:lstStyle/>
          <a:p>
            <a:pPr indent="0" marL="0">
              <a:buNone/>
            </a:pPr>
            <a:r>
              <a:rPr lang="en-US" sz="1400" b="1" dirty="0">
                <a:solidFill>
                  <a:schemeClr val="tx1"/>
                </a:solidFill>
              </a:rPr>
              <a:t>crack  </a:t>
            </a:r>
            <a:pPr indent="0" marL="0">
              <a:buNone/>
            </a:pPr>
            <a:r>
              <a:rPr lang="en-US" sz="1400" dirty="0">
                <a:solidFill>
                  <a:schemeClr val="tx2"/>
                </a:solidFill>
              </a:rPr>
              <a:t>어둡고 뚜렷함</a:t>
            </a:r>
            <a:endParaRPr lang="en-US" sz="1400" dirty="0"/>
          </a:p>
        </p:txBody>
      </p:sp>
      <p:pic>
        <p:nvPicPr>
          <p:cNvPr id="9" name="zoom-scratch" descr="C:\Users\user\_se4nchoi\batteryvision\docs\submission\build\img\zoom_scratch.jpg">    </p:cNvPr>
          <p:cNvPicPr>
            <a:picLocks noChangeAspect="1"/>
          </p:cNvPicPr>
          <p:nvPr/>
        </p:nvPicPr>
        <p:blipFill>
          <a:blip r:embed="rId3"/>
          <a:stretch>
            <a:fillRect/>
          </a:stretch>
        </p:blipFill>
        <p:spPr>
          <a:xfrm>
            <a:off x="3794760" y="1645920"/>
            <a:ext cx="3108960" cy="3108960"/>
          </a:xfrm>
          <a:prstGeom prst="rect">
            <a:avLst/>
          </a:prstGeom>
        </p:spPr>
      </p:pic>
      <p:sp>
        <p:nvSpPr>
          <p:cNvPr id="10" name="zoom-dot-scratch"/>
          <p:cNvSpPr/>
          <p:nvPr/>
        </p:nvSpPr>
        <p:spPr>
          <a:xfrm>
            <a:off x="3794760" y="4956048"/>
            <a:ext cx="146304" cy="146304"/>
          </a:xfrm>
          <a:prstGeom prst="ellipse">
            <a:avLst/>
          </a:prstGeom>
          <a:solidFill>
            <a:schemeClr val="accent3"/>
          </a:solidFill>
          <a:ln/>
        </p:spPr>
      </p:sp>
      <p:sp>
        <p:nvSpPr>
          <p:cNvPr id="11" name="zoom-cap-scratch"/>
          <p:cNvSpPr txBox="1"/>
          <p:nvPr/>
        </p:nvSpPr>
        <p:spPr>
          <a:xfrm>
            <a:off x="4032504" y="4882896"/>
            <a:ext cx="2834640" cy="292608"/>
          </a:xfrm>
          <a:prstGeom prst="rect">
            <a:avLst/>
          </a:prstGeom>
          <a:noFill/>
          <a:ln/>
        </p:spPr>
        <p:txBody>
          <a:bodyPr wrap="square" lIns="0" tIns="0" rIns="0" bIns="0" rtlCol="0" anchor="t"/>
          <a:lstStyle/>
          <a:p>
            <a:pPr indent="0" marL="0">
              <a:buNone/>
            </a:pPr>
            <a:r>
              <a:rPr lang="en-US" sz="1400" b="1" dirty="0">
                <a:solidFill>
                  <a:schemeClr val="tx1"/>
                </a:solidFill>
              </a:rPr>
              <a:t>scratch  </a:t>
            </a:r>
            <a:pPr indent="0" marL="0">
              <a:buNone/>
            </a:pPr>
            <a:r>
              <a:rPr lang="en-US" sz="1400" dirty="0">
                <a:solidFill>
                  <a:schemeClr val="tx2"/>
                </a:solidFill>
              </a:rPr>
              <a:t>가늘고 흐릿함</a:t>
            </a:r>
            <a:endParaRPr lang="en-US" sz="1400" dirty="0"/>
          </a:p>
        </p:txBody>
      </p:sp>
      <p:sp>
        <p:nvSpPr>
          <p:cNvPr id="12" name="size-line"/>
          <p:cNvSpPr txBox="1"/>
          <p:nvPr/>
        </p:nvSpPr>
        <p:spPr>
          <a:xfrm>
            <a:off x="548640" y="5349240"/>
            <a:ext cx="6309360" cy="365760"/>
          </a:xfrm>
          <a:prstGeom prst="rect">
            <a:avLst/>
          </a:prstGeom>
          <a:noFill/>
          <a:ln/>
        </p:spPr>
        <p:txBody>
          <a:bodyPr wrap="square" lIns="0" tIns="0" rIns="0" bIns="0" rtlCol="0" anchor="t"/>
          <a:lstStyle/>
          <a:p>
            <a:pPr indent="0" marL="0">
              <a:buNone/>
            </a:pPr>
            <a:r>
              <a:rPr lang="en-US" sz="1600" dirty="0">
                <a:solidFill>
                  <a:schemeClr val="tx2"/>
                </a:solidFill>
              </a:rPr>
              <a:t>박스 크기 (640px 사진, 중앙값)  </a:t>
            </a:r>
            <a:pPr indent="0" marL="0">
              <a:buNone/>
            </a:pPr>
            <a:r>
              <a:rPr lang="en-US" sz="1600" b="1" dirty="0">
                <a:solidFill>
                  <a:schemeClr val="tx1"/>
                </a:solidFill>
              </a:rPr>
              <a:t>crack 44×38px · scratch 43×38px</a:t>
            </a:r>
            <a:endParaRPr lang="en-US" sz="1600" dirty="0"/>
          </a:p>
        </p:txBody>
      </p:sp>
      <p:sp>
        <p:nvSpPr>
          <p:cNvPr id="13" name="why-2"/>
          <p:cNvSpPr txBox="1"/>
          <p:nvPr/>
        </p:nvSpPr>
        <p:spPr>
          <a:xfrm>
            <a:off x="548640" y="5760720"/>
            <a:ext cx="6309360" cy="365760"/>
          </a:xfrm>
          <a:prstGeom prst="rect">
            <a:avLst/>
          </a:prstGeom>
          <a:noFill/>
          <a:ln/>
        </p:spPr>
        <p:txBody>
          <a:bodyPr wrap="square" lIns="0" tIns="0" rIns="0" bIns="0" rtlCol="0" anchor="t"/>
          <a:lstStyle/>
          <a:p>
            <a:pPr indent="0" marL="0">
              <a:buNone/>
            </a:pPr>
            <a:r>
              <a:rPr lang="en-US" sz="1400" b="1" dirty="0">
                <a:solidFill>
                  <a:schemeClr val="accent1"/>
                </a:solidFill>
              </a:rPr>
              <a:t>왜?  </a:t>
            </a:r>
            <a:pPr indent="0" marL="0">
              <a:buNone/>
            </a:pPr>
            <a:r>
              <a:rPr lang="en-US" sz="1400" dirty="0">
                <a:solidFill>
                  <a:schemeClr val="tx1"/>
                </a:solidFill>
              </a:rPr>
              <a:t>scratch = 반사·나무결 같은 가는 선 → 오검출 16건 중 13건</a:t>
            </a:r>
            <a:endParaRPr lang="en-US" sz="1400" dirty="0"/>
          </a:p>
        </p:txBody>
      </p:sp>
      <p:graphicFrame>
        <p:nvGraphicFramePr>
          <p:cNvPr id="14" name="ap-chart" descr=""/>
          <p:cNvGraphicFramePr/>
          <p:nvPr/>
        </p:nvGraphicFramePr>
        <p:xfrm>
          <a:off x="7223760" y="1645920"/>
          <a:ext cx="4416552" cy="4572000"/>
        </p:xfrm>
        <a:graphic xmlns:a="http://schemas.openxmlformats.org/drawingml/2006/main">
          <a:graphicData uri="http://schemas.openxmlformats.org/drawingml/2006/chart">
            <c:chart xmlns:c="http://schemas.openxmlformats.org/drawingml/2006/chart" r:id="rId4"/>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실험 설계</a:t>
            </a:r>
            <a:endParaRPr lang="en-US" sz="3200" dirty="0"/>
          </a:p>
        </p:txBody>
      </p:sp>
      <p:sp>
        <p:nvSpPr>
          <p:cNvPr id="3" name="dataset-card"/>
          <p:cNvSpPr/>
          <p:nvPr/>
        </p:nvSpPr>
        <p:spPr>
          <a:xfrm>
            <a:off x="548640" y="1645920"/>
            <a:ext cx="5394960" cy="4572000"/>
          </a:xfrm>
          <a:prstGeom prst="roundRect">
            <a:avLst>
              <a:gd name="adj" fmla="val 1600"/>
            </a:avLst>
          </a:prstGeom>
          <a:solidFill>
            <a:schemeClr val="bg2"/>
          </a:solidFill>
          <a:ln/>
        </p:spPr>
      </p:sp>
      <p:sp>
        <p:nvSpPr>
          <p:cNvPr id="4" name="ds-h"/>
          <p:cNvSpPr txBox="1"/>
          <p:nvPr/>
        </p:nvSpPr>
        <p:spPr>
          <a:xfrm>
            <a:off x="822960" y="1783080"/>
            <a:ext cx="4572000" cy="320040"/>
          </a:xfrm>
          <a:prstGeom prst="rect">
            <a:avLst/>
          </a:prstGeom>
          <a:noFill/>
          <a:ln/>
        </p:spPr>
        <p:txBody>
          <a:bodyPr wrap="square" lIns="0" tIns="0" rIns="0" bIns="0" rtlCol="0" anchor="t"/>
          <a:lstStyle/>
          <a:p>
            <a:pPr indent="0" marL="0">
              <a:buNone/>
            </a:pPr>
            <a:r>
              <a:rPr lang="en-US" sz="1600" b="1" dirty="0">
                <a:solidFill>
                  <a:schemeClr val="tx1"/>
                </a:solidFill>
              </a:rPr>
              <a:t>데이터셋</a:t>
            </a:r>
            <a:endParaRPr lang="en-US" sz="1600" dirty="0"/>
          </a:p>
        </p:txBody>
      </p:sp>
      <p:sp>
        <p:nvSpPr>
          <p:cNvPr id="5" name="ds-b"/>
          <p:cNvSpPr txBox="1"/>
          <p:nvPr/>
        </p:nvSpPr>
        <p:spPr>
          <a:xfrm>
            <a:off x="822960" y="2194560"/>
            <a:ext cx="4892040" cy="1325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Roboflow 공개 데이터셋 · 라벨 포함 그대로 import</a:t>
            </a:r>
            <a:endParaRPr lang="en-US" sz="1400" dirty="0"/>
          </a:p>
          <a:p>
            <a:pPr marL="342900" indent="-342900">
              <a:spcAft>
                <a:spcPts val="600"/>
              </a:spcAft>
              <a:buSzPct val="100000"/>
              <a:buChar char="•"/>
            </a:pPr>
            <a:r>
              <a:rPr lang="en-US" sz="1400" dirty="0">
                <a:solidFill>
                  <a:schemeClr val="tx1"/>
                </a:solidFill>
              </a:rPr>
              <a:t>crack · scratch · 원본 1,531장</a:t>
            </a:r>
            <a:endParaRPr lang="en-US" sz="1400" dirty="0"/>
          </a:p>
          <a:p>
            <a:pPr marL="342900" indent="-342900">
              <a:spcAft>
                <a:spcPts val="600"/>
              </a:spcAft>
              <a:buSzPct val="100000"/>
              <a:buChar char="•"/>
            </a:pPr>
            <a:r>
              <a:rPr lang="en-US" sz="1400" dirty="0">
                <a:solidFill>
                  <a:schemeClr val="tx1"/>
                </a:solidFill>
              </a:rPr>
              <a:t>목적: 모델별 성능 비교 · INT8 효과</a:t>
            </a:r>
            <a:endParaRPr lang="en-US" sz="1400" dirty="0"/>
          </a:p>
        </p:txBody>
      </p:sp>
      <p:sp>
        <p:nvSpPr>
          <p:cNvPr id="6" name="limit-h"/>
          <p:cNvSpPr txBox="1"/>
          <p:nvPr/>
        </p:nvSpPr>
        <p:spPr>
          <a:xfrm>
            <a:off x="822960" y="3611880"/>
            <a:ext cx="4572000" cy="320040"/>
          </a:xfrm>
          <a:prstGeom prst="rect">
            <a:avLst/>
          </a:prstGeom>
          <a:noFill/>
          <a:ln/>
        </p:spPr>
        <p:txBody>
          <a:bodyPr wrap="square" lIns="0" tIns="0" rIns="0" bIns="0" rtlCol="0" anchor="t"/>
          <a:lstStyle/>
          <a:p>
            <a:pPr indent="0" marL="0">
              <a:buNone/>
            </a:pPr>
            <a:r>
              <a:rPr lang="en-US" sz="1600" b="1" dirty="0">
                <a:solidFill>
                  <a:schemeClr val="accent3"/>
                </a:solidFill>
              </a:rPr>
              <a:t>한계</a:t>
            </a:r>
            <a:endParaRPr lang="en-US" sz="1600" dirty="0"/>
          </a:p>
        </p:txBody>
      </p:sp>
      <p:pic>
        <p:nvPicPr>
          <p:cNvPr id="7" name="bg-0" descr="C:\Users\user\_se4nchoi\batteryvision\docs\submission\build\img\bg_green.jpg">    </p:cNvPr>
          <p:cNvPicPr>
            <a:picLocks noChangeAspect="1"/>
          </p:cNvPicPr>
          <p:nvPr/>
        </p:nvPicPr>
        <p:blipFill>
          <a:blip r:embed="rId1"/>
          <a:stretch>
            <a:fillRect/>
          </a:stretch>
        </p:blipFill>
        <p:spPr>
          <a:xfrm>
            <a:off x="822960" y="4023360"/>
            <a:ext cx="1508760" cy="1508760"/>
          </a:xfrm>
          <a:prstGeom prst="rect">
            <a:avLst/>
          </a:prstGeom>
        </p:spPr>
      </p:pic>
      <p:sp>
        <p:nvSpPr>
          <p:cNvPr id="8" name="bg-l-0"/>
          <p:cNvSpPr txBox="1"/>
          <p:nvPr/>
        </p:nvSpPr>
        <p:spPr>
          <a:xfrm>
            <a:off x="822960" y="5577840"/>
            <a:ext cx="1508760" cy="274320"/>
          </a:xfrm>
          <a:prstGeom prst="rect">
            <a:avLst/>
          </a:prstGeom>
          <a:noFill/>
          <a:ln/>
        </p:spPr>
        <p:txBody>
          <a:bodyPr wrap="square" lIns="0" tIns="0" rIns="0" bIns="0" rtlCol="0" anchor="t"/>
          <a:lstStyle/>
          <a:p>
            <a:pPr indent="0" marL="0">
              <a:buNone/>
            </a:pPr>
            <a:r>
              <a:rPr lang="en-US" sz="1200" dirty="0">
                <a:solidFill>
                  <a:schemeClr val="tx2"/>
                </a:solidFill>
              </a:rPr>
              <a:t>초록 매트</a:t>
            </a:r>
            <a:endParaRPr lang="en-US" sz="1200" dirty="0"/>
          </a:p>
        </p:txBody>
      </p:sp>
      <p:pic>
        <p:nvPicPr>
          <p:cNvPr id="9" name="bg-1" descr="C:\Users\user\_se4nchoi\batteryvision\docs\submission\build\img\bg_grey.jpg">    </p:cNvPr>
          <p:cNvPicPr>
            <a:picLocks noChangeAspect="1"/>
          </p:cNvPicPr>
          <p:nvPr/>
        </p:nvPicPr>
        <p:blipFill>
          <a:blip r:embed="rId2"/>
          <a:stretch>
            <a:fillRect/>
          </a:stretch>
        </p:blipFill>
        <p:spPr>
          <a:xfrm>
            <a:off x="2468880" y="4023360"/>
            <a:ext cx="1508760" cy="1508760"/>
          </a:xfrm>
          <a:prstGeom prst="rect">
            <a:avLst/>
          </a:prstGeom>
        </p:spPr>
      </p:pic>
      <p:sp>
        <p:nvSpPr>
          <p:cNvPr id="10" name="bg-l-1"/>
          <p:cNvSpPr txBox="1"/>
          <p:nvPr/>
        </p:nvSpPr>
        <p:spPr>
          <a:xfrm>
            <a:off x="2468880" y="5577840"/>
            <a:ext cx="1508760" cy="274320"/>
          </a:xfrm>
          <a:prstGeom prst="rect">
            <a:avLst/>
          </a:prstGeom>
          <a:noFill/>
          <a:ln/>
        </p:spPr>
        <p:txBody>
          <a:bodyPr wrap="square" lIns="0" tIns="0" rIns="0" bIns="0" rtlCol="0" anchor="t"/>
          <a:lstStyle/>
          <a:p>
            <a:pPr indent="0" marL="0">
              <a:buNone/>
            </a:pPr>
            <a:r>
              <a:rPr lang="en-US" sz="1200" dirty="0">
                <a:solidFill>
                  <a:schemeClr val="tx2"/>
                </a:solidFill>
              </a:rPr>
              <a:t>회색</a:t>
            </a:r>
            <a:endParaRPr lang="en-US" sz="1200" dirty="0"/>
          </a:p>
        </p:txBody>
      </p:sp>
      <p:pic>
        <p:nvPicPr>
          <p:cNvPr id="11" name="bg-2" descr="C:\Users\user\_se4nchoi\batteryvision\docs\submission\build\img\bg_wood.jpg">    </p:cNvPr>
          <p:cNvPicPr>
            <a:picLocks noChangeAspect="1"/>
          </p:cNvPicPr>
          <p:nvPr/>
        </p:nvPicPr>
        <p:blipFill>
          <a:blip r:embed="rId3"/>
          <a:stretch>
            <a:fillRect/>
          </a:stretch>
        </p:blipFill>
        <p:spPr>
          <a:xfrm>
            <a:off x="4114800" y="4023360"/>
            <a:ext cx="1508760" cy="1508760"/>
          </a:xfrm>
          <a:prstGeom prst="rect">
            <a:avLst/>
          </a:prstGeom>
        </p:spPr>
      </p:pic>
      <p:sp>
        <p:nvSpPr>
          <p:cNvPr id="12" name="bg-l-2"/>
          <p:cNvSpPr txBox="1"/>
          <p:nvPr/>
        </p:nvSpPr>
        <p:spPr>
          <a:xfrm>
            <a:off x="4114800" y="5577840"/>
            <a:ext cx="1508760" cy="274320"/>
          </a:xfrm>
          <a:prstGeom prst="rect">
            <a:avLst/>
          </a:prstGeom>
          <a:noFill/>
          <a:ln/>
        </p:spPr>
        <p:txBody>
          <a:bodyPr wrap="square" lIns="0" tIns="0" rIns="0" bIns="0" rtlCol="0" anchor="t"/>
          <a:lstStyle/>
          <a:p>
            <a:pPr indent="0" marL="0">
              <a:buNone/>
            </a:pPr>
            <a:r>
              <a:rPr lang="en-US" sz="1200" dirty="0">
                <a:solidFill>
                  <a:schemeClr val="tx2"/>
                </a:solidFill>
              </a:rPr>
              <a:t>나무 탁상</a:t>
            </a:r>
            <a:endParaRPr lang="en-US" sz="1200" dirty="0"/>
          </a:p>
        </p:txBody>
      </p:sp>
      <p:sp>
        <p:nvSpPr>
          <p:cNvPr id="13" name="limit-t"/>
          <p:cNvSpPr txBox="1"/>
          <p:nvPr/>
        </p:nvSpPr>
        <p:spPr>
          <a:xfrm>
            <a:off x="822960" y="5852160"/>
            <a:ext cx="4937760" cy="274320"/>
          </a:xfrm>
          <a:prstGeom prst="rect">
            <a:avLst/>
          </a:prstGeom>
          <a:noFill/>
          <a:ln/>
        </p:spPr>
        <p:txBody>
          <a:bodyPr wrap="square" lIns="0" tIns="0" rIns="0" bIns="0" rtlCol="0" anchor="t"/>
          <a:lstStyle/>
          <a:p>
            <a:pPr indent="0" marL="0">
              <a:buNone/>
            </a:pPr>
            <a:r>
              <a:rPr lang="en-US" sz="1300" b="1" dirty="0">
                <a:solidFill>
                  <a:schemeClr val="tx1"/>
                </a:solidFill>
              </a:rPr>
              <a:t>탁상 촬영 · 셀당 사진 1장 · 같은 촬영 세션 반복</a:t>
            </a:r>
            <a:endParaRPr lang="en-US" sz="1300" dirty="0"/>
          </a:p>
        </p:txBody>
      </p:sp>
      <p:sp>
        <p:nvSpPr>
          <p:cNvPr id="14" name="grid-h"/>
          <p:cNvSpPr txBox="1"/>
          <p:nvPr/>
        </p:nvSpPr>
        <p:spPr>
          <a:xfrm>
            <a:off x="6172200" y="1645920"/>
            <a:ext cx="5486400" cy="320040"/>
          </a:xfrm>
          <a:prstGeom prst="rect">
            <a:avLst/>
          </a:prstGeom>
          <a:noFill/>
          <a:ln/>
        </p:spPr>
        <p:txBody>
          <a:bodyPr wrap="square" lIns="0" tIns="0" rIns="0" bIns="0" rtlCol="0" anchor="t"/>
          <a:lstStyle/>
          <a:p>
            <a:pPr indent="0" marL="0">
              <a:buNone/>
            </a:pPr>
            <a:r>
              <a:rPr lang="en-US" sz="1600" b="1" dirty="0">
                <a:solidFill>
                  <a:schemeClr val="tx1"/>
                </a:solidFill>
              </a:rPr>
              <a:t>모델 9종 = 아키텍처 3 × 내보내기 3</a:t>
            </a:r>
            <a:endParaRPr lang="en-US" sz="1600" dirty="0"/>
          </a:p>
        </p:txBody>
      </p:sp>
      <p:graphicFrame>
        <p:nvGraphicFramePr>
          <p:cNvPr id="4" name="model-grid"/>
          <p:cNvGraphicFramePr>
            <a:graphicFrameLocks noGrp="1"/>
          </p:cNvGraphicFramePr>
          <p:nvPr>
            <p:extLst>
              <p:ext uri="{D42A27DB-BD31-4B8C-83A1-F6EECF244321}">
                <p14:modId xmlns:p14="http://schemas.microsoft.com/office/powerpoint/2010/main" val="1579011935"/>
              </p:ext>
            </p:extLst>
          </p:nvPr>
        </p:nvGraphicFramePr>
        <p:xfrm>
          <a:off x="6172200" y="2103120"/>
          <a:ext cx="5468112" cy="914400"/>
        </p:xfrm>
        <a:graphic>
          <a:graphicData uri="http://schemas.openxmlformats.org/drawingml/2006/table">
            <a:tbl>
              <a:tblPr/>
              <a:tblGrid>
                <a:gridCol w="1993392"/>
                <a:gridCol w="1097280"/>
                <a:gridCol w="1280160"/>
                <a:gridCol w="1097280"/>
              </a:tblGrid>
              <a:tr h="566928">
                <a:tc>
                  <a:txBody>
                    <a:bodyPr/>
                    <a:lstStyle/>
                    <a:p>
                      <a:pPr algn="ctr" indent="0" marL="0">
                        <a:buNone/>
                      </a:pP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FP16</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FP16 + XAI</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INT8</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566928">
                <a:tc>
                  <a:txBody>
                    <a:bodyPr/>
                    <a:lstStyle/>
                    <a:p>
                      <a:pPr algn="l" indent="0" marL="0">
                        <a:buNone/>
                      </a:pPr>
                      <a:r>
                        <a:rPr lang="en-US" sz="1400" b="1" dirty="0">
                          <a:solidFill>
                            <a:schemeClr val="accent4"/>
                          </a:solidFill>
                          <a:latin typeface="Malgun Gothic" pitchFamily="34" charset="0"/>
                          <a:ea typeface="Malgun Gothic" pitchFamily="34" charset="-122"/>
                          <a:cs typeface="Malgun Gothic" pitchFamily="34" charset="-120"/>
                        </a:rPr>
                        <a:t>ATSS-MobileNetV2</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5.7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5.8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3.9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l" indent="0" marL="0">
                        <a:buNone/>
                      </a:pPr>
                      <a:r>
                        <a:rPr lang="en-US" sz="1400" b="1" dirty="0">
                          <a:solidFill>
                            <a:schemeClr val="accent5"/>
                          </a:solidFill>
                          <a:latin typeface="Malgun Gothic" pitchFamily="34" charset="0"/>
                          <a:ea typeface="Malgun Gothic" pitchFamily="34" charset="-122"/>
                          <a:cs typeface="Malgun Gothic" pitchFamily="34" charset="-120"/>
                        </a:rPr>
                        <a:t>YOLOX-S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18.4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18.4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9.8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l" indent="0" marL="0">
                        <a:buNone/>
                      </a:pPr>
                      <a:r>
                        <a:rPr lang="en-US" sz="1400" b="1" dirty="0">
                          <a:solidFill>
                            <a:schemeClr val="accent6"/>
                          </a:solidFill>
                          <a:latin typeface="Malgun Gothic" pitchFamily="34" charset="0"/>
                          <a:ea typeface="Malgun Gothic" pitchFamily="34" charset="-122"/>
                          <a:cs typeface="Malgun Gothic" pitchFamily="34" charset="-120"/>
                        </a:rPr>
                        <a:t>YOLOX-Tiny</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10.6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10.6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5.8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16" name="legend-card"/>
          <p:cNvSpPr/>
          <p:nvPr/>
        </p:nvSpPr>
        <p:spPr>
          <a:xfrm>
            <a:off x="6172200" y="4572000"/>
            <a:ext cx="5468112" cy="1645920"/>
          </a:xfrm>
          <a:prstGeom prst="roundRect">
            <a:avLst>
              <a:gd name="adj" fmla="val 4444"/>
            </a:avLst>
          </a:prstGeom>
          <a:solidFill>
            <a:schemeClr val="bg2"/>
          </a:solidFill>
          <a:ln/>
        </p:spPr>
      </p:sp>
      <p:sp>
        <p:nvSpPr>
          <p:cNvPr id="17" name="legend"/>
          <p:cNvSpPr txBox="1"/>
          <p:nvPr/>
        </p:nvSpPr>
        <p:spPr>
          <a:xfrm>
            <a:off x="6446520" y="4709160"/>
            <a:ext cx="5029200" cy="1371600"/>
          </a:xfrm>
          <a:prstGeom prst="rect">
            <a:avLst/>
          </a:prstGeom>
          <a:noFill/>
          <a:ln/>
        </p:spPr>
        <p:txBody>
          <a:bodyPr wrap="square" lIns="0" tIns="0" rIns="0" bIns="0" rtlCol="0" anchor="ctr"/>
          <a:lstStyle/>
          <a:p>
            <a:pPr indent="0" marL="0">
              <a:spcAft>
                <a:spcPts val="600"/>
              </a:spcAft>
              <a:buNone/>
            </a:pPr>
            <a:r>
              <a:rPr lang="en-US" sz="1400" b="1" dirty="0">
                <a:solidFill>
                  <a:schemeClr val="tx1"/>
                </a:solidFill>
              </a:rPr>
              <a:t>XAI  </a:t>
            </a:r>
            <a:pPr indent="0" marL="0">
              <a:spcAft>
                <a:spcPts val="600"/>
              </a:spcAft>
              <a:buNone/>
            </a:pPr>
            <a:r>
              <a:rPr lang="en-US" sz="1400" dirty="0">
                <a:solidFill>
                  <a:schemeClr val="tx2"/>
                </a:solidFill>
              </a:rPr>
              <a:t>결함 위치 heatmap 출력</a:t>
            </a:r>
            <a:endParaRPr lang="en-US" sz="1400" dirty="0"/>
          </a:p>
          <a:p>
            <a:pPr indent="0" marL="0">
              <a:spcAft>
                <a:spcPts val="600"/>
              </a:spcAft>
              <a:buNone/>
            </a:pPr>
            <a:r>
              <a:rPr lang="en-US" sz="1400" b="1" dirty="0">
                <a:solidFill>
                  <a:schemeClr val="tx1"/>
                </a:solidFill>
              </a:rPr>
              <a:t>INT8  </a:t>
            </a:r>
            <a:pPr indent="0" marL="0">
              <a:spcAft>
                <a:spcPts val="600"/>
              </a:spcAft>
              <a:buNone/>
            </a:pPr>
            <a:r>
              <a:rPr lang="en-US" sz="1400" dirty="0">
                <a:solidFill>
                  <a:schemeClr val="tx2"/>
                </a:solidFill>
              </a:rPr>
              <a:t>양자화 경량화</a:t>
            </a:r>
            <a:endParaRPr lang="en-US" sz="1400" dirty="0"/>
          </a:p>
        </p:txBody>
      </p:sp>
      <p:sp>
        <p:nvSpPr>
          <p:cNvPr id="18" name="credit"/>
          <p:cNvSpPr txBox="1"/>
          <p:nvPr/>
        </p:nvSpPr>
        <p:spPr>
          <a:xfrm>
            <a:off x="548640" y="6236208"/>
            <a:ext cx="8229600" cy="182880"/>
          </a:xfrm>
          <a:prstGeom prst="rect">
            <a:avLst/>
          </a:prstGeom>
          <a:noFill/>
          <a:ln/>
        </p:spPr>
        <p:txBody>
          <a:bodyPr wrap="square" lIns="0" tIns="0" rIns="0" bIns="0" rtlCol="0" anchor="t"/>
          <a:lstStyle/>
          <a:p>
            <a:pPr indent="0" marL="0">
              <a:buNone/>
            </a:pPr>
            <a:r>
              <a:rPr lang="en-US" sz="900" dirty="0">
                <a:solidFill>
                  <a:schemeClr val="tx2"/>
                </a:solidFill>
              </a:rPr>
              <a:t>데이터: Battery Defect Inspection v8 (Roboflow Universe), CC BY 4.0</a:t>
            </a:r>
            <a:endParaRPr lang="en-US" sz="900" dirty="0"/>
          </a:p>
        </p:txBody>
      </p:sp>
      <p:sp>
        <p:nvSpPr>
          <p:cNvPr id="20"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높은 결과에 숨은 함정</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1차 테스트 93%, 그런데 테스트 사진이 학습 데이터에 섞여 있었다</a:t>
            </a:r>
            <a:endParaRPr lang="en-US" sz="1500" dirty="0"/>
          </a:p>
        </p:txBody>
      </p:sp>
      <p:sp>
        <p:nvSpPr>
          <p:cNvPr id="4" name="upload-card"/>
          <p:cNvSpPr/>
          <p:nvPr/>
        </p:nvSpPr>
        <p:spPr>
          <a:xfrm>
            <a:off x="548640" y="1645920"/>
            <a:ext cx="4434840" cy="2651760"/>
          </a:xfrm>
          <a:prstGeom prst="roundRect">
            <a:avLst>
              <a:gd name="adj" fmla="val 2759"/>
            </a:avLst>
          </a:prstGeom>
          <a:solidFill>
            <a:schemeClr val="bg2"/>
          </a:solidFill>
          <a:ln/>
        </p:spPr>
      </p:sp>
      <p:sp>
        <p:nvSpPr>
          <p:cNvPr id="5" name="up-h"/>
          <p:cNvSpPr txBox="1"/>
          <p:nvPr/>
        </p:nvSpPr>
        <p:spPr>
          <a:xfrm>
            <a:off x="822960" y="1783080"/>
            <a:ext cx="3931920" cy="320040"/>
          </a:xfrm>
          <a:prstGeom prst="rect">
            <a:avLst/>
          </a:prstGeom>
          <a:noFill/>
          <a:ln/>
        </p:spPr>
        <p:txBody>
          <a:bodyPr wrap="square" lIns="0" tIns="0" rIns="0" bIns="0" rtlCol="0" anchor="t"/>
          <a:lstStyle/>
          <a:p>
            <a:pPr indent="0" marL="0">
              <a:buNone/>
            </a:pPr>
            <a:r>
              <a:rPr lang="en-US" sz="1600" b="1" dirty="0">
                <a:solidFill>
                  <a:schemeClr val="accent3"/>
                </a:solidFill>
              </a:rPr>
              <a:t>테스트셋까지 Geti에 업로드</a:t>
            </a:r>
            <a:endParaRPr lang="en-US" sz="1600" dirty="0"/>
          </a:p>
        </p:txBody>
      </p:sp>
      <p:sp>
        <p:nvSpPr>
          <p:cNvPr id="6" name="up-n"/>
          <p:cNvSpPr txBox="1"/>
          <p:nvPr/>
        </p:nvSpPr>
        <p:spPr>
          <a:xfrm>
            <a:off x="822960" y="2240280"/>
            <a:ext cx="3931920" cy="731520"/>
          </a:xfrm>
          <a:prstGeom prst="rect">
            <a:avLst/>
          </a:prstGeom>
          <a:noFill/>
          <a:ln/>
        </p:spPr>
        <p:txBody>
          <a:bodyPr wrap="square" lIns="0" tIns="0" rIns="0" bIns="0" rtlCol="0" anchor="t"/>
          <a:lstStyle/>
          <a:p>
            <a:pPr indent="0" marL="0">
              <a:buNone/>
            </a:pPr>
            <a:r>
              <a:rPr lang="en-US" sz="4400" b="1" dirty="0">
                <a:solidFill>
                  <a:schemeClr val="tx1"/>
                </a:solidFill>
              </a:rPr>
              <a:t>3,673장</a:t>
            </a:r>
            <a:endParaRPr lang="en-US" sz="4400" dirty="0"/>
          </a:p>
        </p:txBody>
      </p:sp>
      <p:sp>
        <p:nvSpPr>
          <p:cNvPr id="7" name="up-b"/>
          <p:cNvSpPr txBox="1"/>
          <p:nvPr/>
        </p:nvSpPr>
        <p:spPr>
          <a:xfrm>
            <a:off x="822960" y="3108960"/>
            <a:ext cx="3931920" cy="100584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학습 3,214 + 검증 306 + 테스트 153</a:t>
            </a:r>
            <a:endParaRPr lang="en-US" sz="1400" dirty="0"/>
          </a:p>
          <a:p>
            <a:pPr indent="0" marL="0">
              <a:spcAft>
                <a:spcPts val="400"/>
              </a:spcAft>
              <a:buNone/>
            </a:pPr>
            <a:r>
              <a:rPr lang="en-US" sz="1400" dirty="0">
                <a:solidFill>
                  <a:schemeClr val="tx2"/>
                </a:solidFill>
              </a:rPr>
              <a:t>Geti가 약 2,800장을 70/20/10으로 재분할</a:t>
            </a:r>
            <a:endParaRPr lang="en-US" sz="1400" dirty="0"/>
          </a:p>
        </p:txBody>
      </p:sp>
      <p:pic>
        <p:nvPicPr>
          <p:cNvPr id="8" name="dup-0" descr="C:\Users\user\_se4nchoi\batteryvision\docs\submission\build\img\dup_test.jpg">    </p:cNvPr>
          <p:cNvPicPr>
            <a:picLocks noChangeAspect="1"/>
          </p:cNvPicPr>
          <p:nvPr/>
        </p:nvPicPr>
        <p:blipFill>
          <a:blip r:embed="rId1"/>
          <a:stretch>
            <a:fillRect/>
          </a:stretch>
        </p:blipFill>
        <p:spPr>
          <a:xfrm>
            <a:off x="5166360" y="1645920"/>
            <a:ext cx="2377440" cy="2377440"/>
          </a:xfrm>
          <a:prstGeom prst="rect">
            <a:avLst/>
          </a:prstGeom>
        </p:spPr>
      </p:pic>
      <p:sp>
        <p:nvSpPr>
          <p:cNvPr id="9" name="dup-l-0"/>
          <p:cNvSpPr txBox="1"/>
          <p:nvPr/>
        </p:nvSpPr>
        <p:spPr>
          <a:xfrm>
            <a:off x="5166360" y="4069080"/>
            <a:ext cx="2377440" cy="274320"/>
          </a:xfrm>
          <a:prstGeom prst="rect">
            <a:avLst/>
          </a:prstGeom>
          <a:noFill/>
          <a:ln/>
        </p:spPr>
        <p:txBody>
          <a:bodyPr wrap="square" lIns="0" tIns="0" rIns="0" bIns="0" rtlCol="0" anchor="t"/>
          <a:lstStyle/>
          <a:p>
            <a:pPr indent="0" marL="0">
              <a:buNone/>
            </a:pPr>
            <a:r>
              <a:rPr lang="en-US" sz="1300" b="1" dirty="0">
                <a:solidFill>
                  <a:schemeClr val="tx1"/>
                </a:solidFill>
              </a:rPr>
              <a:t>테스트 사진</a:t>
            </a:r>
            <a:endParaRPr lang="en-US" sz="1300" dirty="0"/>
          </a:p>
        </p:txBody>
      </p:sp>
      <p:pic>
        <p:nvPicPr>
          <p:cNvPr id="10" name="dup-1" descr="C:\Users\user\_se4nchoi\batteryvision\docs\submission\build\img\dup_train.jpg">    </p:cNvPr>
          <p:cNvPicPr>
            <a:picLocks noChangeAspect="1"/>
          </p:cNvPicPr>
          <p:nvPr/>
        </p:nvPicPr>
        <p:blipFill>
          <a:blip r:embed="rId2"/>
          <a:stretch>
            <a:fillRect/>
          </a:stretch>
        </p:blipFill>
        <p:spPr>
          <a:xfrm>
            <a:off x="7680960" y="1645920"/>
            <a:ext cx="2377440" cy="2377440"/>
          </a:xfrm>
          <a:prstGeom prst="rect">
            <a:avLst/>
          </a:prstGeom>
        </p:spPr>
      </p:pic>
      <p:sp>
        <p:nvSpPr>
          <p:cNvPr id="11" name="dup-l-1"/>
          <p:cNvSpPr txBox="1"/>
          <p:nvPr/>
        </p:nvSpPr>
        <p:spPr>
          <a:xfrm>
            <a:off x="7680960" y="4069080"/>
            <a:ext cx="2377440" cy="274320"/>
          </a:xfrm>
          <a:prstGeom prst="rect">
            <a:avLst/>
          </a:prstGeom>
          <a:noFill/>
          <a:ln/>
        </p:spPr>
        <p:txBody>
          <a:bodyPr wrap="square" lIns="0" tIns="0" rIns="0" bIns="0" rtlCol="0" anchor="t"/>
          <a:lstStyle/>
          <a:p>
            <a:pPr indent="0" marL="0">
              <a:buNone/>
            </a:pPr>
            <a:r>
              <a:rPr lang="en-US" sz="1300" b="1" dirty="0">
                <a:solidFill>
                  <a:schemeClr val="tx1"/>
                </a:solidFill>
              </a:rPr>
              <a:t>학습 사진</a:t>
            </a:r>
            <a:endParaRPr lang="en-US" sz="1300" dirty="0"/>
          </a:p>
        </p:txBody>
      </p:sp>
      <p:sp>
        <p:nvSpPr>
          <p:cNvPr id="12" name="nd-card"/>
          <p:cNvSpPr/>
          <p:nvPr/>
        </p:nvSpPr>
        <p:spPr>
          <a:xfrm>
            <a:off x="10241280" y="1645920"/>
            <a:ext cx="1399032" cy="2377440"/>
          </a:xfrm>
          <a:prstGeom prst="roundRect">
            <a:avLst>
              <a:gd name="adj" fmla="val 5229"/>
            </a:avLst>
          </a:prstGeom>
          <a:solidFill>
            <a:schemeClr val="bg2"/>
          </a:solidFill>
          <a:ln/>
        </p:spPr>
      </p:sp>
      <p:sp>
        <p:nvSpPr>
          <p:cNvPr id="13" name="nd-n"/>
          <p:cNvSpPr txBox="1"/>
          <p:nvPr/>
        </p:nvSpPr>
        <p:spPr>
          <a:xfrm>
            <a:off x="10287000" y="2103120"/>
            <a:ext cx="1307592" cy="548640"/>
          </a:xfrm>
          <a:prstGeom prst="rect">
            <a:avLst/>
          </a:prstGeom>
          <a:noFill/>
          <a:ln/>
        </p:spPr>
        <p:txBody>
          <a:bodyPr wrap="square" lIns="0" tIns="0" rIns="0" bIns="0" rtlCol="0" anchor="t"/>
          <a:lstStyle/>
          <a:p>
            <a:pPr algn="ctr" indent="0" marL="0">
              <a:buNone/>
            </a:pPr>
            <a:r>
              <a:rPr lang="en-US" sz="2800" b="1" dirty="0">
                <a:solidFill>
                  <a:schemeClr val="accent3"/>
                </a:solidFill>
              </a:rPr>
              <a:t>22장</a:t>
            </a:r>
            <a:endParaRPr lang="en-US" sz="2800" dirty="0"/>
          </a:p>
        </p:txBody>
      </p:sp>
      <p:sp>
        <p:nvSpPr>
          <p:cNvPr id="14" name="nd-l"/>
          <p:cNvSpPr txBox="1"/>
          <p:nvPr/>
        </p:nvSpPr>
        <p:spPr>
          <a:xfrm>
            <a:off x="10287000" y="2743200"/>
            <a:ext cx="1307592" cy="914400"/>
          </a:xfrm>
          <a:prstGeom prst="rect">
            <a:avLst/>
          </a:prstGeom>
          <a:noFill/>
          <a:ln/>
        </p:spPr>
        <p:txBody>
          <a:bodyPr wrap="square" lIns="0" tIns="0" rIns="0" bIns="0" rtlCol="0" anchor="t"/>
          <a:lstStyle/>
          <a:p>
            <a:pPr algn="ctr" indent="0" marL="0">
              <a:buNone/>
            </a:pPr>
            <a:r>
              <a:rPr lang="en-US" sz="1200" dirty="0">
                <a:solidFill>
                  <a:schemeClr val="tx2"/>
                </a:solidFill>
              </a:rPr>
              <a:t>학습 사진의 복사본</a:t>
            </a:r>
            <a:endParaRPr lang="en-US" sz="1200" dirty="0"/>
          </a:p>
        </p:txBody>
      </p:sp>
      <p:sp>
        <p:nvSpPr>
          <p:cNvPr id="15" name="dup-cap"/>
          <p:cNvSpPr txBox="1"/>
          <p:nvPr/>
        </p:nvSpPr>
        <p:spPr>
          <a:xfrm>
            <a:off x="7680960" y="4069080"/>
            <a:ext cx="2377440" cy="274320"/>
          </a:xfrm>
          <a:prstGeom prst="rect">
            <a:avLst/>
          </a:prstGeom>
          <a:noFill/>
          <a:ln/>
        </p:spPr>
        <p:txBody>
          <a:bodyPr wrap="square" lIns="0" tIns="0" rIns="0" bIns="0" rtlCol="0" anchor="t"/>
          <a:lstStyle/>
          <a:p>
            <a:pPr algn="r" indent="0" marL="0">
              <a:buNone/>
            </a:pPr>
            <a:r>
              <a:rPr lang="en-US" sz="1200" dirty="0">
                <a:solidFill>
                  <a:schemeClr val="tx2"/>
                </a:solidFill>
              </a:rPr>
              <a:t>dHash 거리 4 / 256</a:t>
            </a:r>
            <a:endParaRPr lang="en-US" sz="1200" dirty="0"/>
          </a:p>
        </p:txBody>
      </p:sp>
      <p:sp>
        <p:nvSpPr>
          <p:cNvPr id="16" name="lesson-card"/>
          <p:cNvSpPr/>
          <p:nvPr/>
        </p:nvSpPr>
        <p:spPr>
          <a:xfrm>
            <a:off x="548640" y="4617720"/>
            <a:ext cx="11094415" cy="1600200"/>
          </a:xfrm>
          <a:prstGeom prst="roundRect">
            <a:avLst>
              <a:gd name="adj" fmla="val 4571"/>
            </a:avLst>
          </a:prstGeom>
          <a:solidFill>
            <a:schemeClr val="bg2"/>
          </a:solidFill>
          <a:ln/>
        </p:spPr>
      </p:sp>
      <p:sp>
        <p:nvSpPr>
          <p:cNvPr id="17" name="lesson-h"/>
          <p:cNvSpPr txBox="1"/>
          <p:nvPr/>
        </p:nvSpPr>
        <p:spPr>
          <a:xfrm>
            <a:off x="822960" y="4754880"/>
            <a:ext cx="5486400" cy="320040"/>
          </a:xfrm>
          <a:prstGeom prst="rect">
            <a:avLst/>
          </a:prstGeom>
          <a:noFill/>
          <a:ln/>
        </p:spPr>
        <p:txBody>
          <a:bodyPr wrap="square" lIns="0" tIns="0" rIns="0" bIns="0" rtlCol="0" anchor="t"/>
          <a:lstStyle/>
          <a:p>
            <a:pPr indent="0" marL="0">
              <a:buNone/>
            </a:pPr>
            <a:r>
              <a:rPr lang="en-US" sz="1600" b="1" dirty="0">
                <a:solidFill>
                  <a:schemeClr val="tx1"/>
                </a:solidFill>
              </a:rPr>
              <a:t>1차 테스트 점수는</a:t>
            </a:r>
            <a:endParaRPr lang="en-US" sz="1600" dirty="0"/>
          </a:p>
        </p:txBody>
      </p:sp>
      <p:sp>
        <p:nvSpPr>
          <p:cNvPr id="18" name="lesson-b"/>
          <p:cNvSpPr txBox="1"/>
          <p:nvPr/>
        </p:nvSpPr>
        <p:spPr>
          <a:xfrm>
            <a:off x="822960" y="5138928"/>
            <a:ext cx="6949440" cy="8686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학습에 쓴 사진 포함 가능 → 일반화가 아니라 암기를 측정</a:t>
            </a:r>
            <a:endParaRPr lang="en-US" sz="1400" dirty="0"/>
          </a:p>
          <a:p>
            <a:pPr marL="342900" indent="-342900">
              <a:spcAft>
                <a:spcPts val="400"/>
              </a:spcAft>
              <a:buSzPct val="100000"/>
              <a:buChar char="•"/>
            </a:pPr>
            <a:r>
              <a:rPr lang="en-US" sz="1400" dirty="0">
                <a:solidFill>
                  <a:schemeClr val="tx2"/>
                </a:solidFill>
              </a:rPr>
              <a:t>모델 간 비교용 · 실제 성능은 2차 세트로</a:t>
            </a:r>
            <a:endParaRPr lang="en-US" sz="1400" dirty="0"/>
          </a:p>
        </p:txBody>
      </p:sp>
      <p:sp>
        <p:nvSpPr>
          <p:cNvPr id="19" name="lesson-t"/>
          <p:cNvSpPr txBox="1"/>
          <p:nvPr/>
        </p:nvSpPr>
        <p:spPr>
          <a:xfrm>
            <a:off x="7726680" y="5138928"/>
            <a:ext cx="3703320" cy="868680"/>
          </a:xfrm>
          <a:prstGeom prst="rect">
            <a:avLst/>
          </a:prstGeom>
          <a:noFill/>
          <a:ln/>
        </p:spPr>
        <p:txBody>
          <a:bodyPr wrap="square" lIns="0" tIns="0" rIns="0" bIns="0" rtlCol="0" anchor="ctr"/>
          <a:lstStyle/>
          <a:p>
            <a:pPr indent="0" marL="0">
              <a:buNone/>
            </a:pPr>
            <a:r>
              <a:rPr lang="en-US" sz="1600" b="1" dirty="0">
                <a:solidFill>
                  <a:schemeClr val="accent1"/>
                </a:solidFill>
              </a:rPr>
              <a:t>교훈: 테스트셋은 업로드 전에 분리</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작은 모델이 더 맵다</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FP16 기준 · Geti 화면 vs 직접 측정</a:t>
            </a:r>
            <a:endParaRPr lang="en-US" sz="1500" dirty="0"/>
          </a:p>
        </p:txBody>
      </p:sp>
      <p:pic>
        <p:nvPicPr>
          <p:cNvPr id="4" name="geti-models" descr="C:\Users\user\_se4nchoi\batteryvision\docs\submission\build\img\geti_models.png">    </p:cNvPr>
          <p:cNvPicPr>
            <a:picLocks noChangeAspect="1"/>
          </p:cNvPicPr>
          <p:nvPr/>
        </p:nvPicPr>
        <p:blipFill>
          <a:blip r:embed="rId1"/>
          <a:stretch>
            <a:fillRect/>
          </a:stretch>
        </p:blipFill>
        <p:spPr>
          <a:xfrm>
            <a:off x="548640" y="1600200"/>
            <a:ext cx="3730949" cy="4023360"/>
          </a:xfrm>
          <a:prstGeom prst="rect">
            <a:avLst/>
          </a:prstGeom>
        </p:spPr>
      </p:pic>
      <p:sp>
        <p:nvSpPr>
          <p:cNvPr id="5" name="geti-caveat"/>
          <p:cNvSpPr txBox="1"/>
          <p:nvPr/>
        </p:nvSpPr>
        <p:spPr>
          <a:xfrm>
            <a:off x="548640" y="5687568"/>
            <a:ext cx="3730949" cy="548640"/>
          </a:xfrm>
          <a:prstGeom prst="rect">
            <a:avLst/>
          </a:prstGeom>
          <a:noFill/>
          <a:ln/>
        </p:spPr>
        <p:txBody>
          <a:bodyPr wrap="square" lIns="0" tIns="0" rIns="0" bIns="0" rtlCol="0" anchor="t"/>
          <a:lstStyle/>
          <a:p>
            <a:pPr indent="0" marL="0">
              <a:buNone/>
            </a:pPr>
            <a:r>
              <a:rPr lang="en-US" sz="1100" b="1" dirty="0">
                <a:solidFill>
                  <a:schemeClr val="accent3"/>
                </a:solidFill>
              </a:rPr>
              <a:t>Geti 점수도 낙관적  </a:t>
            </a:r>
            <a:endParaRPr lang="en-US" sz="1100" dirty="0"/>
          </a:p>
          <a:p>
            <a:pPr indent="0" marL="0">
              <a:buNone/>
            </a:pPr>
            <a:r>
              <a:rPr lang="en-US" sz="1100" dirty="0">
                <a:solidFill>
                  <a:schemeClr val="tx2"/>
                </a:solidFill>
              </a:rPr>
              <a:t>같은 원본의 ×3 증강 사본이 Geti 학습·테스트에 함께 분할됐을 가능성</a:t>
            </a:r>
            <a:endParaRPr lang="en-US" sz="1100" dirty="0"/>
          </a:p>
        </p:txBody>
      </p:sp>
      <p:sp>
        <p:nvSpPr>
          <p:cNvPr id="6" name="own-h"/>
          <p:cNvSpPr txBox="1"/>
          <p:nvPr/>
        </p:nvSpPr>
        <p:spPr>
          <a:xfrm>
            <a:off x="4599629" y="1600200"/>
            <a:ext cx="7043426" cy="320040"/>
          </a:xfrm>
          <a:prstGeom prst="rect">
            <a:avLst/>
          </a:prstGeom>
          <a:noFill/>
          <a:ln/>
        </p:spPr>
        <p:txBody>
          <a:bodyPr wrap="square" lIns="0" tIns="0" rIns="0" bIns="0" rtlCol="0" anchor="t"/>
          <a:lstStyle/>
          <a:p>
            <a:pPr indent="0" marL="0">
              <a:buNone/>
            </a:pPr>
            <a:r>
              <a:rPr lang="en-US" sz="1600" b="1" dirty="0">
                <a:solidFill>
                  <a:schemeClr val="tx1"/>
                </a:solidFill>
              </a:rPr>
              <a:t>직접 측정 · 1차 테스트 131장</a:t>
            </a:r>
            <a:endParaRPr lang="en-US" sz="1600" dirty="0"/>
          </a:p>
        </p:txBody>
      </p:sp>
      <p:sp>
        <p:nvSpPr>
          <p:cNvPr id="7" name="own-col-0"/>
          <p:cNvSpPr txBox="1"/>
          <p:nvPr/>
        </p:nvSpPr>
        <p:spPr>
          <a:xfrm>
            <a:off x="7114229" y="2011680"/>
            <a:ext cx="1600200" cy="274320"/>
          </a:xfrm>
          <a:prstGeom prst="rect">
            <a:avLst/>
          </a:prstGeom>
          <a:noFill/>
          <a:ln/>
        </p:spPr>
        <p:txBody>
          <a:bodyPr wrap="square" lIns="0" tIns="0" rIns="0" bIns="0" rtlCol="0" anchor="t"/>
          <a:lstStyle/>
          <a:p>
            <a:pPr algn="r" indent="0" marL="0">
              <a:buNone/>
            </a:pPr>
            <a:r>
              <a:rPr lang="en-US" sz="1200" dirty="0">
                <a:solidFill>
                  <a:schemeClr val="tx2"/>
                </a:solidFill>
              </a:rPr>
              <a:t>mAP@50</a:t>
            </a:r>
            <a:endParaRPr lang="en-US" sz="1200" dirty="0"/>
          </a:p>
        </p:txBody>
      </p:sp>
      <p:sp>
        <p:nvSpPr>
          <p:cNvPr id="8" name="own-col-1"/>
          <p:cNvSpPr txBox="1"/>
          <p:nvPr/>
        </p:nvSpPr>
        <p:spPr>
          <a:xfrm>
            <a:off x="8760149" y="2011680"/>
            <a:ext cx="1097280" cy="274320"/>
          </a:xfrm>
          <a:prstGeom prst="rect">
            <a:avLst/>
          </a:prstGeom>
          <a:noFill/>
          <a:ln/>
        </p:spPr>
        <p:txBody>
          <a:bodyPr wrap="square" lIns="0" tIns="0" rIns="0" bIns="0" rtlCol="0" anchor="t"/>
          <a:lstStyle/>
          <a:p>
            <a:pPr algn="r" indent="0" marL="0">
              <a:buNone/>
            </a:pPr>
            <a:r>
              <a:rPr lang="en-US" sz="1200" dirty="0">
                <a:solidFill>
                  <a:schemeClr val="tx2"/>
                </a:solidFill>
              </a:rPr>
              <a:t>scratch AP</a:t>
            </a:r>
            <a:endParaRPr lang="en-US" sz="1200" dirty="0"/>
          </a:p>
        </p:txBody>
      </p:sp>
      <p:sp>
        <p:nvSpPr>
          <p:cNvPr id="9" name="own-col-2"/>
          <p:cNvSpPr txBox="1"/>
          <p:nvPr/>
        </p:nvSpPr>
        <p:spPr>
          <a:xfrm>
            <a:off x="9628829" y="2011680"/>
            <a:ext cx="1280160" cy="274320"/>
          </a:xfrm>
          <a:prstGeom prst="rect">
            <a:avLst/>
          </a:prstGeom>
          <a:noFill/>
          <a:ln/>
        </p:spPr>
        <p:txBody>
          <a:bodyPr wrap="square" lIns="0" tIns="0" rIns="0" bIns="0" rtlCol="0" anchor="t"/>
          <a:lstStyle/>
          <a:p>
            <a:pPr algn="r" indent="0" marL="0">
              <a:buNone/>
            </a:pPr>
            <a:r>
              <a:rPr lang="en-US" sz="1200" dirty="0">
                <a:solidFill>
                  <a:schemeClr val="tx2"/>
                </a:solidFill>
              </a:rPr>
              <a:t>2차 세트 검출</a:t>
            </a:r>
            <a:endParaRPr lang="en-US" sz="1200" dirty="0"/>
          </a:p>
        </p:txBody>
      </p:sp>
      <p:sp>
        <p:nvSpPr>
          <p:cNvPr id="10" name="own-row-0"/>
          <p:cNvSpPr/>
          <p:nvPr/>
        </p:nvSpPr>
        <p:spPr>
          <a:xfrm>
            <a:off x="4599629" y="2377440"/>
            <a:ext cx="7043426" cy="1051560"/>
          </a:xfrm>
          <a:prstGeom prst="roundRect">
            <a:avLst>
              <a:gd name="adj" fmla="val 6957"/>
            </a:avLst>
          </a:prstGeom>
          <a:solidFill>
            <a:schemeClr val="bg2"/>
          </a:solidFill>
          <a:ln/>
        </p:spPr>
      </p:sp>
      <p:sp>
        <p:nvSpPr>
          <p:cNvPr id="11" name="own-dot-0"/>
          <p:cNvSpPr/>
          <p:nvPr/>
        </p:nvSpPr>
        <p:spPr>
          <a:xfrm>
            <a:off x="4828229" y="2606040"/>
            <a:ext cx="146304" cy="146304"/>
          </a:xfrm>
          <a:prstGeom prst="ellipse">
            <a:avLst/>
          </a:prstGeom>
          <a:solidFill>
            <a:schemeClr val="accent4"/>
          </a:solidFill>
          <a:ln/>
        </p:spPr>
      </p:sp>
      <p:sp>
        <p:nvSpPr>
          <p:cNvPr id="12" name="own-n-0"/>
          <p:cNvSpPr txBox="1"/>
          <p:nvPr/>
        </p:nvSpPr>
        <p:spPr>
          <a:xfrm>
            <a:off x="5056829" y="2514600"/>
            <a:ext cx="2103120" cy="320040"/>
          </a:xfrm>
          <a:prstGeom prst="rect">
            <a:avLst/>
          </a:prstGeom>
          <a:noFill/>
          <a:ln/>
        </p:spPr>
        <p:txBody>
          <a:bodyPr wrap="square" lIns="0" tIns="0" rIns="0" bIns="0" rtlCol="0" anchor="t"/>
          <a:lstStyle/>
          <a:p>
            <a:pPr indent="0" marL="0">
              <a:buNone/>
            </a:pPr>
            <a:r>
              <a:rPr lang="en-US" sz="1500" b="1" dirty="0">
                <a:solidFill>
                  <a:schemeClr val="tx1"/>
                </a:solidFill>
              </a:rPr>
              <a:t>ATSS-MobileNetV2</a:t>
            </a:r>
            <a:endParaRPr lang="en-US" sz="1500" dirty="0"/>
          </a:p>
        </p:txBody>
      </p:sp>
      <p:sp>
        <p:nvSpPr>
          <p:cNvPr id="13" name="own-s-0"/>
          <p:cNvSpPr txBox="1"/>
          <p:nvPr/>
        </p:nvSpPr>
        <p:spPr>
          <a:xfrm>
            <a:off x="5056829" y="2926080"/>
            <a:ext cx="2103120" cy="274320"/>
          </a:xfrm>
          <a:prstGeom prst="rect">
            <a:avLst/>
          </a:prstGeom>
          <a:noFill/>
          <a:ln/>
        </p:spPr>
        <p:txBody>
          <a:bodyPr wrap="square" lIns="0" tIns="0" rIns="0" bIns="0" rtlCol="0" anchor="t"/>
          <a:lstStyle/>
          <a:p>
            <a:pPr indent="0" marL="0">
              <a:buNone/>
            </a:pPr>
            <a:r>
              <a:rPr lang="en-US" sz="1200" dirty="0">
                <a:solidFill>
                  <a:schemeClr val="tx2"/>
                </a:solidFill>
              </a:rPr>
              <a:t>3.9M · 20.6 GFLOPs</a:t>
            </a:r>
            <a:endParaRPr lang="en-US" sz="1200" dirty="0"/>
          </a:p>
        </p:txBody>
      </p:sp>
      <p:sp>
        <p:nvSpPr>
          <p:cNvPr id="14" name="own-m-0"/>
          <p:cNvSpPr txBox="1"/>
          <p:nvPr/>
        </p:nvSpPr>
        <p:spPr>
          <a:xfrm>
            <a:off x="7114229" y="2487168"/>
            <a:ext cx="1600200" cy="822960"/>
          </a:xfrm>
          <a:prstGeom prst="rect">
            <a:avLst/>
          </a:prstGeom>
          <a:noFill/>
          <a:ln/>
        </p:spPr>
        <p:txBody>
          <a:bodyPr wrap="square" lIns="0" tIns="0" rIns="0" bIns="0" rtlCol="0" anchor="ctr"/>
          <a:lstStyle/>
          <a:p>
            <a:pPr algn="r" indent="0" marL="0">
              <a:buNone/>
            </a:pPr>
            <a:r>
              <a:rPr lang="en-US" sz="3400" b="1" dirty="0">
                <a:solidFill>
                  <a:schemeClr val="accent4"/>
                </a:solidFill>
              </a:rPr>
              <a:t>92.9%</a:t>
            </a:r>
            <a:endParaRPr lang="en-US" sz="3400" dirty="0"/>
          </a:p>
        </p:txBody>
      </p:sp>
      <p:sp>
        <p:nvSpPr>
          <p:cNvPr id="15" name="own-a-0"/>
          <p:cNvSpPr txBox="1"/>
          <p:nvPr/>
        </p:nvSpPr>
        <p:spPr>
          <a:xfrm>
            <a:off x="8760149" y="2487168"/>
            <a:ext cx="1097280" cy="822960"/>
          </a:xfrm>
          <a:prstGeom prst="rect">
            <a:avLst/>
          </a:prstGeom>
          <a:noFill/>
          <a:ln/>
        </p:spPr>
        <p:txBody>
          <a:bodyPr wrap="square" lIns="0" tIns="0" rIns="0" bIns="0" rtlCol="0" anchor="ctr"/>
          <a:lstStyle/>
          <a:p>
            <a:pPr algn="r" indent="0" marL="0">
              <a:buNone/>
            </a:pPr>
            <a:r>
              <a:rPr lang="en-US" sz="1800" dirty="0">
                <a:solidFill>
                  <a:schemeClr val="tx1"/>
                </a:solidFill>
              </a:rPr>
              <a:t>0.86</a:t>
            </a:r>
            <a:endParaRPr lang="en-US" sz="1800" dirty="0"/>
          </a:p>
        </p:txBody>
      </p:sp>
      <p:sp>
        <p:nvSpPr>
          <p:cNvPr id="16" name="own-h2-0"/>
          <p:cNvSpPr txBox="1"/>
          <p:nvPr/>
        </p:nvSpPr>
        <p:spPr>
          <a:xfrm>
            <a:off x="9903149" y="2487168"/>
            <a:ext cx="1005840" cy="822960"/>
          </a:xfrm>
          <a:prstGeom prst="rect">
            <a:avLst/>
          </a:prstGeom>
          <a:noFill/>
          <a:ln/>
        </p:spPr>
        <p:txBody>
          <a:bodyPr wrap="square" lIns="0" tIns="0" rIns="0" bIns="0" rtlCol="0" anchor="ctr"/>
          <a:lstStyle/>
          <a:p>
            <a:pPr algn="r" indent="0" marL="0">
              <a:buNone/>
            </a:pPr>
            <a:r>
              <a:rPr lang="en-US" sz="1800" b="1" dirty="0">
                <a:solidFill>
                  <a:schemeClr val="accent2"/>
                </a:solidFill>
              </a:rPr>
              <a:t>47%</a:t>
            </a:r>
            <a:endParaRPr lang="en-US" sz="1800" dirty="0"/>
          </a:p>
        </p:txBody>
      </p:sp>
      <p:sp>
        <p:nvSpPr>
          <p:cNvPr id="17" name="best-badge"/>
          <p:cNvSpPr/>
          <p:nvPr/>
        </p:nvSpPr>
        <p:spPr>
          <a:xfrm>
            <a:off x="6519869" y="2944368"/>
            <a:ext cx="502920" cy="237744"/>
          </a:xfrm>
          <a:prstGeom prst="roundRect">
            <a:avLst>
              <a:gd name="adj" fmla="val 15385"/>
            </a:avLst>
          </a:prstGeom>
          <a:solidFill>
            <a:schemeClr val="accent1"/>
          </a:solidFill>
          <a:ln/>
        </p:spPr>
      </p:sp>
      <p:sp>
        <p:nvSpPr>
          <p:cNvPr id="18" name="best-t"/>
          <p:cNvSpPr txBox="1"/>
          <p:nvPr/>
        </p:nvSpPr>
        <p:spPr>
          <a:xfrm>
            <a:off x="6519869" y="2944368"/>
            <a:ext cx="502920" cy="237744"/>
          </a:xfrm>
          <a:prstGeom prst="rect">
            <a:avLst/>
          </a:prstGeom>
          <a:noFill/>
          <a:ln/>
        </p:spPr>
        <p:txBody>
          <a:bodyPr wrap="square" lIns="0" tIns="0" rIns="0" bIns="0" rtlCol="0" anchor="ctr"/>
          <a:lstStyle/>
          <a:p>
            <a:pPr algn="ctr" indent="0" marL="0">
              <a:buNone/>
            </a:pPr>
            <a:r>
              <a:rPr lang="en-US" sz="1000" b="1" dirty="0">
                <a:solidFill>
                  <a:schemeClr val="bg1"/>
                </a:solidFill>
              </a:rPr>
              <a:t>best</a:t>
            </a:r>
            <a:endParaRPr lang="en-US" sz="1000" dirty="0"/>
          </a:p>
        </p:txBody>
      </p:sp>
      <p:sp>
        <p:nvSpPr>
          <p:cNvPr id="19" name="own-row-1"/>
          <p:cNvSpPr/>
          <p:nvPr/>
        </p:nvSpPr>
        <p:spPr>
          <a:xfrm>
            <a:off x="4599629" y="3566160"/>
            <a:ext cx="7043426" cy="1051560"/>
          </a:xfrm>
          <a:prstGeom prst="roundRect">
            <a:avLst>
              <a:gd name="adj" fmla="val 6957"/>
            </a:avLst>
          </a:prstGeom>
          <a:solidFill>
            <a:schemeClr val="bg2"/>
          </a:solidFill>
          <a:ln/>
        </p:spPr>
      </p:sp>
      <p:sp>
        <p:nvSpPr>
          <p:cNvPr id="20" name="own-dot-1"/>
          <p:cNvSpPr/>
          <p:nvPr/>
        </p:nvSpPr>
        <p:spPr>
          <a:xfrm>
            <a:off x="4828229" y="3794760"/>
            <a:ext cx="146304" cy="146304"/>
          </a:xfrm>
          <a:prstGeom prst="ellipse">
            <a:avLst/>
          </a:prstGeom>
          <a:solidFill>
            <a:schemeClr val="accent5"/>
          </a:solidFill>
          <a:ln/>
        </p:spPr>
      </p:sp>
      <p:sp>
        <p:nvSpPr>
          <p:cNvPr id="21" name="own-n-1"/>
          <p:cNvSpPr txBox="1"/>
          <p:nvPr/>
        </p:nvSpPr>
        <p:spPr>
          <a:xfrm>
            <a:off x="5056829" y="3703320"/>
            <a:ext cx="2103120" cy="320040"/>
          </a:xfrm>
          <a:prstGeom prst="rect">
            <a:avLst/>
          </a:prstGeom>
          <a:noFill/>
          <a:ln/>
        </p:spPr>
        <p:txBody>
          <a:bodyPr wrap="square" lIns="0" tIns="0" rIns="0" bIns="0" rtlCol="0" anchor="t"/>
          <a:lstStyle/>
          <a:p>
            <a:pPr indent="0" marL="0">
              <a:buNone/>
            </a:pPr>
            <a:r>
              <a:rPr lang="en-US" sz="1500" b="1" dirty="0">
                <a:solidFill>
                  <a:schemeClr val="tx1"/>
                </a:solidFill>
              </a:rPr>
              <a:t>YOLOX-S</a:t>
            </a:r>
            <a:endParaRPr lang="en-US" sz="1500" dirty="0"/>
          </a:p>
        </p:txBody>
      </p:sp>
      <p:sp>
        <p:nvSpPr>
          <p:cNvPr id="22" name="own-s-1"/>
          <p:cNvSpPr txBox="1"/>
          <p:nvPr/>
        </p:nvSpPr>
        <p:spPr>
          <a:xfrm>
            <a:off x="5056829" y="4114800"/>
            <a:ext cx="2103120" cy="274320"/>
          </a:xfrm>
          <a:prstGeom prst="rect">
            <a:avLst/>
          </a:prstGeom>
          <a:noFill/>
          <a:ln/>
        </p:spPr>
        <p:txBody>
          <a:bodyPr wrap="square" lIns="0" tIns="0" rIns="0" bIns="0" rtlCol="0" anchor="t"/>
          <a:lstStyle/>
          <a:p>
            <a:pPr indent="0" marL="0">
              <a:buNone/>
            </a:pPr>
            <a:r>
              <a:rPr lang="en-US" sz="1200" dirty="0">
                <a:solidFill>
                  <a:schemeClr val="tx2"/>
                </a:solidFill>
              </a:rPr>
              <a:t>9M · 26.8 GFLOPs</a:t>
            </a:r>
            <a:endParaRPr lang="en-US" sz="1200" dirty="0"/>
          </a:p>
        </p:txBody>
      </p:sp>
      <p:sp>
        <p:nvSpPr>
          <p:cNvPr id="23" name="own-m-1"/>
          <p:cNvSpPr txBox="1"/>
          <p:nvPr/>
        </p:nvSpPr>
        <p:spPr>
          <a:xfrm>
            <a:off x="7114229" y="3675888"/>
            <a:ext cx="1600200" cy="822960"/>
          </a:xfrm>
          <a:prstGeom prst="rect">
            <a:avLst/>
          </a:prstGeom>
          <a:noFill/>
          <a:ln/>
        </p:spPr>
        <p:txBody>
          <a:bodyPr wrap="square" lIns="0" tIns="0" rIns="0" bIns="0" rtlCol="0" anchor="ctr"/>
          <a:lstStyle/>
          <a:p>
            <a:pPr algn="r" indent="0" marL="0">
              <a:buNone/>
            </a:pPr>
            <a:r>
              <a:rPr lang="en-US" sz="3400" b="1" dirty="0">
                <a:solidFill>
                  <a:schemeClr val="accent5"/>
                </a:solidFill>
              </a:rPr>
              <a:t>89.2%</a:t>
            </a:r>
            <a:endParaRPr lang="en-US" sz="3400" dirty="0"/>
          </a:p>
        </p:txBody>
      </p:sp>
      <p:sp>
        <p:nvSpPr>
          <p:cNvPr id="24" name="own-a-1"/>
          <p:cNvSpPr txBox="1"/>
          <p:nvPr/>
        </p:nvSpPr>
        <p:spPr>
          <a:xfrm>
            <a:off x="8760149" y="3675888"/>
            <a:ext cx="1097280" cy="822960"/>
          </a:xfrm>
          <a:prstGeom prst="rect">
            <a:avLst/>
          </a:prstGeom>
          <a:noFill/>
          <a:ln/>
        </p:spPr>
        <p:txBody>
          <a:bodyPr wrap="square" lIns="0" tIns="0" rIns="0" bIns="0" rtlCol="0" anchor="ctr"/>
          <a:lstStyle/>
          <a:p>
            <a:pPr algn="r" indent="0" marL="0">
              <a:buNone/>
            </a:pPr>
            <a:r>
              <a:rPr lang="en-US" sz="1800" dirty="0">
                <a:solidFill>
                  <a:schemeClr val="tx1"/>
                </a:solidFill>
              </a:rPr>
              <a:t>0.78</a:t>
            </a:r>
            <a:endParaRPr lang="en-US" sz="1800" dirty="0"/>
          </a:p>
        </p:txBody>
      </p:sp>
      <p:sp>
        <p:nvSpPr>
          <p:cNvPr id="25" name="own-h2-1"/>
          <p:cNvSpPr txBox="1"/>
          <p:nvPr/>
        </p:nvSpPr>
        <p:spPr>
          <a:xfrm>
            <a:off x="9903149" y="3675888"/>
            <a:ext cx="1005840" cy="822960"/>
          </a:xfrm>
          <a:prstGeom prst="rect">
            <a:avLst/>
          </a:prstGeom>
          <a:noFill/>
          <a:ln/>
        </p:spPr>
        <p:txBody>
          <a:bodyPr wrap="square" lIns="0" tIns="0" rIns="0" bIns="0" rtlCol="0" anchor="ctr"/>
          <a:lstStyle/>
          <a:p>
            <a:pPr algn="r" indent="0" marL="0">
              <a:buNone/>
            </a:pPr>
            <a:r>
              <a:rPr lang="en-US" sz="1800" b="1" dirty="0">
                <a:solidFill>
                  <a:schemeClr val="accent2"/>
                </a:solidFill>
              </a:rPr>
              <a:t>3%</a:t>
            </a:r>
            <a:endParaRPr lang="en-US" sz="1800" dirty="0"/>
          </a:p>
        </p:txBody>
      </p:sp>
      <p:sp>
        <p:nvSpPr>
          <p:cNvPr id="26" name="own-row-2"/>
          <p:cNvSpPr/>
          <p:nvPr/>
        </p:nvSpPr>
        <p:spPr>
          <a:xfrm>
            <a:off x="4599629" y="4754880"/>
            <a:ext cx="7043426" cy="1051560"/>
          </a:xfrm>
          <a:prstGeom prst="roundRect">
            <a:avLst>
              <a:gd name="adj" fmla="val 6957"/>
            </a:avLst>
          </a:prstGeom>
          <a:solidFill>
            <a:schemeClr val="bg2"/>
          </a:solidFill>
          <a:ln/>
        </p:spPr>
      </p:sp>
      <p:sp>
        <p:nvSpPr>
          <p:cNvPr id="27" name="own-dot-2"/>
          <p:cNvSpPr/>
          <p:nvPr/>
        </p:nvSpPr>
        <p:spPr>
          <a:xfrm>
            <a:off x="4828229" y="4983480"/>
            <a:ext cx="146304" cy="146304"/>
          </a:xfrm>
          <a:prstGeom prst="ellipse">
            <a:avLst/>
          </a:prstGeom>
          <a:solidFill>
            <a:schemeClr val="accent6"/>
          </a:solidFill>
          <a:ln/>
        </p:spPr>
      </p:sp>
      <p:sp>
        <p:nvSpPr>
          <p:cNvPr id="28" name="own-n-2"/>
          <p:cNvSpPr txBox="1"/>
          <p:nvPr/>
        </p:nvSpPr>
        <p:spPr>
          <a:xfrm>
            <a:off x="5056829" y="4892040"/>
            <a:ext cx="2103120" cy="320040"/>
          </a:xfrm>
          <a:prstGeom prst="rect">
            <a:avLst/>
          </a:prstGeom>
          <a:noFill/>
          <a:ln/>
        </p:spPr>
        <p:txBody>
          <a:bodyPr wrap="square" lIns="0" tIns="0" rIns="0" bIns="0" rtlCol="0" anchor="t"/>
          <a:lstStyle/>
          <a:p>
            <a:pPr indent="0" marL="0">
              <a:buNone/>
            </a:pPr>
            <a:r>
              <a:rPr lang="en-US" sz="1500" b="1" dirty="0">
                <a:solidFill>
                  <a:schemeClr val="tx1"/>
                </a:solidFill>
              </a:rPr>
              <a:t>YOLOX-Tiny</a:t>
            </a:r>
            <a:endParaRPr lang="en-US" sz="1500" dirty="0"/>
          </a:p>
        </p:txBody>
      </p:sp>
      <p:sp>
        <p:nvSpPr>
          <p:cNvPr id="29" name="own-s-2"/>
          <p:cNvSpPr txBox="1"/>
          <p:nvPr/>
        </p:nvSpPr>
        <p:spPr>
          <a:xfrm>
            <a:off x="5056829" y="5303520"/>
            <a:ext cx="2103120" cy="274320"/>
          </a:xfrm>
          <a:prstGeom prst="rect">
            <a:avLst/>
          </a:prstGeom>
          <a:noFill/>
          <a:ln/>
        </p:spPr>
        <p:txBody>
          <a:bodyPr wrap="square" lIns="0" tIns="0" rIns="0" bIns="0" rtlCol="0" anchor="t"/>
          <a:lstStyle/>
          <a:p>
            <a:pPr indent="0" marL="0">
              <a:buNone/>
            </a:pPr>
            <a:r>
              <a:rPr lang="en-US" sz="1200" dirty="0">
                <a:solidFill>
                  <a:schemeClr val="tx2"/>
                </a:solidFill>
              </a:rPr>
              <a:t>5.06M · 6.45 GFLOPs</a:t>
            </a:r>
            <a:endParaRPr lang="en-US" sz="1200" dirty="0"/>
          </a:p>
        </p:txBody>
      </p:sp>
      <p:sp>
        <p:nvSpPr>
          <p:cNvPr id="30" name="own-m-2"/>
          <p:cNvSpPr txBox="1"/>
          <p:nvPr/>
        </p:nvSpPr>
        <p:spPr>
          <a:xfrm>
            <a:off x="7114229" y="4864608"/>
            <a:ext cx="1600200" cy="822960"/>
          </a:xfrm>
          <a:prstGeom prst="rect">
            <a:avLst/>
          </a:prstGeom>
          <a:noFill/>
          <a:ln/>
        </p:spPr>
        <p:txBody>
          <a:bodyPr wrap="square" lIns="0" tIns="0" rIns="0" bIns="0" rtlCol="0" anchor="ctr"/>
          <a:lstStyle/>
          <a:p>
            <a:pPr algn="r" indent="0" marL="0">
              <a:buNone/>
            </a:pPr>
            <a:r>
              <a:rPr lang="en-US" sz="3400" b="1" dirty="0">
                <a:solidFill>
                  <a:schemeClr val="accent6"/>
                </a:solidFill>
              </a:rPr>
              <a:t>83.2%</a:t>
            </a:r>
            <a:endParaRPr lang="en-US" sz="3400" dirty="0"/>
          </a:p>
        </p:txBody>
      </p:sp>
      <p:sp>
        <p:nvSpPr>
          <p:cNvPr id="31" name="own-a-2"/>
          <p:cNvSpPr txBox="1"/>
          <p:nvPr/>
        </p:nvSpPr>
        <p:spPr>
          <a:xfrm>
            <a:off x="8760149" y="4864608"/>
            <a:ext cx="1097280" cy="822960"/>
          </a:xfrm>
          <a:prstGeom prst="rect">
            <a:avLst/>
          </a:prstGeom>
          <a:noFill/>
          <a:ln/>
        </p:spPr>
        <p:txBody>
          <a:bodyPr wrap="square" lIns="0" tIns="0" rIns="0" bIns="0" rtlCol="0" anchor="ctr"/>
          <a:lstStyle/>
          <a:p>
            <a:pPr algn="r" indent="0" marL="0">
              <a:buNone/>
            </a:pPr>
            <a:r>
              <a:rPr lang="en-US" sz="1800" dirty="0">
                <a:solidFill>
                  <a:schemeClr val="tx1"/>
                </a:solidFill>
              </a:rPr>
              <a:t>0.66</a:t>
            </a:r>
            <a:endParaRPr lang="en-US" sz="1800" dirty="0"/>
          </a:p>
        </p:txBody>
      </p:sp>
      <p:sp>
        <p:nvSpPr>
          <p:cNvPr id="32" name="own-h2-2"/>
          <p:cNvSpPr txBox="1"/>
          <p:nvPr/>
        </p:nvSpPr>
        <p:spPr>
          <a:xfrm>
            <a:off x="9903149" y="4864608"/>
            <a:ext cx="1005840" cy="822960"/>
          </a:xfrm>
          <a:prstGeom prst="rect">
            <a:avLst/>
          </a:prstGeom>
          <a:noFill/>
          <a:ln/>
        </p:spPr>
        <p:txBody>
          <a:bodyPr wrap="square" lIns="0" tIns="0" rIns="0" bIns="0" rtlCol="0" anchor="ctr"/>
          <a:lstStyle/>
          <a:p>
            <a:pPr algn="r" indent="0" marL="0">
              <a:buNone/>
            </a:pPr>
            <a:r>
              <a:rPr lang="en-US" sz="1800" b="1" dirty="0">
                <a:solidFill>
                  <a:schemeClr val="accent2"/>
                </a:solidFill>
              </a:rPr>
              <a:t>47%</a:t>
            </a:r>
            <a:endParaRPr lang="en-US" sz="1800" dirty="0"/>
          </a:p>
        </p:txBody>
      </p:sp>
      <p:sp>
        <p:nvSpPr>
          <p:cNvPr id="33" name="own-note"/>
          <p:cNvSpPr txBox="1"/>
          <p:nvPr/>
        </p:nvSpPr>
        <p:spPr>
          <a:xfrm>
            <a:off x="4599629" y="5669280"/>
            <a:ext cx="7043426" cy="566928"/>
          </a:xfrm>
          <a:prstGeom prst="rect">
            <a:avLst/>
          </a:prstGeom>
          <a:noFill/>
          <a:ln/>
        </p:spPr>
        <p:txBody>
          <a:bodyPr wrap="square" lIns="0" tIns="0" rIns="0" bIns="0" rtlCol="0" anchor="t"/>
          <a:lstStyle/>
          <a:p>
            <a:pPr indent="0" marL="0">
              <a:buNone/>
            </a:pPr>
            <a:r>
              <a:rPr lang="en-US" sz="1200" dirty="0">
                <a:solidFill>
                  <a:schemeClr val="tx2"/>
                </a:solidFill>
              </a:rPr>
              <a:t>Geti 점수와 같은 순서 · 작은 = 파라미터 기준 (연산량은 Tiny 최소)</a:t>
            </a:r>
            <a:endParaRPr lang="en-US" sz="1200" dirty="0"/>
          </a:p>
          <a:p>
            <a:pPr indent="0" marL="0">
              <a:buNone/>
            </a:pPr>
            <a:r>
              <a:rPr lang="en-US" sz="1200" b="1" dirty="0">
                <a:solidFill>
                  <a:schemeClr val="accent1"/>
                </a:solidFill>
              </a:rPr>
              <a:t>왜?  </a:t>
            </a:r>
            <a:pPr indent="0" marL="0">
              <a:buNone/>
            </a:pPr>
            <a:r>
              <a:rPr lang="en-US" sz="1200" dirty="0">
                <a:solidFill>
                  <a:schemeClr val="tx2"/>
                </a:solidFill>
              </a:rPr>
              <a:t>가설: ATSS 입력 992×800 (YOLOX 640×640) · 적은 데이터엔 작은 모델 · 학습 1회라 미검증</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오류 분석</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ATSS · 검토 기준 0.30 · 1차 테스트</a:t>
            </a:r>
            <a:endParaRPr lang="en-US" sz="1500" dirty="0"/>
          </a:p>
        </p:txBody>
      </p:sp>
      <p:sp>
        <p:nvSpPr>
          <p:cNvPr id="4" name="conclusion-band"/>
          <p:cNvSpPr/>
          <p:nvPr/>
        </p:nvSpPr>
        <p:spPr>
          <a:xfrm>
            <a:off x="548640" y="1600200"/>
            <a:ext cx="11094415" cy="777240"/>
          </a:xfrm>
          <a:prstGeom prst="roundRect">
            <a:avLst>
              <a:gd name="adj" fmla="val 9412"/>
            </a:avLst>
          </a:prstGeom>
          <a:solidFill>
            <a:srgbClr val="23272F"/>
          </a:solidFill>
          <a:ln/>
        </p:spPr>
      </p:sp>
      <p:sp>
        <p:nvSpPr>
          <p:cNvPr id="5" name="conclusion"/>
          <p:cNvSpPr txBox="1"/>
          <p:nvPr/>
        </p:nvSpPr>
        <p:spPr>
          <a:xfrm>
            <a:off x="822960" y="1645920"/>
            <a:ext cx="10545775" cy="685800"/>
          </a:xfrm>
          <a:prstGeom prst="rect">
            <a:avLst/>
          </a:prstGeom>
          <a:noFill/>
          <a:ln/>
        </p:spPr>
        <p:txBody>
          <a:bodyPr wrap="square" lIns="0" tIns="0" rIns="0" bIns="0" rtlCol="0" anchor="ctr"/>
          <a:lstStyle/>
          <a:p>
            <a:pPr indent="0" marL="0">
              <a:buNone/>
            </a:pPr>
            <a:r>
              <a:rPr lang="en-US" sz="2200" b="1" dirty="0">
                <a:solidFill>
                  <a:schemeClr val="accent1"/>
                </a:solidFill>
              </a:rPr>
              <a:t>혼동 0건</a:t>
            </a:r>
            <a:pPr indent="0" marL="0">
              <a:buNone/>
            </a:pPr>
            <a:r>
              <a:rPr lang="en-US" sz="2200" b="1" dirty="0">
                <a:solidFill>
                  <a:schemeClr val="tx1"/>
                </a:solidFill>
              </a:rPr>
              <a:t>  ·  오류는 전부 놓친 scratch  ·  </a:t>
            </a:r>
            <a:pPr indent="0" marL="0">
              <a:buNone/>
            </a:pPr>
            <a:r>
              <a:rPr lang="en-US" sz="2200" b="1" dirty="0">
                <a:solidFill>
                  <a:schemeClr val="accent2"/>
                </a:solidFill>
              </a:rPr>
              <a:t>나무 배경에서 가장 약함</a:t>
            </a:r>
            <a:endParaRPr lang="en-US" sz="2200" dirty="0"/>
          </a:p>
        </p:txBody>
      </p:sp>
      <p:graphicFrame>
        <p:nvGraphicFramePr>
          <p:cNvPr id="7" name="confusion"/>
          <p:cNvGraphicFramePr>
            <a:graphicFrameLocks noGrp="1"/>
          </p:cNvGraphicFramePr>
          <p:nvPr>
            <p:extLst>
              <p:ext uri="{D42A27DB-BD31-4B8C-83A1-F6EECF244321}">
                <p14:modId xmlns:p14="http://schemas.microsoft.com/office/powerpoint/2010/main" val="1579011935"/>
              </p:ext>
            </p:extLst>
          </p:nvPr>
        </p:nvGraphicFramePr>
        <p:xfrm>
          <a:off x="548640" y="2651760"/>
          <a:ext cx="5486400" cy="914400"/>
        </p:xfrm>
        <a:graphic>
          <a:graphicData uri="http://schemas.openxmlformats.org/drawingml/2006/table">
            <a:tbl>
              <a:tblPr/>
              <a:tblGrid>
                <a:gridCol w="1783080"/>
                <a:gridCol w="1234440"/>
                <a:gridCol w="1234440"/>
                <a:gridCol w="1234440"/>
              </a:tblGrid>
              <a:tr h="411480">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정답 ↓  예측 →</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crack</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scratch</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놓침</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411480">
                <a:tc>
                  <a:txBody>
                    <a:bodyPr/>
                    <a:lstStyle/>
                    <a:p>
                      <a:pPr algn="l" indent="0" marL="0">
                        <a:buNone/>
                      </a:pPr>
                      <a:r>
                        <a:rPr lang="en-US" sz="1400" b="1" dirty="0">
                          <a:solidFill>
                            <a:schemeClr val="tx1"/>
                          </a:solidFill>
                          <a:latin typeface="Malgun Gothic" pitchFamily="34" charset="0"/>
                          <a:ea typeface="Malgun Gothic" pitchFamily="34" charset="-122"/>
                          <a:cs typeface="Malgun Gothic" pitchFamily="34" charset="-120"/>
                        </a:rPr>
                        <a:t>crack</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45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11480">
                <a:tc>
                  <a:txBody>
                    <a:bodyPr/>
                    <a:lstStyle/>
                    <a:p>
                      <a:pPr algn="l" indent="0" marL="0">
                        <a:buNone/>
                      </a:pPr>
                      <a:r>
                        <a:rPr lang="en-US" sz="1400" b="1" dirty="0">
                          <a:solidFill>
                            <a:schemeClr val="tx1"/>
                          </a:solidFill>
                          <a:latin typeface="Malgun Gothic" pitchFamily="34" charset="0"/>
                          <a:ea typeface="Malgun Gothic" pitchFamily="34" charset="-122"/>
                          <a:cs typeface="Malgun Gothic" pitchFamily="34" charset="-120"/>
                        </a:rPr>
                        <a:t>scratch</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59</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19</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11480">
                <a:tc>
                  <a:txBody>
                    <a:bodyPr/>
                    <a:lstStyle/>
                    <a:p>
                      <a:pPr algn="l" indent="0" marL="0">
                        <a:buNone/>
                      </a:pPr>
                      <a:r>
                        <a:rPr lang="en-US" sz="1400" b="1" dirty="0">
                          <a:solidFill>
                            <a:schemeClr val="tx1"/>
                          </a:solidFill>
                          <a:latin typeface="Malgun Gothic" pitchFamily="34" charset="0"/>
                          <a:ea typeface="Malgun Gothic" pitchFamily="34" charset="-122"/>
                          <a:cs typeface="Malgun Gothic" pitchFamily="34" charset="-120"/>
                        </a:rPr>
                        <a:t>배경 (오검출)</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accent3"/>
                          </a:solidFill>
                          <a:latin typeface="Malgun Gothic" pitchFamily="34" charset="0"/>
                          <a:ea typeface="Malgun Gothic" pitchFamily="34" charset="-122"/>
                          <a:cs typeface="Malgun Gothic" pitchFamily="34" charset="-120"/>
                        </a:rPr>
                        <a:t>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13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7" name="bg-recall-card"/>
          <p:cNvSpPr/>
          <p:nvPr/>
        </p:nvSpPr>
        <p:spPr>
          <a:xfrm>
            <a:off x="548640" y="4572000"/>
            <a:ext cx="5486400" cy="1645920"/>
          </a:xfrm>
          <a:prstGeom prst="roundRect">
            <a:avLst>
              <a:gd name="adj" fmla="val 4444"/>
            </a:avLst>
          </a:prstGeom>
          <a:solidFill>
            <a:schemeClr val="bg2"/>
          </a:solidFill>
          <a:ln/>
        </p:spPr>
      </p:sp>
      <p:sp>
        <p:nvSpPr>
          <p:cNvPr id="8" name="bgr-h"/>
          <p:cNvSpPr txBox="1"/>
          <p:nvPr/>
        </p:nvSpPr>
        <p:spPr>
          <a:xfrm>
            <a:off x="822960" y="4663440"/>
            <a:ext cx="4937760" cy="292608"/>
          </a:xfrm>
          <a:prstGeom prst="rect">
            <a:avLst/>
          </a:prstGeom>
          <a:noFill/>
          <a:ln/>
        </p:spPr>
        <p:txBody>
          <a:bodyPr wrap="square" lIns="0" tIns="0" rIns="0" bIns="0" rtlCol="0" anchor="t"/>
          <a:lstStyle/>
          <a:p>
            <a:pPr indent="0" marL="0">
              <a:buNone/>
            </a:pPr>
            <a:r>
              <a:rPr lang="en-US" sz="1400" b="1" dirty="0">
                <a:solidFill>
                  <a:schemeClr val="tx1"/>
                </a:solidFill>
              </a:rPr>
              <a:t>배경별 박스 재현율 (불합격 기준 0.60)</a:t>
            </a:r>
            <a:endParaRPr lang="en-US" sz="1400" dirty="0"/>
          </a:p>
        </p:txBody>
      </p:sp>
      <p:sp>
        <p:nvSpPr>
          <p:cNvPr id="9" name="bgr-l-0"/>
          <p:cNvSpPr txBox="1"/>
          <p:nvPr/>
        </p:nvSpPr>
        <p:spPr>
          <a:xfrm>
            <a:off x="822960" y="5029200"/>
            <a:ext cx="1188720" cy="292608"/>
          </a:xfrm>
          <a:prstGeom prst="rect">
            <a:avLst/>
          </a:prstGeom>
          <a:noFill/>
          <a:ln/>
        </p:spPr>
        <p:txBody>
          <a:bodyPr wrap="square" lIns="0" tIns="0" rIns="0" bIns="0" rtlCol="0" anchor="ctr"/>
          <a:lstStyle/>
          <a:p>
            <a:pPr indent="0" marL="0">
              <a:buNone/>
            </a:pPr>
            <a:r>
              <a:rPr lang="en-US" sz="1300" dirty="0">
                <a:solidFill>
                  <a:schemeClr val="tx2"/>
                </a:solidFill>
              </a:rPr>
              <a:t>초록 매트</a:t>
            </a:r>
            <a:endParaRPr lang="en-US" sz="1300" dirty="0"/>
          </a:p>
        </p:txBody>
      </p:sp>
      <p:sp>
        <p:nvSpPr>
          <p:cNvPr id="10" name="bgr-track-0"/>
          <p:cNvSpPr/>
          <p:nvPr/>
        </p:nvSpPr>
        <p:spPr>
          <a:xfrm>
            <a:off x="2103120" y="5102352"/>
            <a:ext cx="3017520" cy="164592"/>
          </a:xfrm>
          <a:prstGeom prst="rect">
            <a:avLst/>
          </a:prstGeom>
          <a:solidFill>
            <a:srgbClr val="3A3F48"/>
          </a:solidFill>
          <a:ln/>
        </p:spPr>
      </p:sp>
      <p:sp>
        <p:nvSpPr>
          <p:cNvPr id="11" name="bgr-fill-0"/>
          <p:cNvSpPr/>
          <p:nvPr/>
        </p:nvSpPr>
        <p:spPr>
          <a:xfrm>
            <a:off x="2103120" y="5102352"/>
            <a:ext cx="2172614" cy="164592"/>
          </a:xfrm>
          <a:prstGeom prst="rect">
            <a:avLst/>
          </a:prstGeom>
          <a:solidFill>
            <a:schemeClr val="accent1"/>
          </a:solidFill>
          <a:ln/>
        </p:spPr>
      </p:sp>
      <p:sp>
        <p:nvSpPr>
          <p:cNvPr id="12" name="bgr-v-0"/>
          <p:cNvSpPr txBox="1"/>
          <p:nvPr/>
        </p:nvSpPr>
        <p:spPr>
          <a:xfrm>
            <a:off x="5212080" y="5029200"/>
            <a:ext cx="548640" cy="292608"/>
          </a:xfrm>
          <a:prstGeom prst="rect">
            <a:avLst/>
          </a:prstGeom>
          <a:noFill/>
          <a:ln/>
        </p:spPr>
        <p:txBody>
          <a:bodyPr wrap="square" lIns="0" tIns="0" rIns="0" bIns="0" rtlCol="0" anchor="ctr"/>
          <a:lstStyle/>
          <a:p>
            <a:pPr algn="r" indent="0" marL="0">
              <a:buNone/>
            </a:pPr>
            <a:r>
              <a:rPr lang="en-US" sz="1300" b="1" dirty="0">
                <a:solidFill>
                  <a:schemeClr val="tx1"/>
                </a:solidFill>
              </a:rPr>
              <a:t>72%</a:t>
            </a:r>
            <a:endParaRPr lang="en-US" sz="1300" dirty="0"/>
          </a:p>
        </p:txBody>
      </p:sp>
      <p:sp>
        <p:nvSpPr>
          <p:cNvPr id="13" name="bgr-l-1"/>
          <p:cNvSpPr txBox="1"/>
          <p:nvPr/>
        </p:nvSpPr>
        <p:spPr>
          <a:xfrm>
            <a:off x="822960" y="5394960"/>
            <a:ext cx="1188720" cy="292608"/>
          </a:xfrm>
          <a:prstGeom prst="rect">
            <a:avLst/>
          </a:prstGeom>
          <a:noFill/>
          <a:ln/>
        </p:spPr>
        <p:txBody>
          <a:bodyPr wrap="square" lIns="0" tIns="0" rIns="0" bIns="0" rtlCol="0" anchor="ctr"/>
          <a:lstStyle/>
          <a:p>
            <a:pPr indent="0" marL="0">
              <a:buNone/>
            </a:pPr>
            <a:r>
              <a:rPr lang="en-US" sz="1300" dirty="0">
                <a:solidFill>
                  <a:schemeClr val="tx2"/>
                </a:solidFill>
              </a:rPr>
              <a:t>회색</a:t>
            </a:r>
            <a:endParaRPr lang="en-US" sz="1300" dirty="0"/>
          </a:p>
        </p:txBody>
      </p:sp>
      <p:sp>
        <p:nvSpPr>
          <p:cNvPr id="14" name="bgr-track-1"/>
          <p:cNvSpPr/>
          <p:nvPr/>
        </p:nvSpPr>
        <p:spPr>
          <a:xfrm>
            <a:off x="2103120" y="5468112"/>
            <a:ext cx="3017520" cy="164592"/>
          </a:xfrm>
          <a:prstGeom prst="rect">
            <a:avLst/>
          </a:prstGeom>
          <a:solidFill>
            <a:srgbClr val="3A3F48"/>
          </a:solidFill>
          <a:ln/>
        </p:spPr>
      </p:sp>
      <p:sp>
        <p:nvSpPr>
          <p:cNvPr id="15" name="bgr-fill-1"/>
          <p:cNvSpPr/>
          <p:nvPr/>
        </p:nvSpPr>
        <p:spPr>
          <a:xfrm>
            <a:off x="2103120" y="5468112"/>
            <a:ext cx="2263140" cy="164592"/>
          </a:xfrm>
          <a:prstGeom prst="rect">
            <a:avLst/>
          </a:prstGeom>
          <a:solidFill>
            <a:schemeClr val="accent1"/>
          </a:solidFill>
          <a:ln/>
        </p:spPr>
      </p:sp>
      <p:sp>
        <p:nvSpPr>
          <p:cNvPr id="16" name="bgr-v-1"/>
          <p:cNvSpPr txBox="1"/>
          <p:nvPr/>
        </p:nvSpPr>
        <p:spPr>
          <a:xfrm>
            <a:off x="5212080" y="5394960"/>
            <a:ext cx="548640" cy="292608"/>
          </a:xfrm>
          <a:prstGeom prst="rect">
            <a:avLst/>
          </a:prstGeom>
          <a:noFill/>
          <a:ln/>
        </p:spPr>
        <p:txBody>
          <a:bodyPr wrap="square" lIns="0" tIns="0" rIns="0" bIns="0" rtlCol="0" anchor="ctr"/>
          <a:lstStyle/>
          <a:p>
            <a:pPr algn="r" indent="0" marL="0">
              <a:buNone/>
            </a:pPr>
            <a:r>
              <a:rPr lang="en-US" sz="1300" b="1" dirty="0">
                <a:solidFill>
                  <a:schemeClr val="tx1"/>
                </a:solidFill>
              </a:rPr>
              <a:t>75%</a:t>
            </a:r>
            <a:endParaRPr lang="en-US" sz="1300" dirty="0"/>
          </a:p>
        </p:txBody>
      </p:sp>
      <p:sp>
        <p:nvSpPr>
          <p:cNvPr id="17" name="bgr-l-2"/>
          <p:cNvSpPr txBox="1"/>
          <p:nvPr/>
        </p:nvSpPr>
        <p:spPr>
          <a:xfrm>
            <a:off x="822960" y="5760720"/>
            <a:ext cx="1188720" cy="292608"/>
          </a:xfrm>
          <a:prstGeom prst="rect">
            <a:avLst/>
          </a:prstGeom>
          <a:noFill/>
          <a:ln/>
        </p:spPr>
        <p:txBody>
          <a:bodyPr wrap="square" lIns="0" tIns="0" rIns="0" bIns="0" rtlCol="0" anchor="ctr"/>
          <a:lstStyle/>
          <a:p>
            <a:pPr indent="0" marL="0">
              <a:buNone/>
            </a:pPr>
            <a:r>
              <a:rPr lang="en-US" sz="1300" dirty="0">
                <a:solidFill>
                  <a:schemeClr val="tx2"/>
                </a:solidFill>
              </a:rPr>
              <a:t>나무 탁상</a:t>
            </a:r>
            <a:endParaRPr lang="en-US" sz="1300" dirty="0"/>
          </a:p>
        </p:txBody>
      </p:sp>
      <p:sp>
        <p:nvSpPr>
          <p:cNvPr id="18" name="bgr-track-2"/>
          <p:cNvSpPr/>
          <p:nvPr/>
        </p:nvSpPr>
        <p:spPr>
          <a:xfrm>
            <a:off x="2103120" y="5833872"/>
            <a:ext cx="3017520" cy="164592"/>
          </a:xfrm>
          <a:prstGeom prst="rect">
            <a:avLst/>
          </a:prstGeom>
          <a:solidFill>
            <a:srgbClr val="3A3F48"/>
          </a:solidFill>
          <a:ln/>
        </p:spPr>
      </p:sp>
      <p:sp>
        <p:nvSpPr>
          <p:cNvPr id="19" name="bgr-fill-2"/>
          <p:cNvSpPr/>
          <p:nvPr/>
        </p:nvSpPr>
        <p:spPr>
          <a:xfrm>
            <a:off x="2103120" y="5833872"/>
            <a:ext cx="995782" cy="164592"/>
          </a:xfrm>
          <a:prstGeom prst="rect">
            <a:avLst/>
          </a:prstGeom>
          <a:solidFill>
            <a:schemeClr val="accent2"/>
          </a:solidFill>
          <a:ln/>
        </p:spPr>
      </p:sp>
      <p:sp>
        <p:nvSpPr>
          <p:cNvPr id="20" name="bgr-v-2"/>
          <p:cNvSpPr txBox="1"/>
          <p:nvPr/>
        </p:nvSpPr>
        <p:spPr>
          <a:xfrm>
            <a:off x="5212080" y="5760720"/>
            <a:ext cx="548640" cy="292608"/>
          </a:xfrm>
          <a:prstGeom prst="rect">
            <a:avLst/>
          </a:prstGeom>
          <a:noFill/>
          <a:ln/>
        </p:spPr>
        <p:txBody>
          <a:bodyPr wrap="square" lIns="0" tIns="0" rIns="0" bIns="0" rtlCol="0" anchor="ctr"/>
          <a:lstStyle/>
          <a:p>
            <a:pPr algn="r" indent="0" marL="0">
              <a:buNone/>
            </a:pPr>
            <a:r>
              <a:rPr lang="en-US" sz="1300" b="1" dirty="0">
                <a:solidFill>
                  <a:schemeClr val="tx1"/>
                </a:solidFill>
              </a:rPr>
              <a:t>33%</a:t>
            </a:r>
            <a:endParaRPr lang="en-US" sz="1300" dirty="0"/>
          </a:p>
        </p:txBody>
      </p:sp>
      <p:pic>
        <p:nvPicPr>
          <p:cNvPr id="21" name="heat-0" descr="C:\Users\user\_se4nchoi\batteryvision\docs\submission\build\img\heat_atss.jpg">    </p:cNvPr>
          <p:cNvPicPr>
            <a:picLocks noChangeAspect="1"/>
          </p:cNvPicPr>
          <p:nvPr/>
        </p:nvPicPr>
        <p:blipFill>
          <a:blip r:embed="rId1"/>
          <a:stretch>
            <a:fillRect/>
          </a:stretch>
        </p:blipFill>
        <p:spPr>
          <a:xfrm>
            <a:off x="6263640" y="2606040"/>
            <a:ext cx="2633472" cy="2633472"/>
          </a:xfrm>
          <a:prstGeom prst="rect">
            <a:avLst/>
          </a:prstGeom>
        </p:spPr>
      </p:pic>
      <p:sp>
        <p:nvSpPr>
          <p:cNvPr id="22" name="heat-dot-0"/>
          <p:cNvSpPr/>
          <p:nvPr/>
        </p:nvSpPr>
        <p:spPr>
          <a:xfrm>
            <a:off x="6263640" y="5413248"/>
            <a:ext cx="146304" cy="146304"/>
          </a:xfrm>
          <a:prstGeom prst="ellipse">
            <a:avLst/>
          </a:prstGeom>
          <a:solidFill>
            <a:schemeClr val="accent4"/>
          </a:solidFill>
          <a:ln/>
        </p:spPr>
      </p:sp>
      <p:sp>
        <p:nvSpPr>
          <p:cNvPr id="23" name="heat-l-0"/>
          <p:cNvSpPr txBox="1"/>
          <p:nvPr/>
        </p:nvSpPr>
        <p:spPr>
          <a:xfrm>
            <a:off x="6501384" y="5340096"/>
            <a:ext cx="2377440" cy="292608"/>
          </a:xfrm>
          <a:prstGeom prst="rect">
            <a:avLst/>
          </a:prstGeom>
          <a:noFill/>
          <a:ln/>
        </p:spPr>
        <p:txBody>
          <a:bodyPr wrap="square" lIns="0" tIns="0" rIns="0" bIns="0" rtlCol="0" anchor="t"/>
          <a:lstStyle/>
          <a:p>
            <a:pPr indent="0" marL="0">
              <a:buNone/>
            </a:pPr>
            <a:r>
              <a:rPr lang="en-US" sz="1400" b="1" dirty="0">
                <a:solidFill>
                  <a:schemeClr val="tx1"/>
                </a:solidFill>
              </a:rPr>
              <a:t>ATSS  </a:t>
            </a:r>
            <a:pPr indent="0" marL="0">
              <a:buNone/>
            </a:pPr>
            <a:r>
              <a:rPr lang="en-US" sz="1400" dirty="0">
                <a:solidFill>
                  <a:schemeClr val="tx2"/>
                </a:solidFill>
              </a:rPr>
              <a:t>결함 적중 </a:t>
            </a:r>
            <a:pPr indent="0" marL="0">
              <a:buNone/>
            </a:pPr>
            <a:r>
              <a:rPr lang="en-US" sz="1400" b="1" dirty="0">
                <a:solidFill>
                  <a:schemeClr val="accent4"/>
                </a:solidFill>
              </a:rPr>
              <a:t>48%</a:t>
            </a:r>
            <a:endParaRPr lang="en-US" sz="1400" dirty="0"/>
          </a:p>
        </p:txBody>
      </p:sp>
      <p:pic>
        <p:nvPicPr>
          <p:cNvPr id="24" name="heat-1" descr="C:\Users\user\_se4nchoi\batteryvision\docs\submission\build\img\heat_yolox.jpg">    </p:cNvPr>
          <p:cNvPicPr>
            <a:picLocks noChangeAspect="1"/>
          </p:cNvPicPr>
          <p:nvPr/>
        </p:nvPicPr>
        <p:blipFill>
          <a:blip r:embed="rId2"/>
          <a:stretch>
            <a:fillRect/>
          </a:stretch>
        </p:blipFill>
        <p:spPr>
          <a:xfrm>
            <a:off x="9006840" y="2606040"/>
            <a:ext cx="2633472" cy="2633472"/>
          </a:xfrm>
          <a:prstGeom prst="rect">
            <a:avLst/>
          </a:prstGeom>
        </p:spPr>
      </p:pic>
      <p:sp>
        <p:nvSpPr>
          <p:cNvPr id="25" name="heat-dot-1"/>
          <p:cNvSpPr/>
          <p:nvPr/>
        </p:nvSpPr>
        <p:spPr>
          <a:xfrm>
            <a:off x="9006840" y="5413248"/>
            <a:ext cx="146304" cy="146304"/>
          </a:xfrm>
          <a:prstGeom prst="ellipse">
            <a:avLst/>
          </a:prstGeom>
          <a:solidFill>
            <a:schemeClr val="accent5"/>
          </a:solidFill>
          <a:ln/>
        </p:spPr>
      </p:sp>
      <p:sp>
        <p:nvSpPr>
          <p:cNvPr id="26" name="heat-l-1"/>
          <p:cNvSpPr txBox="1"/>
          <p:nvPr/>
        </p:nvSpPr>
        <p:spPr>
          <a:xfrm>
            <a:off x="9244584" y="5340096"/>
            <a:ext cx="2377440" cy="292608"/>
          </a:xfrm>
          <a:prstGeom prst="rect">
            <a:avLst/>
          </a:prstGeom>
          <a:noFill/>
          <a:ln/>
        </p:spPr>
        <p:txBody>
          <a:bodyPr wrap="square" lIns="0" tIns="0" rIns="0" bIns="0" rtlCol="0" anchor="t"/>
          <a:lstStyle/>
          <a:p>
            <a:pPr indent="0" marL="0">
              <a:buNone/>
            </a:pPr>
            <a:r>
              <a:rPr lang="en-US" sz="1400" b="1" dirty="0">
                <a:solidFill>
                  <a:schemeClr val="tx1"/>
                </a:solidFill>
              </a:rPr>
              <a:t>YOLOX-S  </a:t>
            </a:r>
            <a:pPr indent="0" marL="0">
              <a:buNone/>
            </a:pPr>
            <a:r>
              <a:rPr lang="en-US" sz="1400" dirty="0">
                <a:solidFill>
                  <a:schemeClr val="tx2"/>
                </a:solidFill>
              </a:rPr>
              <a:t>결함 적중 </a:t>
            </a:r>
            <a:pPr indent="0" marL="0">
              <a:buNone/>
            </a:pPr>
            <a:r>
              <a:rPr lang="en-US" sz="1400" b="1" dirty="0">
                <a:solidFill>
                  <a:schemeClr val="accent5"/>
                </a:solidFill>
              </a:rPr>
              <a:t>98%</a:t>
            </a:r>
            <a:endParaRPr lang="en-US" sz="1400" dirty="0"/>
          </a:p>
        </p:txBody>
      </p:sp>
      <p:sp>
        <p:nvSpPr>
          <p:cNvPr id="27" name="heat-cap"/>
          <p:cNvSpPr txBox="1"/>
          <p:nvPr/>
        </p:nvSpPr>
        <p:spPr>
          <a:xfrm>
            <a:off x="6263640" y="5715000"/>
            <a:ext cx="5376672" cy="274320"/>
          </a:xfrm>
          <a:prstGeom prst="rect">
            <a:avLst/>
          </a:prstGeom>
          <a:noFill/>
          <a:ln/>
        </p:spPr>
        <p:txBody>
          <a:bodyPr wrap="square" lIns="0" tIns="0" rIns="0" bIns="0" rtlCol="0" anchor="t"/>
          <a:lstStyle/>
          <a:p>
            <a:pPr indent="0" marL="0">
              <a:buNone/>
            </a:pPr>
            <a:r>
              <a:rPr lang="en-US" sz="1200" dirty="0">
                <a:solidFill>
                  <a:schemeClr val="tx2"/>
                </a:solidFill>
              </a:rPr>
              <a:t>heatmap 최고점이 정답 박스 안 · 정확도 ≠ heatmap 품질</a:t>
            </a:r>
            <a:endParaRPr lang="en-US" sz="1200" dirty="0"/>
          </a:p>
        </p:txBody>
      </p:sp>
      <p:sp>
        <p:nvSpPr>
          <p:cNvPr id="28" name="why-6"/>
          <p:cNvSpPr txBox="1"/>
          <p:nvPr/>
        </p:nvSpPr>
        <p:spPr>
          <a:xfrm>
            <a:off x="6263640" y="5961888"/>
            <a:ext cx="5376672" cy="292608"/>
          </a:xfrm>
          <a:prstGeom prst="rect">
            <a:avLst/>
          </a:prstGeom>
          <a:noFill/>
          <a:ln/>
        </p:spPr>
        <p:txBody>
          <a:bodyPr wrap="square" lIns="0" tIns="0" rIns="0" bIns="0" rtlCol="0" anchor="t"/>
          <a:lstStyle/>
          <a:p>
            <a:pPr indent="0" marL="0">
              <a:buNone/>
            </a:pPr>
            <a:r>
              <a:rPr lang="en-US" sz="1400" b="1" dirty="0">
                <a:solidFill>
                  <a:schemeClr val="accent1"/>
                </a:solidFill>
              </a:rPr>
              <a:t>왜?  </a:t>
            </a:r>
            <a:pPr indent="0" marL="0">
              <a:buNone/>
            </a:pPr>
            <a:r>
              <a:rPr lang="en-US" sz="1400" dirty="0">
                <a:solidFill>
                  <a:schemeClr val="tx1"/>
                </a:solidFill>
              </a:rPr>
              <a:t>나무결 = scratch와 같은 가는 선 패턴</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INT8 장단점</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수업에서 다룬 양자화 적용 · 직접 만든 벤치마크로 측정</a:t>
            </a:r>
            <a:endParaRPr lang="en-US" sz="1500" dirty="0"/>
          </a:p>
        </p:txBody>
      </p:sp>
      <p:graphicFrame>
        <p:nvGraphicFramePr>
          <p:cNvPr id="4" name="speed-chart" descr=""/>
          <p:cNvGraphicFramePr/>
          <p:nvPr/>
        </p:nvGraphicFramePr>
        <p:xfrm>
          <a:off x="548640" y="1554480"/>
          <a:ext cx="5760720" cy="310896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int8-table"/>
          <p:cNvGraphicFramePr>
            <a:graphicFrameLocks noGrp="1"/>
          </p:cNvGraphicFramePr>
          <p:nvPr>
            <p:extLst>
              <p:ext uri="{D42A27DB-BD31-4B8C-83A1-F6EECF244321}">
                <p14:modId xmlns:p14="http://schemas.microsoft.com/office/powerpoint/2010/main" val="1579011935"/>
              </p:ext>
            </p:extLst>
          </p:nvPr>
        </p:nvGraphicFramePr>
        <p:xfrm>
          <a:off x="6537960" y="1828800"/>
          <a:ext cx="5102352" cy="914400"/>
        </p:xfrm>
        <a:graphic>
          <a:graphicData uri="http://schemas.openxmlformats.org/drawingml/2006/table">
            <a:tbl>
              <a:tblPr/>
              <a:tblGrid>
                <a:gridCol w="1188720"/>
                <a:gridCol w="731520"/>
                <a:gridCol w="1051560"/>
                <a:gridCol w="1307592"/>
                <a:gridCol w="822960"/>
              </a:tblGrid>
              <a:tr h="566928">
                <a:tc>
                  <a:txBody>
                    <a:bodyPr/>
                    <a:lstStyle/>
                    <a:p>
                      <a:pPr algn="l" indent="0" marL="0">
                        <a:buNone/>
                      </a:pPr>
                      <a:r>
                        <a:rPr lang="en-US" sz="1300" b="1" dirty="0">
                          <a:solidFill>
                            <a:schemeClr val="tx2"/>
                          </a:solidFill>
                          <a:latin typeface="Malgun Gothic" pitchFamily="34" charset="0"/>
                          <a:ea typeface="Malgun Gothic" pitchFamily="34" charset="-122"/>
                          <a:cs typeface="Malgun Gothic" pitchFamily="34" charset="-120"/>
                        </a:rPr>
                        <a:t>모델</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300" b="1" dirty="0">
                          <a:solidFill>
                            <a:schemeClr val="tx2"/>
                          </a:solidFill>
                          <a:latin typeface="Malgun Gothic" pitchFamily="34" charset="0"/>
                          <a:ea typeface="Malgun Gothic" pitchFamily="34" charset="-122"/>
                          <a:cs typeface="Malgun Gothic" pitchFamily="34" charset="-120"/>
                        </a:rPr>
                        <a:t>속도</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300" b="1" dirty="0">
                          <a:solidFill>
                            <a:schemeClr val="tx2"/>
                          </a:solidFill>
                          <a:latin typeface="Malgun Gothic" pitchFamily="34" charset="0"/>
                          <a:ea typeface="Malgun Gothic" pitchFamily="34" charset="-122"/>
                          <a:cs typeface="Malgun Gothic" pitchFamily="34" charset="-120"/>
                        </a:rPr>
                        <a:t>크기 MB</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300" b="1" dirty="0">
                          <a:solidFill>
                            <a:schemeClr val="tx2"/>
                          </a:solidFill>
                          <a:latin typeface="Malgun Gothic" pitchFamily="34" charset="0"/>
                          <a:ea typeface="Malgun Gothic" pitchFamily="34" charset="-122"/>
                          <a:cs typeface="Malgun Gothic" pitchFamily="34" charset="-120"/>
                        </a:rPr>
                        <a:t>mAP@50</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300" b="1" dirty="0">
                          <a:solidFill>
                            <a:schemeClr val="tx2"/>
                          </a:solidFill>
                          <a:latin typeface="Malgun Gothic" pitchFamily="34" charset="0"/>
                          <a:ea typeface="Malgun Gothic" pitchFamily="34" charset="-122"/>
                          <a:cs typeface="Malgun Gothic" pitchFamily="34" charset="-120"/>
                        </a:rPr>
                        <a:t>놓친 셀</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566928">
                <a:tc>
                  <a:txBody>
                    <a:bodyPr/>
                    <a:lstStyle/>
                    <a:p>
                      <a:pPr algn="l" indent="0" marL="0">
                        <a:buNone/>
                      </a:pPr>
                      <a:r>
                        <a:rPr lang="en-US" sz="1300" b="1" dirty="0">
                          <a:solidFill>
                            <a:schemeClr val="accent4"/>
                          </a:solidFill>
                          <a:latin typeface="Malgun Gothic" pitchFamily="34" charset="0"/>
                          <a:ea typeface="Malgun Gothic" pitchFamily="34" charset="-122"/>
                          <a:cs typeface="Malgun Gothic" pitchFamily="34" charset="-120"/>
                        </a:rPr>
                        <a:t>ATSS</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b="1" dirty="0">
                          <a:solidFill>
                            <a:schemeClr val="accent1"/>
                          </a:solidFill>
                          <a:latin typeface="Malgun Gothic" pitchFamily="34" charset="0"/>
                          <a:ea typeface="Malgun Gothic" pitchFamily="34" charset="-122"/>
                          <a:cs typeface="Malgun Gothic" pitchFamily="34" charset="-120"/>
                        </a:rPr>
                        <a:t>2.2×</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5.7 → 3.9</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0.929 → 0.929</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accent2"/>
                          </a:solidFill>
                          <a:latin typeface="Malgun Gothic" pitchFamily="34" charset="0"/>
                          <a:ea typeface="Malgun Gothic" pitchFamily="34" charset="-122"/>
                          <a:cs typeface="Malgun Gothic" pitchFamily="34" charset="-120"/>
                        </a:rPr>
                        <a:t>0 → 1</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l" indent="0" marL="0">
                        <a:buNone/>
                      </a:pPr>
                      <a:r>
                        <a:rPr lang="en-US" sz="1300" b="1" dirty="0">
                          <a:solidFill>
                            <a:schemeClr val="accent5"/>
                          </a:solidFill>
                          <a:latin typeface="Malgun Gothic" pitchFamily="34" charset="0"/>
                          <a:ea typeface="Malgun Gothic" pitchFamily="34" charset="-122"/>
                          <a:cs typeface="Malgun Gothic" pitchFamily="34" charset="-120"/>
                        </a:rPr>
                        <a:t>YOLOX-S</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b="1" dirty="0">
                          <a:solidFill>
                            <a:schemeClr val="accent1"/>
                          </a:solidFill>
                          <a:latin typeface="Malgun Gothic" pitchFamily="34" charset="0"/>
                          <a:ea typeface="Malgun Gothic" pitchFamily="34" charset="-122"/>
                          <a:cs typeface="Malgun Gothic" pitchFamily="34" charset="-120"/>
                        </a:rPr>
                        <a:t>2.0×</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18.4 → 9.8</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0.892 → 0.902</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accent2"/>
                          </a:solidFill>
                          <a:latin typeface="Malgun Gothic" pitchFamily="34" charset="0"/>
                          <a:ea typeface="Malgun Gothic" pitchFamily="34" charset="-122"/>
                          <a:cs typeface="Malgun Gothic" pitchFamily="34" charset="-120"/>
                        </a:rPr>
                        <a:t>6 → 8</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l" indent="0" marL="0">
                        <a:buNone/>
                      </a:pPr>
                      <a:r>
                        <a:rPr lang="en-US" sz="1300" b="1" dirty="0">
                          <a:solidFill>
                            <a:schemeClr val="accent6"/>
                          </a:solidFill>
                          <a:latin typeface="Malgun Gothic" pitchFamily="34" charset="0"/>
                          <a:ea typeface="Malgun Gothic" pitchFamily="34" charset="-122"/>
                          <a:cs typeface="Malgun Gothic" pitchFamily="34" charset="-120"/>
                        </a:rPr>
                        <a:t>YOLOX-Tiny</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b="1" dirty="0">
                          <a:solidFill>
                            <a:schemeClr val="accent1"/>
                          </a:solidFill>
                          <a:latin typeface="Malgun Gothic" pitchFamily="34" charset="0"/>
                          <a:ea typeface="Malgun Gothic" pitchFamily="34" charset="-122"/>
                          <a:cs typeface="Malgun Gothic" pitchFamily="34" charset="-120"/>
                        </a:rPr>
                        <a:t>4.0×</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10.6 → 5.8</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0.832 → 0.829</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1 → 0</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6" name="int8-note"/>
          <p:cNvSpPr txBox="1"/>
          <p:nvPr/>
        </p:nvSpPr>
        <p:spPr>
          <a:xfrm>
            <a:off x="6537960" y="4160520"/>
            <a:ext cx="5102352" cy="274320"/>
          </a:xfrm>
          <a:prstGeom prst="rect">
            <a:avLst/>
          </a:prstGeom>
          <a:noFill/>
          <a:ln/>
        </p:spPr>
        <p:txBody>
          <a:bodyPr wrap="square" lIns="0" tIns="0" rIns="0" bIns="0" rtlCol="0" anchor="t"/>
          <a:lstStyle/>
          <a:p>
            <a:pPr indent="0" marL="0">
              <a:buNone/>
            </a:pPr>
            <a:r>
              <a:rPr lang="en-US" sz="1100" dirty="0">
                <a:solidFill>
                  <a:schemeClr val="tx2"/>
                </a:solidFill>
              </a:rPr>
              <a:t>값: FP16 → INT8 · 놓친 셀 = 결함 98장 중 검토 기준 0.30 미만</a:t>
            </a:r>
            <a:endParaRPr lang="en-US" sz="1100" dirty="0"/>
          </a:p>
        </p:txBody>
      </p:sp>
      <p:sp>
        <p:nvSpPr>
          <p:cNvPr id="7" name="why-7"/>
          <p:cNvSpPr txBox="1"/>
          <p:nvPr/>
        </p:nvSpPr>
        <p:spPr>
          <a:xfrm>
            <a:off x="6537960" y="4407408"/>
            <a:ext cx="5102352" cy="292608"/>
          </a:xfrm>
          <a:prstGeom prst="rect">
            <a:avLst/>
          </a:prstGeom>
          <a:noFill/>
          <a:ln/>
        </p:spPr>
        <p:txBody>
          <a:bodyPr wrap="square" lIns="0" tIns="0" rIns="0" bIns="0" rtlCol="0" anchor="t"/>
          <a:lstStyle/>
          <a:p>
            <a:pPr indent="0" marL="0">
              <a:buNone/>
            </a:pPr>
            <a:r>
              <a:rPr lang="en-US" sz="1300" b="1" dirty="0">
                <a:solidFill>
                  <a:schemeClr val="accent1"/>
                </a:solidFill>
              </a:rPr>
              <a:t>왜?  </a:t>
            </a:r>
            <a:pPr indent="0" marL="0">
              <a:buNone/>
            </a:pPr>
            <a:r>
              <a:rPr lang="en-US" sz="1300" dirty="0">
                <a:solidFill>
                  <a:schemeClr val="tx1"/>
                </a:solidFill>
              </a:rPr>
              <a:t>int8 연산·데이터 절반 → 빠름 · 점수 소폭 ↓ → 놓침</a:t>
            </a:r>
            <a:endParaRPr lang="en-US" sz="1300" dirty="0"/>
          </a:p>
        </p:txBody>
      </p:sp>
      <p:sp>
        <p:nvSpPr>
          <p:cNvPr id="8" name="method-card"/>
          <p:cNvSpPr/>
          <p:nvPr/>
        </p:nvSpPr>
        <p:spPr>
          <a:xfrm>
            <a:off x="548640" y="4800600"/>
            <a:ext cx="11094415" cy="502920"/>
          </a:xfrm>
          <a:prstGeom prst="roundRect">
            <a:avLst>
              <a:gd name="adj" fmla="val 14545"/>
            </a:avLst>
          </a:prstGeom>
          <a:solidFill>
            <a:srgbClr val="23272F"/>
          </a:solidFill>
          <a:ln/>
        </p:spPr>
      </p:sp>
      <p:sp>
        <p:nvSpPr>
          <p:cNvPr id="9" name="method"/>
          <p:cNvSpPr txBox="1"/>
          <p:nvPr/>
        </p:nvSpPr>
        <p:spPr>
          <a:xfrm>
            <a:off x="822960" y="4800600"/>
            <a:ext cx="10545775" cy="502920"/>
          </a:xfrm>
          <a:prstGeom prst="rect">
            <a:avLst/>
          </a:prstGeom>
          <a:noFill/>
          <a:ln/>
        </p:spPr>
        <p:txBody>
          <a:bodyPr wrap="square" lIns="0" tIns="0" rIns="0" bIns="0" rtlCol="0" anchor="ctr"/>
          <a:lstStyle/>
          <a:p>
            <a:pPr indent="0" marL="0">
              <a:buNone/>
            </a:pPr>
            <a:r>
              <a:rPr lang="en-US" sz="1300" b="1" dirty="0">
                <a:solidFill>
                  <a:schemeClr val="accent1"/>
                </a:solidFill>
              </a:rPr>
              <a:t>측정 방법  </a:t>
            </a:r>
            <a:pPr indent="0" marL="0">
              <a:buNone/>
            </a:pPr>
            <a:r>
              <a:rPr lang="en-US" sz="1300" dirty="0">
                <a:solidFill>
                  <a:schemeClr val="tx1"/>
                </a:solidFill>
              </a:rPr>
              <a:t>1차 테스트 131장 · 사진 1장씩 · Intel Core Ultra 7 265K CPU · 전처리·후처리 포함 · 워밍업 10회 제외</a:t>
            </a:r>
            <a:endParaRPr lang="en-US" sz="1300" dirty="0"/>
          </a:p>
        </p:txBody>
      </p:sp>
      <p:sp>
        <p:nvSpPr>
          <p:cNvPr id="10" name="pro-card"/>
          <p:cNvSpPr/>
          <p:nvPr/>
        </p:nvSpPr>
        <p:spPr>
          <a:xfrm>
            <a:off x="548640" y="5486400"/>
            <a:ext cx="5440680" cy="731520"/>
          </a:xfrm>
          <a:prstGeom prst="roundRect">
            <a:avLst>
              <a:gd name="adj" fmla="val 10000"/>
            </a:avLst>
          </a:prstGeom>
          <a:solidFill>
            <a:schemeClr val="bg2"/>
          </a:solidFill>
          <a:ln/>
        </p:spPr>
      </p:sp>
      <p:sp>
        <p:nvSpPr>
          <p:cNvPr id="11" name="pro"/>
          <p:cNvSpPr txBox="1"/>
          <p:nvPr/>
        </p:nvSpPr>
        <p:spPr>
          <a:xfrm>
            <a:off x="822960" y="5486400"/>
            <a:ext cx="5029200" cy="731520"/>
          </a:xfrm>
          <a:prstGeom prst="rect">
            <a:avLst/>
          </a:prstGeom>
          <a:noFill/>
          <a:ln/>
        </p:spPr>
        <p:txBody>
          <a:bodyPr wrap="square" lIns="0" tIns="0" rIns="0" bIns="0" rtlCol="0" anchor="ctr"/>
          <a:lstStyle/>
          <a:p>
            <a:pPr indent="0" marL="0">
              <a:buNone/>
            </a:pPr>
            <a:r>
              <a:rPr lang="en-US" sz="1500" b="1" dirty="0">
                <a:solidFill>
                  <a:schemeClr val="accent6"/>
                </a:solidFill>
              </a:rPr>
              <a:t>장점  </a:t>
            </a:r>
            <a:pPr indent="0" marL="0">
              <a:buNone/>
            </a:pPr>
            <a:r>
              <a:rPr lang="en-US" sz="1500" dirty="0">
                <a:solidFill>
                  <a:schemeClr val="tx1"/>
                </a:solidFill>
              </a:rPr>
              <a:t>2–4배 빠름 · 크기 절반 · mAP 유지</a:t>
            </a:r>
            <a:endParaRPr lang="en-US" sz="1500" dirty="0"/>
          </a:p>
        </p:txBody>
      </p:sp>
      <p:sp>
        <p:nvSpPr>
          <p:cNvPr id="12" name="con-card"/>
          <p:cNvSpPr/>
          <p:nvPr/>
        </p:nvSpPr>
        <p:spPr>
          <a:xfrm>
            <a:off x="6199632" y="5486400"/>
            <a:ext cx="5440680" cy="731520"/>
          </a:xfrm>
          <a:prstGeom prst="roundRect">
            <a:avLst>
              <a:gd name="adj" fmla="val 10000"/>
            </a:avLst>
          </a:prstGeom>
          <a:solidFill>
            <a:schemeClr val="bg2"/>
          </a:solidFill>
          <a:ln/>
        </p:spPr>
      </p:sp>
      <p:sp>
        <p:nvSpPr>
          <p:cNvPr id="13" name="con"/>
          <p:cNvSpPr txBox="1"/>
          <p:nvPr/>
        </p:nvSpPr>
        <p:spPr>
          <a:xfrm>
            <a:off x="6473952" y="5486400"/>
            <a:ext cx="5029200" cy="731520"/>
          </a:xfrm>
          <a:prstGeom prst="rect">
            <a:avLst/>
          </a:prstGeom>
          <a:noFill/>
          <a:ln/>
        </p:spPr>
        <p:txBody>
          <a:bodyPr wrap="square" lIns="0" tIns="0" rIns="0" bIns="0" rtlCol="0" anchor="ctr"/>
          <a:lstStyle/>
          <a:p>
            <a:pPr indent="0" marL="0">
              <a:buNone/>
            </a:pPr>
            <a:r>
              <a:rPr lang="en-US" sz="1500" b="1" dirty="0">
                <a:solidFill>
                  <a:schemeClr val="accent2"/>
                </a:solidFill>
              </a:rPr>
              <a:t>단점  </a:t>
            </a:r>
            <a:pPr indent="0" marL="0">
              <a:buNone/>
            </a:pPr>
            <a:r>
              <a:rPr lang="en-US" sz="1500" dirty="0">
                <a:solidFill>
                  <a:schemeClr val="tx1"/>
                </a:solidFill>
              </a:rPr>
              <a:t>신뢰도 ↓ → 놓침 ↑ · 기준값 재설정 필요</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2차 데이터셋</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학습 미사용 · 같은 업로더의 v2 세트 45장 (결함 30 · 정상 15)</a:t>
            </a:r>
            <a:endParaRPr lang="en-US" sz="1500" dirty="0"/>
          </a:p>
        </p:txBody>
      </p:sp>
      <p:sp>
        <p:nvSpPr>
          <p:cNvPr id="4" name="holdout-card"/>
          <p:cNvSpPr/>
          <p:nvPr/>
        </p:nvSpPr>
        <p:spPr>
          <a:xfrm>
            <a:off x="548640" y="1645920"/>
            <a:ext cx="6035040" cy="2514600"/>
          </a:xfrm>
          <a:prstGeom prst="roundRect">
            <a:avLst>
              <a:gd name="adj" fmla="val 2909"/>
            </a:avLst>
          </a:prstGeom>
          <a:solidFill>
            <a:schemeClr val="bg2"/>
          </a:solidFill>
          <a:ln/>
        </p:spPr>
      </p:sp>
      <p:sp>
        <p:nvSpPr>
          <p:cNvPr id="5" name="ho-h"/>
          <p:cNvSpPr txBox="1"/>
          <p:nvPr/>
        </p:nvSpPr>
        <p:spPr>
          <a:xfrm>
            <a:off x="822960" y="1755648"/>
            <a:ext cx="5486400" cy="320040"/>
          </a:xfrm>
          <a:prstGeom prst="rect">
            <a:avLst/>
          </a:prstGeom>
          <a:noFill/>
          <a:ln/>
        </p:spPr>
        <p:txBody>
          <a:bodyPr wrap="square" lIns="0" tIns="0" rIns="0" bIns="0" rtlCol="0" anchor="t"/>
          <a:lstStyle/>
          <a:p>
            <a:pPr indent="0" marL="0">
              <a:buNone/>
            </a:pPr>
            <a:r>
              <a:rPr lang="en-US" sz="1600" b="1" dirty="0">
                <a:solidFill>
                  <a:schemeClr val="tx1"/>
                </a:solidFill>
              </a:rPr>
              <a:t>결함 셀 검출률 (검토 또는 불합격)</a:t>
            </a:r>
            <a:endParaRPr lang="en-US" sz="1600" dirty="0"/>
          </a:p>
        </p:txBody>
      </p:sp>
      <p:sp>
        <p:nvSpPr>
          <p:cNvPr id="6" name="ho-c1"/>
          <p:cNvSpPr txBox="1"/>
          <p:nvPr/>
        </p:nvSpPr>
        <p:spPr>
          <a:xfrm>
            <a:off x="2926080" y="2103120"/>
            <a:ext cx="1463040" cy="274320"/>
          </a:xfrm>
          <a:prstGeom prst="rect">
            <a:avLst/>
          </a:prstGeom>
          <a:noFill/>
          <a:ln/>
        </p:spPr>
        <p:txBody>
          <a:bodyPr wrap="square" lIns="0" tIns="0" rIns="0" bIns="0" rtlCol="0" anchor="t"/>
          <a:lstStyle/>
          <a:p>
            <a:pPr algn="r" indent="0" marL="0">
              <a:buNone/>
            </a:pPr>
            <a:r>
              <a:rPr lang="en-US" sz="1200" dirty="0">
                <a:solidFill>
                  <a:schemeClr val="tx2"/>
                </a:solidFill>
              </a:rPr>
              <a:t>1차 테스트</a:t>
            </a:r>
            <a:endParaRPr lang="en-US" sz="1200" dirty="0"/>
          </a:p>
        </p:txBody>
      </p:sp>
      <p:sp>
        <p:nvSpPr>
          <p:cNvPr id="7" name="ho-c2"/>
          <p:cNvSpPr txBox="1"/>
          <p:nvPr/>
        </p:nvSpPr>
        <p:spPr>
          <a:xfrm>
            <a:off x="4754880" y="2103120"/>
            <a:ext cx="1463040" cy="274320"/>
          </a:xfrm>
          <a:prstGeom prst="rect">
            <a:avLst/>
          </a:prstGeom>
          <a:noFill/>
          <a:ln/>
        </p:spPr>
        <p:txBody>
          <a:bodyPr wrap="square" lIns="0" tIns="0" rIns="0" bIns="0" rtlCol="0" anchor="t"/>
          <a:lstStyle/>
          <a:p>
            <a:pPr algn="r" indent="0" marL="0">
              <a:buNone/>
            </a:pPr>
            <a:r>
              <a:rPr lang="en-US" sz="1200" dirty="0">
                <a:solidFill>
                  <a:schemeClr val="tx2"/>
                </a:solidFill>
              </a:rPr>
              <a:t>2차 세트</a:t>
            </a:r>
            <a:endParaRPr lang="en-US" sz="1200" dirty="0"/>
          </a:p>
        </p:txBody>
      </p:sp>
      <p:sp>
        <p:nvSpPr>
          <p:cNvPr id="8" name="ho-dot-0"/>
          <p:cNvSpPr/>
          <p:nvPr/>
        </p:nvSpPr>
        <p:spPr>
          <a:xfrm>
            <a:off x="822960" y="2596896"/>
            <a:ext cx="146304" cy="146304"/>
          </a:xfrm>
          <a:prstGeom prst="ellipse">
            <a:avLst/>
          </a:prstGeom>
          <a:solidFill>
            <a:schemeClr val="accent4"/>
          </a:solidFill>
          <a:ln/>
        </p:spPr>
      </p:sp>
      <p:sp>
        <p:nvSpPr>
          <p:cNvPr id="9" name="ho-n-0"/>
          <p:cNvSpPr txBox="1"/>
          <p:nvPr/>
        </p:nvSpPr>
        <p:spPr>
          <a:xfrm>
            <a:off x="1060704" y="2423160"/>
            <a:ext cx="1828800" cy="502920"/>
          </a:xfrm>
          <a:prstGeom prst="rect">
            <a:avLst/>
          </a:prstGeom>
          <a:noFill/>
          <a:ln/>
        </p:spPr>
        <p:txBody>
          <a:bodyPr wrap="square" lIns="0" tIns="0" rIns="0" bIns="0" rtlCol="0" anchor="ctr"/>
          <a:lstStyle/>
          <a:p>
            <a:pPr indent="0" marL="0">
              <a:buNone/>
            </a:pPr>
            <a:r>
              <a:rPr lang="en-US" sz="1600" b="1" dirty="0">
                <a:solidFill>
                  <a:schemeClr val="tx1"/>
                </a:solidFill>
              </a:rPr>
              <a:t>ATSS</a:t>
            </a:r>
            <a:endParaRPr lang="en-US" sz="1600" dirty="0"/>
          </a:p>
        </p:txBody>
      </p:sp>
      <p:sp>
        <p:nvSpPr>
          <p:cNvPr id="10" name="ho-a-0"/>
          <p:cNvSpPr txBox="1"/>
          <p:nvPr/>
        </p:nvSpPr>
        <p:spPr>
          <a:xfrm>
            <a:off x="2926080" y="2423160"/>
            <a:ext cx="1463040" cy="502920"/>
          </a:xfrm>
          <a:prstGeom prst="rect">
            <a:avLst/>
          </a:prstGeom>
          <a:noFill/>
          <a:ln/>
        </p:spPr>
        <p:txBody>
          <a:bodyPr wrap="square" lIns="0" tIns="0" rIns="0" bIns="0" rtlCol="0" anchor="ctr"/>
          <a:lstStyle/>
          <a:p>
            <a:pPr algn="r" indent="0" marL="0">
              <a:buNone/>
            </a:pPr>
            <a:r>
              <a:rPr lang="en-US" sz="2600" b="1" dirty="0">
                <a:solidFill>
                  <a:schemeClr val="tx2"/>
                </a:solidFill>
              </a:rPr>
              <a:t>100%</a:t>
            </a:r>
            <a:endParaRPr lang="en-US" sz="2600" dirty="0"/>
          </a:p>
        </p:txBody>
      </p:sp>
      <p:sp>
        <p:nvSpPr>
          <p:cNvPr id="11" name="ho-b-0"/>
          <p:cNvSpPr txBox="1"/>
          <p:nvPr/>
        </p:nvSpPr>
        <p:spPr>
          <a:xfrm>
            <a:off x="4754880" y="2423160"/>
            <a:ext cx="1463040" cy="502920"/>
          </a:xfrm>
          <a:prstGeom prst="rect">
            <a:avLst/>
          </a:prstGeom>
          <a:noFill/>
          <a:ln/>
        </p:spPr>
        <p:txBody>
          <a:bodyPr wrap="square" lIns="0" tIns="0" rIns="0" bIns="0" rtlCol="0" anchor="ctr"/>
          <a:lstStyle/>
          <a:p>
            <a:pPr algn="r" indent="0" marL="0">
              <a:buNone/>
            </a:pPr>
            <a:r>
              <a:rPr lang="en-US" sz="2600" b="1" dirty="0">
                <a:solidFill>
                  <a:schemeClr val="accent2"/>
                </a:solidFill>
              </a:rPr>
              <a:t>47%</a:t>
            </a:r>
            <a:endParaRPr lang="en-US" sz="2600" dirty="0"/>
          </a:p>
        </p:txBody>
      </p:sp>
      <p:sp>
        <p:nvSpPr>
          <p:cNvPr id="12" name="ho-dot-1"/>
          <p:cNvSpPr/>
          <p:nvPr/>
        </p:nvSpPr>
        <p:spPr>
          <a:xfrm>
            <a:off x="822960" y="3145536"/>
            <a:ext cx="146304" cy="146304"/>
          </a:xfrm>
          <a:prstGeom prst="ellipse">
            <a:avLst/>
          </a:prstGeom>
          <a:solidFill>
            <a:schemeClr val="accent5"/>
          </a:solidFill>
          <a:ln/>
        </p:spPr>
      </p:sp>
      <p:sp>
        <p:nvSpPr>
          <p:cNvPr id="13" name="ho-n-1"/>
          <p:cNvSpPr txBox="1"/>
          <p:nvPr/>
        </p:nvSpPr>
        <p:spPr>
          <a:xfrm>
            <a:off x="1060704" y="2971800"/>
            <a:ext cx="1828800" cy="502920"/>
          </a:xfrm>
          <a:prstGeom prst="rect">
            <a:avLst/>
          </a:prstGeom>
          <a:noFill/>
          <a:ln/>
        </p:spPr>
        <p:txBody>
          <a:bodyPr wrap="square" lIns="0" tIns="0" rIns="0" bIns="0" rtlCol="0" anchor="ctr"/>
          <a:lstStyle/>
          <a:p>
            <a:pPr indent="0" marL="0">
              <a:buNone/>
            </a:pPr>
            <a:r>
              <a:rPr lang="en-US" sz="1600" b="1" dirty="0">
                <a:solidFill>
                  <a:schemeClr val="tx1"/>
                </a:solidFill>
              </a:rPr>
              <a:t>YOLOX-S</a:t>
            </a:r>
            <a:endParaRPr lang="en-US" sz="1600" dirty="0"/>
          </a:p>
        </p:txBody>
      </p:sp>
      <p:sp>
        <p:nvSpPr>
          <p:cNvPr id="14" name="ho-a-1"/>
          <p:cNvSpPr txBox="1"/>
          <p:nvPr/>
        </p:nvSpPr>
        <p:spPr>
          <a:xfrm>
            <a:off x="2926080" y="2971800"/>
            <a:ext cx="1463040" cy="502920"/>
          </a:xfrm>
          <a:prstGeom prst="rect">
            <a:avLst/>
          </a:prstGeom>
          <a:noFill/>
          <a:ln/>
        </p:spPr>
        <p:txBody>
          <a:bodyPr wrap="square" lIns="0" tIns="0" rIns="0" bIns="0" rtlCol="0" anchor="ctr"/>
          <a:lstStyle/>
          <a:p>
            <a:pPr algn="r" indent="0" marL="0">
              <a:buNone/>
            </a:pPr>
            <a:r>
              <a:rPr lang="en-US" sz="2600" b="1" dirty="0">
                <a:solidFill>
                  <a:schemeClr val="tx2"/>
                </a:solidFill>
              </a:rPr>
              <a:t>94%</a:t>
            </a:r>
            <a:endParaRPr lang="en-US" sz="2600" dirty="0"/>
          </a:p>
        </p:txBody>
      </p:sp>
      <p:sp>
        <p:nvSpPr>
          <p:cNvPr id="15" name="ho-b-1"/>
          <p:cNvSpPr txBox="1"/>
          <p:nvPr/>
        </p:nvSpPr>
        <p:spPr>
          <a:xfrm>
            <a:off x="4754880" y="2971800"/>
            <a:ext cx="1463040" cy="502920"/>
          </a:xfrm>
          <a:prstGeom prst="rect">
            <a:avLst/>
          </a:prstGeom>
          <a:noFill/>
          <a:ln/>
        </p:spPr>
        <p:txBody>
          <a:bodyPr wrap="square" lIns="0" tIns="0" rIns="0" bIns="0" rtlCol="0" anchor="ctr"/>
          <a:lstStyle/>
          <a:p>
            <a:pPr algn="r" indent="0" marL="0">
              <a:buNone/>
            </a:pPr>
            <a:r>
              <a:rPr lang="en-US" sz="2600" b="1" dirty="0">
                <a:solidFill>
                  <a:schemeClr val="accent2"/>
                </a:solidFill>
              </a:rPr>
              <a:t>3%</a:t>
            </a:r>
            <a:endParaRPr lang="en-US" sz="2600" dirty="0"/>
          </a:p>
        </p:txBody>
      </p:sp>
      <p:sp>
        <p:nvSpPr>
          <p:cNvPr id="16" name="ho-dot-2"/>
          <p:cNvSpPr/>
          <p:nvPr/>
        </p:nvSpPr>
        <p:spPr>
          <a:xfrm>
            <a:off x="822960" y="3694176"/>
            <a:ext cx="146304" cy="146304"/>
          </a:xfrm>
          <a:prstGeom prst="ellipse">
            <a:avLst/>
          </a:prstGeom>
          <a:solidFill>
            <a:schemeClr val="accent6"/>
          </a:solidFill>
          <a:ln/>
        </p:spPr>
      </p:sp>
      <p:sp>
        <p:nvSpPr>
          <p:cNvPr id="17" name="ho-n-2"/>
          <p:cNvSpPr txBox="1"/>
          <p:nvPr/>
        </p:nvSpPr>
        <p:spPr>
          <a:xfrm>
            <a:off x="1060704" y="3520440"/>
            <a:ext cx="1828800" cy="502920"/>
          </a:xfrm>
          <a:prstGeom prst="rect">
            <a:avLst/>
          </a:prstGeom>
          <a:noFill/>
          <a:ln/>
        </p:spPr>
        <p:txBody>
          <a:bodyPr wrap="square" lIns="0" tIns="0" rIns="0" bIns="0" rtlCol="0" anchor="ctr"/>
          <a:lstStyle/>
          <a:p>
            <a:pPr indent="0" marL="0">
              <a:buNone/>
            </a:pPr>
            <a:r>
              <a:rPr lang="en-US" sz="1600" b="1" dirty="0">
                <a:solidFill>
                  <a:schemeClr val="tx1"/>
                </a:solidFill>
              </a:rPr>
              <a:t>YOLOX-Tiny</a:t>
            </a:r>
            <a:endParaRPr lang="en-US" sz="1600" dirty="0"/>
          </a:p>
        </p:txBody>
      </p:sp>
      <p:sp>
        <p:nvSpPr>
          <p:cNvPr id="18" name="ho-a-2"/>
          <p:cNvSpPr txBox="1"/>
          <p:nvPr/>
        </p:nvSpPr>
        <p:spPr>
          <a:xfrm>
            <a:off x="2926080" y="3520440"/>
            <a:ext cx="1463040" cy="502920"/>
          </a:xfrm>
          <a:prstGeom prst="rect">
            <a:avLst/>
          </a:prstGeom>
          <a:noFill/>
          <a:ln/>
        </p:spPr>
        <p:txBody>
          <a:bodyPr wrap="square" lIns="0" tIns="0" rIns="0" bIns="0" rtlCol="0" anchor="ctr"/>
          <a:lstStyle/>
          <a:p>
            <a:pPr algn="r" indent="0" marL="0">
              <a:buNone/>
            </a:pPr>
            <a:r>
              <a:rPr lang="en-US" sz="2600" b="1" dirty="0">
                <a:solidFill>
                  <a:schemeClr val="tx2"/>
                </a:solidFill>
              </a:rPr>
              <a:t>99%</a:t>
            </a:r>
            <a:endParaRPr lang="en-US" sz="2600" dirty="0"/>
          </a:p>
        </p:txBody>
      </p:sp>
      <p:sp>
        <p:nvSpPr>
          <p:cNvPr id="19" name="ho-b-2"/>
          <p:cNvSpPr txBox="1"/>
          <p:nvPr/>
        </p:nvSpPr>
        <p:spPr>
          <a:xfrm>
            <a:off x="4754880" y="3520440"/>
            <a:ext cx="1463040" cy="502920"/>
          </a:xfrm>
          <a:prstGeom prst="rect">
            <a:avLst/>
          </a:prstGeom>
          <a:noFill/>
          <a:ln/>
        </p:spPr>
        <p:txBody>
          <a:bodyPr wrap="square" lIns="0" tIns="0" rIns="0" bIns="0" rtlCol="0" anchor="ctr"/>
          <a:lstStyle/>
          <a:p>
            <a:pPr algn="r" indent="0" marL="0">
              <a:buNone/>
            </a:pPr>
            <a:r>
              <a:rPr lang="en-US" sz="2600" b="1" dirty="0">
                <a:solidFill>
                  <a:schemeClr val="accent2"/>
                </a:solidFill>
              </a:rPr>
              <a:t>47%</a:t>
            </a:r>
            <a:endParaRPr lang="en-US" sz="2600" dirty="0"/>
          </a:p>
        </p:txBody>
      </p:sp>
      <p:pic>
        <p:nvPicPr>
          <p:cNvPr id="20" name="miss-img" descr="C:\Users\user\_se4nchoi\batteryvision\docs\submission\build\img\holdout_miss.jpg">    </p:cNvPr>
          <p:cNvPicPr>
            <a:picLocks noChangeAspect="1"/>
          </p:cNvPicPr>
          <p:nvPr/>
        </p:nvPicPr>
        <p:blipFill>
          <a:blip r:embed="rId1"/>
          <a:stretch>
            <a:fillRect/>
          </a:stretch>
        </p:blipFill>
        <p:spPr>
          <a:xfrm>
            <a:off x="548640" y="4343400"/>
            <a:ext cx="1874520" cy="1874520"/>
          </a:xfrm>
          <a:prstGeom prst="rect">
            <a:avLst/>
          </a:prstGeom>
        </p:spPr>
      </p:pic>
      <p:sp>
        <p:nvSpPr>
          <p:cNvPr id="21" name="miss-cap"/>
          <p:cNvSpPr txBox="1"/>
          <p:nvPr/>
        </p:nvSpPr>
        <p:spPr>
          <a:xfrm>
            <a:off x="2651760" y="4389120"/>
            <a:ext cx="3931920" cy="1783080"/>
          </a:xfrm>
          <a:prstGeom prst="rect">
            <a:avLst/>
          </a:prstGeom>
          <a:noFill/>
          <a:ln/>
        </p:spPr>
        <p:txBody>
          <a:bodyPr wrap="square" lIns="0" tIns="0" rIns="0" bIns="0" rtlCol="0" anchor="ctr"/>
          <a:lstStyle/>
          <a:p>
            <a:pPr indent="0" marL="0">
              <a:spcAft>
                <a:spcPts val="600"/>
              </a:spcAft>
              <a:buNone/>
            </a:pPr>
            <a:r>
              <a:rPr lang="en-US" sz="1400" b="1" dirty="0">
                <a:solidFill>
                  <a:schemeClr val="tx1"/>
                </a:solidFill>
              </a:rPr>
              <a:t>놓친 예: scratch · ATSS 최고 점수 0.21</a:t>
            </a:r>
            <a:endParaRPr lang="en-US" sz="1400" dirty="0"/>
          </a:p>
          <a:p>
            <a:pPr marL="342900" indent="-342900">
              <a:spcAft>
                <a:spcPts val="600"/>
              </a:spcAft>
              <a:buSzPct val="100000"/>
              <a:buChar char="•"/>
            </a:pPr>
            <a:r>
              <a:rPr lang="en-US" sz="1400" b="1" dirty="0">
                <a:solidFill>
                  <a:schemeClr val="accent2"/>
                </a:solidFill>
              </a:rPr>
              <a:t>2차 crack 30×26px로 작아짐 → 검출 1/15</a:t>
            </a:r>
            <a:endParaRPr lang="en-US" sz="1400" dirty="0"/>
          </a:p>
          <a:p>
            <a:pPr marL="342900" indent="-342900">
              <a:spcAft>
                <a:spcPts val="600"/>
              </a:spcAft>
              <a:buSzPct val="100000"/>
              <a:buChar char="•"/>
            </a:pPr>
            <a:r>
              <a:rPr lang="en-US" sz="1400" dirty="0">
                <a:solidFill>
                  <a:schemeClr val="tx1"/>
                </a:solidFill>
              </a:rPr>
              <a:t>클래스 착각 0건 · 정상 불합격 0건</a:t>
            </a:r>
            <a:endParaRPr lang="en-US" sz="1400" dirty="0"/>
          </a:p>
          <a:p>
            <a:pPr marL="342900" indent="-342900">
              <a:spcAft>
                <a:spcPts val="600"/>
              </a:spcAft>
              <a:buSzPct val="100000"/>
              <a:buChar char="•"/>
            </a:pPr>
            <a:r>
              <a:rPr lang="en-US" sz="1400" dirty="0">
                <a:solidFill>
                  <a:schemeClr val="accent3"/>
                </a:solidFill>
              </a:rPr>
              <a:t>1차: 학습 사진 포함 가능 + 같은 촬영 환경</a:t>
            </a:r>
            <a:endParaRPr lang="en-US" sz="1400" dirty="0"/>
          </a:p>
        </p:txBody>
      </p:sp>
      <p:sp>
        <p:nvSpPr>
          <p:cNvPr id="22" name="th-h"/>
          <p:cNvSpPr txBox="1"/>
          <p:nvPr/>
        </p:nvSpPr>
        <p:spPr>
          <a:xfrm>
            <a:off x="6812280" y="1645920"/>
            <a:ext cx="4846320" cy="320040"/>
          </a:xfrm>
          <a:prstGeom prst="rect">
            <a:avLst/>
          </a:prstGeom>
          <a:noFill/>
          <a:ln/>
        </p:spPr>
        <p:txBody>
          <a:bodyPr wrap="square" lIns="0" tIns="0" rIns="0" bIns="0" rtlCol="0" anchor="t"/>
          <a:lstStyle/>
          <a:p>
            <a:pPr indent="0" marL="0">
              <a:buNone/>
            </a:pPr>
            <a:r>
              <a:rPr lang="en-US" sz="1600" b="1" dirty="0">
                <a:solidFill>
                  <a:schemeClr val="tx1"/>
                </a:solidFill>
              </a:rPr>
              <a:t>기준값을 바꾸면? (2차 세트)</a:t>
            </a:r>
            <a:endParaRPr lang="en-US" sz="1600" dirty="0"/>
          </a:p>
        </p:txBody>
      </p:sp>
      <p:graphicFrame>
        <p:nvGraphicFramePr>
          <p:cNvPr id="9" name="th-table"/>
          <p:cNvGraphicFramePr>
            <a:graphicFrameLocks noGrp="1"/>
          </p:cNvGraphicFramePr>
          <p:nvPr>
            <p:extLst>
              <p:ext uri="{D42A27DB-BD31-4B8C-83A1-F6EECF244321}">
                <p14:modId xmlns:p14="http://schemas.microsoft.com/office/powerpoint/2010/main" val="1579011935"/>
              </p:ext>
            </p:extLst>
          </p:nvPr>
        </p:nvGraphicFramePr>
        <p:xfrm>
          <a:off x="6812280" y="2057400"/>
          <a:ext cx="4828032" cy="914400"/>
        </p:xfrm>
        <a:graphic>
          <a:graphicData uri="http://schemas.openxmlformats.org/drawingml/2006/table">
            <a:tbl>
              <a:tblPr/>
              <a:tblGrid>
                <a:gridCol w="1280160"/>
                <a:gridCol w="1188720"/>
                <a:gridCol w="1133856"/>
                <a:gridCol w="1225296"/>
              </a:tblGrid>
              <a:tr h="374904">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모델</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기준값</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결함 검출</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정상 오검출</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374904">
                <a:tc>
                  <a:txBody>
                    <a:bodyPr/>
                    <a:lstStyle/>
                    <a:p>
                      <a:pPr algn="l" indent="0" marL="0">
                        <a:buNone/>
                      </a:pPr>
                      <a:r>
                        <a:rPr lang="en-US" sz="1400" b="1" dirty="0">
                          <a:solidFill>
                            <a:schemeClr val="accent4"/>
                          </a:solidFill>
                          <a:latin typeface="Malgun Gothic" pitchFamily="34" charset="0"/>
                          <a:ea typeface="Malgun Gothic" pitchFamily="34" charset="-122"/>
                          <a:cs typeface="Malgun Gothic" pitchFamily="34" charset="-120"/>
                        </a:rPr>
                        <a:t>ATSS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0.30 (현재)</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47%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13%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374904">
                <a:tc>
                  <a:txBody>
                    <a:bodyPr/>
                    <a:lstStyle/>
                    <a:p>
                      <a:pPr algn="l" indent="0" marL="0">
                        <a:buNone/>
                      </a:pPr>
                      <a:r>
                        <a:rPr lang="en-US" sz="1400" b="1" dirty="0">
                          <a:solidFill>
                            <a:schemeClr val="accent4"/>
                          </a:solidFill>
                          <a:latin typeface="Malgun Gothic" pitchFamily="34" charset="0"/>
                          <a:ea typeface="Malgun Gothic" pitchFamily="34" charset="-122"/>
                          <a:cs typeface="Malgun Gothic" pitchFamily="34" charset="-120"/>
                        </a:rPr>
                        <a:t>ATSS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0.20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87%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73%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374904">
                <a:tc>
                  <a:txBody>
                    <a:bodyPr/>
                    <a:lstStyle/>
                    <a:p>
                      <a:pPr algn="l" indent="0" marL="0">
                        <a:buNone/>
                      </a:pPr>
                      <a:r>
                        <a:rPr lang="en-US" sz="1400" b="1" dirty="0">
                          <a:solidFill>
                            <a:schemeClr val="accent4"/>
                          </a:solidFill>
                          <a:latin typeface="Malgun Gothic" pitchFamily="34" charset="0"/>
                          <a:ea typeface="Malgun Gothic" pitchFamily="34" charset="-122"/>
                          <a:cs typeface="Malgun Gothic" pitchFamily="34" charset="-120"/>
                        </a:rPr>
                        <a:t>ATSS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0.15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97%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87%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374904">
                <a:tc>
                  <a:txBody>
                    <a:bodyPr/>
                    <a:lstStyle/>
                    <a:p>
                      <a:pPr algn="l" indent="0" marL="0">
                        <a:buNone/>
                      </a:pPr>
                      <a:r>
                        <a:rPr lang="en-US" sz="1400" b="1" dirty="0">
                          <a:solidFill>
                            <a:schemeClr val="accent5"/>
                          </a:solidFill>
                          <a:latin typeface="Malgun Gothic" pitchFamily="34" charset="0"/>
                          <a:ea typeface="Malgun Gothic" pitchFamily="34" charset="-122"/>
                          <a:cs typeface="Malgun Gothic" pitchFamily="34" charset="-120"/>
                        </a:rPr>
                        <a:t>YOLOX-S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0.30 (현재)</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374904">
                <a:tc>
                  <a:txBody>
                    <a:bodyPr/>
                    <a:lstStyle/>
                    <a:p>
                      <a:pPr algn="l" indent="0" marL="0">
                        <a:buNone/>
                      </a:pPr>
                      <a:r>
                        <a:rPr lang="en-US" sz="1400" b="1" dirty="0">
                          <a:solidFill>
                            <a:schemeClr val="accent5"/>
                          </a:solidFill>
                          <a:latin typeface="Malgun Gothic" pitchFamily="34" charset="0"/>
                          <a:ea typeface="Malgun Gothic" pitchFamily="34" charset="-122"/>
                          <a:cs typeface="Malgun Gothic" pitchFamily="34" charset="-120"/>
                        </a:rPr>
                        <a:t>YOLOX-S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0.05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tx1"/>
                          </a:solidFill>
                          <a:latin typeface="Malgun Gothic" pitchFamily="34" charset="0"/>
                          <a:ea typeface="Malgun Gothic" pitchFamily="34" charset="-122"/>
                          <a:cs typeface="Malgun Gothic" pitchFamily="34" charset="-120"/>
                        </a:rPr>
                        <a:t>57%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24" name="th-cap"/>
          <p:cNvSpPr txBox="1"/>
          <p:nvPr/>
        </p:nvSpPr>
        <p:spPr>
          <a:xfrm>
            <a:off x="6812280" y="4434840"/>
            <a:ext cx="4828032" cy="1783080"/>
          </a:xfrm>
          <a:prstGeom prst="rect">
            <a:avLst/>
          </a:prstGeom>
          <a:noFill/>
          <a:ln/>
        </p:spPr>
        <p:txBody>
          <a:bodyPr wrap="square" lIns="0" tIns="0" rIns="0" bIns="0" rtlCol="0" anchor="t"/>
          <a:lstStyle/>
          <a:p>
            <a:pPr indent="0" marL="0">
              <a:spcAft>
                <a:spcPts val="600"/>
              </a:spcAft>
              <a:buNone/>
            </a:pPr>
            <a:r>
              <a:rPr lang="en-US" sz="1400" b="1" dirty="0">
                <a:solidFill>
                  <a:schemeClr val="accent4"/>
                </a:solidFill>
              </a:rPr>
              <a:t>ATSS  </a:t>
            </a:r>
            <a:pPr indent="0" marL="0">
              <a:spcAft>
                <a:spcPts val="600"/>
              </a:spcAft>
              <a:buNone/>
            </a:pPr>
            <a:r>
              <a:rPr lang="en-US" sz="1400" dirty="0">
                <a:solidFill>
                  <a:schemeClr val="tx1"/>
                </a:solidFill>
              </a:rPr>
              <a:t>검출 ↑ = 정상 오검출 ↑ (점수 분포 겹침)</a:t>
            </a:r>
            <a:endParaRPr lang="en-US" sz="1400" dirty="0"/>
          </a:p>
          <a:p>
            <a:pPr indent="0" marL="0">
              <a:spcAft>
                <a:spcPts val="600"/>
              </a:spcAft>
              <a:buNone/>
            </a:pPr>
            <a:r>
              <a:rPr lang="en-US" sz="1400" b="1" dirty="0">
                <a:solidFill>
                  <a:schemeClr val="accent5"/>
                </a:solidFill>
              </a:rPr>
              <a:t>YOLOX-S  </a:t>
            </a:r>
            <a:pPr indent="0" marL="0">
              <a:spcAft>
                <a:spcPts val="600"/>
              </a:spcAft>
              <a:buNone/>
            </a:pPr>
            <a:r>
              <a:rPr lang="en-US" sz="1400" dirty="0">
                <a:solidFill>
                  <a:schemeClr val="tx1"/>
                </a:solidFill>
              </a:rPr>
              <a:t>순위는 정확 (mAP@50 0.93), 점수만 낮음</a:t>
            </a:r>
            <a:endParaRPr lang="en-US" sz="1400" dirty="0"/>
          </a:p>
          <a:p>
            <a:pPr indent="0" marL="0">
              <a:spcAft>
                <a:spcPts val="600"/>
              </a:spcAft>
              <a:buNone/>
            </a:pPr>
            <a:r>
              <a:rPr lang="en-US" sz="1400" b="1" dirty="0">
                <a:solidFill>
                  <a:schemeClr val="accent1"/>
                </a:solidFill>
              </a:rPr>
              <a:t>왜?  </a:t>
            </a:r>
            <a:pPr indent="0" marL="0">
              <a:spcAft>
                <a:spcPts val="600"/>
              </a:spcAft>
              <a:buNone/>
            </a:pPr>
            <a:r>
              <a:rPr lang="en-US" sz="1400" dirty="0">
                <a:solidFill>
                  <a:schemeClr val="tx2"/>
                </a:solidFill>
              </a:rPr>
              <a:t>YOLOX 점수 = 두 확률의 곱 (objectness × class)</a:t>
            </a:r>
            <a:endParaRPr lang="en-US" sz="1400" dirty="0"/>
          </a:p>
          <a:p>
            <a:pPr indent="0" marL="0">
              <a:spcAft>
                <a:spcPts val="600"/>
              </a:spcAft>
              <a:buNone/>
            </a:pPr>
            <a:r>
              <a:rPr lang="en-US" sz="1400" b="1" dirty="0">
                <a:solidFill>
                  <a:schemeClr val="accent1"/>
                </a:solidFill>
              </a:rPr>
              <a:t>→ 기준값은 모델별로 · 그래도 부족 → 재학습</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Logs and Lesson Learned</a:t>
            </a:r>
            <a:endParaRPr lang="en-US" sz="3200" dirty="0"/>
          </a:p>
        </p:txBody>
      </p:sp>
      <p:graphicFrame>
        <p:nvGraphicFramePr>
          <p:cNvPr id="10" name="log-table"/>
          <p:cNvGraphicFramePr>
            <a:graphicFrameLocks noGrp="1"/>
          </p:cNvGraphicFramePr>
          <p:nvPr>
            <p:extLst>
              <p:ext uri="{D42A27DB-BD31-4B8C-83A1-F6EECF244321}">
                <p14:modId xmlns:p14="http://schemas.microsoft.com/office/powerpoint/2010/main" val="1579011935"/>
              </p:ext>
            </p:extLst>
          </p:nvPr>
        </p:nvGraphicFramePr>
        <p:xfrm>
          <a:off x="548640" y="1234440"/>
          <a:ext cx="6903720" cy="914400"/>
        </p:xfrm>
        <a:graphic>
          <a:graphicData uri="http://schemas.openxmlformats.org/drawingml/2006/table">
            <a:tbl>
              <a:tblPr/>
              <a:tblGrid>
                <a:gridCol w="548640"/>
                <a:gridCol w="2240280"/>
                <a:gridCol w="1691640"/>
                <a:gridCol w="2423160"/>
              </a:tblGrid>
              <a:tr h="566928">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단계</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조건</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결과</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배운 것</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566928">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1</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1"/>
                          </a:solidFill>
                          <a:latin typeface="Malgun Gothic" pitchFamily="34" charset="0"/>
                          <a:ea typeface="Malgun Gothic" pitchFamily="34" charset="-122"/>
                          <a:cs typeface="Malgun Gothic" pitchFamily="34" charset="-120"/>
                        </a:rPr>
                        <a:t>ATSS · 1차 테스트 153장</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93.3%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2"/>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2</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1"/>
                          </a:solidFill>
                          <a:latin typeface="Malgun Gothic" pitchFamily="34" charset="0"/>
                          <a:ea typeface="Malgun Gothic" pitchFamily="34" charset="-122"/>
                          <a:cs typeface="Malgun Gothic" pitchFamily="34" charset="-120"/>
                        </a:rPr>
                        <a:t>복사본 22장 제거 · 131장</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92.9%</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2"/>
                          </a:solidFill>
                          <a:latin typeface="Malgun Gothic" pitchFamily="34" charset="0"/>
                          <a:ea typeface="Malgun Gothic" pitchFamily="34" charset="-122"/>
                          <a:cs typeface="Malgun Gothic" pitchFamily="34" charset="-120"/>
                        </a:rPr>
                        <a:t>중복 영향 0.4%p</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1"/>
                          </a:solidFill>
                          <a:latin typeface="Malgun Gothic" pitchFamily="34" charset="0"/>
                          <a:ea typeface="Malgun Gothic" pitchFamily="34" charset="-122"/>
                          <a:cs typeface="Malgun Gothic" pitchFamily="34" charset="-120"/>
                        </a:rPr>
                        <a:t>업로드 내역 확인</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테스트 포함</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2"/>
                          </a:solidFill>
                          <a:latin typeface="Malgun Gothic" pitchFamily="34" charset="0"/>
                          <a:ea typeface="Malgun Gothic" pitchFamily="34" charset="-122"/>
                          <a:cs typeface="Malgun Gothic" pitchFamily="34" charset="-120"/>
                        </a:rPr>
                        <a:t>1차 = 비교용</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4</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1"/>
                          </a:solidFill>
                          <a:latin typeface="Malgun Gothic" pitchFamily="34" charset="0"/>
                          <a:ea typeface="Malgun Gothic" pitchFamily="34" charset="-122"/>
                          <a:cs typeface="Malgun Gothic" pitchFamily="34" charset="-120"/>
                        </a:rPr>
                        <a:t>YOLOX-S · Tiny 비교</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89.2 · 83.2%</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2"/>
                          </a:solidFill>
                          <a:latin typeface="Malgun Gothic" pitchFamily="34" charset="0"/>
                          <a:ea typeface="Malgun Gothic" pitchFamily="34" charset="-122"/>
                          <a:cs typeface="Malgun Gothic" pitchFamily="34" charset="-120"/>
                        </a:rPr>
                        <a:t>ATSS 최고</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1"/>
                          </a:solidFill>
                          <a:latin typeface="Malgun Gothic" pitchFamily="34" charset="0"/>
                          <a:ea typeface="Malgun Gothic" pitchFamily="34" charset="-122"/>
                          <a:cs typeface="Malgun Gothic" pitchFamily="34" charset="-120"/>
                        </a:rPr>
                        <a:t>INT8 양자화</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2–4배 빠름</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2"/>
                          </a:solidFill>
                          <a:latin typeface="Malgun Gothic" pitchFamily="34" charset="0"/>
                          <a:ea typeface="Malgun Gothic" pitchFamily="34" charset="-122"/>
                          <a:cs typeface="Malgun Gothic" pitchFamily="34" charset="-120"/>
                        </a:rPr>
                        <a:t>놓침 소폭 증가</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6</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1"/>
                          </a:solidFill>
                          <a:latin typeface="Malgun Gothic" pitchFamily="34" charset="0"/>
                          <a:ea typeface="Malgun Gothic" pitchFamily="34" charset="-122"/>
                          <a:cs typeface="Malgun Gothic" pitchFamily="34" charset="-120"/>
                        </a:rPr>
                        <a:t>2차 세트 45장</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검출 47%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2"/>
                          </a:solidFill>
                          <a:latin typeface="Malgun Gothic" pitchFamily="34" charset="0"/>
                          <a:ea typeface="Malgun Gothic" pitchFamily="34" charset="-122"/>
                          <a:cs typeface="Malgun Gothic" pitchFamily="34" charset="-120"/>
                        </a:rPr>
                        <a:t>환경 변화에 취약</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1"/>
                          </a:solidFill>
                          <a:latin typeface="Malgun Gothic" pitchFamily="34" charset="0"/>
                          <a:ea typeface="Malgun Gothic" pitchFamily="34" charset="-122"/>
                          <a:cs typeface="Malgun Gothic" pitchFamily="34" charset="-120"/>
                        </a:rPr>
                        <a:t>2차 · 기준값 0.15로 낮춤</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정상 87% 오검출</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2"/>
                          </a:solidFill>
                          <a:latin typeface="Malgun Gothic" pitchFamily="34" charset="0"/>
                          <a:ea typeface="Malgun Gothic" pitchFamily="34" charset="-122"/>
                          <a:cs typeface="Malgun Gothic" pitchFamily="34" charset="-120"/>
                        </a:rPr>
                        <a:t>재학습 필요</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4" name="log-note"/>
          <p:cNvSpPr txBox="1"/>
          <p:nvPr/>
        </p:nvSpPr>
        <p:spPr>
          <a:xfrm>
            <a:off x="548640" y="5897880"/>
            <a:ext cx="6903720" cy="274320"/>
          </a:xfrm>
          <a:prstGeom prst="rect">
            <a:avLst/>
          </a:prstGeom>
          <a:noFill/>
          <a:ln/>
        </p:spPr>
        <p:txBody>
          <a:bodyPr wrap="square" lIns="0" tIns="0" rIns="0" bIns="0" rtlCol="0" anchor="t"/>
          <a:lstStyle/>
          <a:p>
            <a:pPr indent="0" marL="0">
              <a:buNone/>
            </a:pPr>
            <a:r>
              <a:rPr lang="en-US" sz="1000" dirty="0">
                <a:solidFill>
                  <a:schemeClr val="tx2"/>
                </a:solidFill>
              </a:rPr>
              <a:t>결과: mAP@50 (1–2, 4) · CPU 속도 (5) · 결함 셀 검출률, ATSS (6–7)</a:t>
            </a:r>
            <a:endParaRPr lang="en-US" sz="1000" dirty="0"/>
          </a:p>
        </p:txBody>
      </p:sp>
      <p:sp>
        <p:nvSpPr>
          <p:cNvPr id="5" name="lesson-0"/>
          <p:cNvSpPr/>
          <p:nvPr/>
        </p:nvSpPr>
        <p:spPr>
          <a:xfrm>
            <a:off x="7726680" y="1234440"/>
            <a:ext cx="3913632" cy="1051560"/>
          </a:xfrm>
          <a:prstGeom prst="roundRect">
            <a:avLst>
              <a:gd name="adj" fmla="val 6957"/>
            </a:avLst>
          </a:prstGeom>
          <a:solidFill>
            <a:schemeClr val="bg2"/>
          </a:solidFill>
          <a:ln/>
        </p:spPr>
      </p:sp>
      <p:sp>
        <p:nvSpPr>
          <p:cNvPr id="6" name="lesson-n-0"/>
          <p:cNvSpPr txBox="1"/>
          <p:nvPr/>
        </p:nvSpPr>
        <p:spPr>
          <a:xfrm>
            <a:off x="7955280" y="1389888"/>
            <a:ext cx="548640" cy="365760"/>
          </a:xfrm>
          <a:prstGeom prst="rect">
            <a:avLst/>
          </a:prstGeom>
          <a:noFill/>
          <a:ln/>
        </p:spPr>
        <p:txBody>
          <a:bodyPr wrap="square" lIns="0" tIns="0" rIns="0" bIns="0" rtlCol="0" anchor="t"/>
          <a:lstStyle/>
          <a:p>
            <a:pPr indent="0" marL="0">
              <a:buNone/>
            </a:pPr>
            <a:r>
              <a:rPr lang="en-US" sz="1800" b="1" dirty="0">
                <a:solidFill>
                  <a:schemeClr val="accent1"/>
                </a:solidFill>
              </a:rPr>
              <a:t>01</a:t>
            </a:r>
            <a:endParaRPr lang="en-US" sz="1800" dirty="0"/>
          </a:p>
        </p:txBody>
      </p:sp>
      <p:sp>
        <p:nvSpPr>
          <p:cNvPr id="7" name="lesson-h-0"/>
          <p:cNvSpPr txBox="1"/>
          <p:nvPr/>
        </p:nvSpPr>
        <p:spPr>
          <a:xfrm>
            <a:off x="8503920" y="1362456"/>
            <a:ext cx="3017520" cy="347472"/>
          </a:xfrm>
          <a:prstGeom prst="rect">
            <a:avLst/>
          </a:prstGeom>
          <a:noFill/>
          <a:ln/>
        </p:spPr>
        <p:txBody>
          <a:bodyPr wrap="square" lIns="0" tIns="0" rIns="0" bIns="0" rtlCol="0" anchor="t"/>
          <a:lstStyle/>
          <a:p>
            <a:pPr indent="0" marL="0">
              <a:buNone/>
            </a:pPr>
            <a:r>
              <a:rPr lang="en-US" sz="1500" b="1" dirty="0">
                <a:solidFill>
                  <a:schemeClr val="tx1"/>
                </a:solidFill>
              </a:rPr>
              <a:t>테스트셋은 먼저 분리</a:t>
            </a:r>
            <a:endParaRPr lang="en-US" sz="1500" dirty="0"/>
          </a:p>
        </p:txBody>
      </p:sp>
      <p:sp>
        <p:nvSpPr>
          <p:cNvPr id="8" name="lesson-d-0"/>
          <p:cNvSpPr txBox="1"/>
          <p:nvPr/>
        </p:nvSpPr>
        <p:spPr>
          <a:xfrm>
            <a:off x="8503920" y="1755648"/>
            <a:ext cx="3017520" cy="365760"/>
          </a:xfrm>
          <a:prstGeom prst="rect">
            <a:avLst/>
          </a:prstGeom>
          <a:noFill/>
          <a:ln/>
        </p:spPr>
        <p:txBody>
          <a:bodyPr wrap="square" lIns="0" tIns="0" rIns="0" bIns="0" rtlCol="0" anchor="t"/>
          <a:lstStyle/>
          <a:p>
            <a:pPr indent="0" marL="0">
              <a:buNone/>
            </a:pPr>
            <a:r>
              <a:rPr lang="en-US" sz="1200" dirty="0">
                <a:solidFill>
                  <a:schemeClr val="tx2"/>
                </a:solidFill>
              </a:rPr>
              <a:t>업로드 전 분리 · 중복 확인</a:t>
            </a:r>
            <a:endParaRPr lang="en-US" sz="1200" dirty="0"/>
          </a:p>
        </p:txBody>
      </p:sp>
      <p:sp>
        <p:nvSpPr>
          <p:cNvPr id="9" name="lesson-1"/>
          <p:cNvSpPr/>
          <p:nvPr/>
        </p:nvSpPr>
        <p:spPr>
          <a:xfrm>
            <a:off x="7726680" y="2423160"/>
            <a:ext cx="3913632" cy="1051560"/>
          </a:xfrm>
          <a:prstGeom prst="roundRect">
            <a:avLst>
              <a:gd name="adj" fmla="val 6957"/>
            </a:avLst>
          </a:prstGeom>
          <a:solidFill>
            <a:schemeClr val="bg2"/>
          </a:solidFill>
          <a:ln/>
        </p:spPr>
      </p:sp>
      <p:sp>
        <p:nvSpPr>
          <p:cNvPr id="10" name="lesson-n-1"/>
          <p:cNvSpPr txBox="1"/>
          <p:nvPr/>
        </p:nvSpPr>
        <p:spPr>
          <a:xfrm>
            <a:off x="7955280" y="2578608"/>
            <a:ext cx="548640" cy="365760"/>
          </a:xfrm>
          <a:prstGeom prst="rect">
            <a:avLst/>
          </a:prstGeom>
          <a:noFill/>
          <a:ln/>
        </p:spPr>
        <p:txBody>
          <a:bodyPr wrap="square" lIns="0" tIns="0" rIns="0" bIns="0" rtlCol="0" anchor="t"/>
          <a:lstStyle/>
          <a:p>
            <a:pPr indent="0" marL="0">
              <a:buNone/>
            </a:pPr>
            <a:r>
              <a:rPr lang="en-US" sz="1800" b="1" dirty="0">
                <a:solidFill>
                  <a:schemeClr val="accent1"/>
                </a:solidFill>
              </a:rPr>
              <a:t>02</a:t>
            </a:r>
            <a:endParaRPr lang="en-US" sz="1800" dirty="0"/>
          </a:p>
        </p:txBody>
      </p:sp>
      <p:sp>
        <p:nvSpPr>
          <p:cNvPr id="11" name="lesson-h-1"/>
          <p:cNvSpPr txBox="1"/>
          <p:nvPr/>
        </p:nvSpPr>
        <p:spPr>
          <a:xfrm>
            <a:off x="8503920" y="2551176"/>
            <a:ext cx="3017520" cy="347472"/>
          </a:xfrm>
          <a:prstGeom prst="rect">
            <a:avLst/>
          </a:prstGeom>
          <a:noFill/>
          <a:ln/>
        </p:spPr>
        <p:txBody>
          <a:bodyPr wrap="square" lIns="0" tIns="0" rIns="0" bIns="0" rtlCol="0" anchor="t"/>
          <a:lstStyle/>
          <a:p>
            <a:pPr indent="0" marL="0">
              <a:buNone/>
            </a:pPr>
            <a:r>
              <a:rPr lang="en-US" sz="1500" b="1" dirty="0">
                <a:solidFill>
                  <a:schemeClr val="tx1"/>
                </a:solidFill>
              </a:rPr>
              <a:t>큰 모델 ≠ 좋은 모델</a:t>
            </a:r>
            <a:endParaRPr lang="en-US" sz="1500" dirty="0"/>
          </a:p>
        </p:txBody>
      </p:sp>
      <p:sp>
        <p:nvSpPr>
          <p:cNvPr id="12" name="lesson-d-1"/>
          <p:cNvSpPr txBox="1"/>
          <p:nvPr/>
        </p:nvSpPr>
        <p:spPr>
          <a:xfrm>
            <a:off x="8503920" y="2944368"/>
            <a:ext cx="3017520" cy="365760"/>
          </a:xfrm>
          <a:prstGeom prst="rect">
            <a:avLst/>
          </a:prstGeom>
          <a:noFill/>
          <a:ln/>
        </p:spPr>
        <p:txBody>
          <a:bodyPr wrap="square" lIns="0" tIns="0" rIns="0" bIns="0" rtlCol="0" anchor="t"/>
          <a:lstStyle/>
          <a:p>
            <a:pPr indent="0" marL="0">
              <a:buNone/>
            </a:pPr>
            <a:r>
              <a:rPr lang="en-US" sz="1200" dirty="0">
                <a:solidFill>
                  <a:schemeClr val="tx2"/>
                </a:solidFill>
              </a:rPr>
              <a:t>3.9M ATSS가 9M YOLOX-S보다 정확</a:t>
            </a:r>
            <a:endParaRPr lang="en-US" sz="1200" dirty="0"/>
          </a:p>
        </p:txBody>
      </p:sp>
      <p:sp>
        <p:nvSpPr>
          <p:cNvPr id="13" name="lesson-2"/>
          <p:cNvSpPr/>
          <p:nvPr/>
        </p:nvSpPr>
        <p:spPr>
          <a:xfrm>
            <a:off x="7726680" y="3611880"/>
            <a:ext cx="3913632" cy="1051560"/>
          </a:xfrm>
          <a:prstGeom prst="roundRect">
            <a:avLst>
              <a:gd name="adj" fmla="val 6957"/>
            </a:avLst>
          </a:prstGeom>
          <a:solidFill>
            <a:schemeClr val="bg2"/>
          </a:solidFill>
          <a:ln/>
        </p:spPr>
      </p:sp>
      <p:sp>
        <p:nvSpPr>
          <p:cNvPr id="14" name="lesson-n-2"/>
          <p:cNvSpPr txBox="1"/>
          <p:nvPr/>
        </p:nvSpPr>
        <p:spPr>
          <a:xfrm>
            <a:off x="7955280" y="3767328"/>
            <a:ext cx="548640" cy="365760"/>
          </a:xfrm>
          <a:prstGeom prst="rect">
            <a:avLst/>
          </a:prstGeom>
          <a:noFill/>
          <a:ln/>
        </p:spPr>
        <p:txBody>
          <a:bodyPr wrap="square" lIns="0" tIns="0" rIns="0" bIns="0" rtlCol="0" anchor="t"/>
          <a:lstStyle/>
          <a:p>
            <a:pPr indent="0" marL="0">
              <a:buNone/>
            </a:pPr>
            <a:r>
              <a:rPr lang="en-US" sz="1800" b="1" dirty="0">
                <a:solidFill>
                  <a:schemeClr val="accent1"/>
                </a:solidFill>
              </a:rPr>
              <a:t>03</a:t>
            </a:r>
            <a:endParaRPr lang="en-US" sz="1800" dirty="0"/>
          </a:p>
        </p:txBody>
      </p:sp>
      <p:sp>
        <p:nvSpPr>
          <p:cNvPr id="15" name="lesson-h-2"/>
          <p:cNvSpPr txBox="1"/>
          <p:nvPr/>
        </p:nvSpPr>
        <p:spPr>
          <a:xfrm>
            <a:off x="8503920" y="3739896"/>
            <a:ext cx="3017520" cy="347472"/>
          </a:xfrm>
          <a:prstGeom prst="rect">
            <a:avLst/>
          </a:prstGeom>
          <a:noFill/>
          <a:ln/>
        </p:spPr>
        <p:txBody>
          <a:bodyPr wrap="square" lIns="0" tIns="0" rIns="0" bIns="0" rtlCol="0" anchor="t"/>
          <a:lstStyle/>
          <a:p>
            <a:pPr indent="0" marL="0">
              <a:buNone/>
            </a:pPr>
            <a:r>
              <a:rPr lang="en-US" sz="1500" b="1" dirty="0">
                <a:solidFill>
                  <a:schemeClr val="tx1"/>
                </a:solidFill>
              </a:rPr>
              <a:t>최적화는 기준값과 함께</a:t>
            </a:r>
            <a:endParaRPr lang="en-US" sz="1500" dirty="0"/>
          </a:p>
        </p:txBody>
      </p:sp>
      <p:sp>
        <p:nvSpPr>
          <p:cNvPr id="16" name="lesson-d-2"/>
          <p:cNvSpPr txBox="1"/>
          <p:nvPr/>
        </p:nvSpPr>
        <p:spPr>
          <a:xfrm>
            <a:off x="8503920" y="4133088"/>
            <a:ext cx="3017520" cy="365760"/>
          </a:xfrm>
          <a:prstGeom prst="rect">
            <a:avLst/>
          </a:prstGeom>
          <a:noFill/>
          <a:ln/>
        </p:spPr>
        <p:txBody>
          <a:bodyPr wrap="square" lIns="0" tIns="0" rIns="0" bIns="0" rtlCol="0" anchor="t"/>
          <a:lstStyle/>
          <a:p>
            <a:pPr indent="0" marL="0">
              <a:buNone/>
            </a:pPr>
            <a:r>
              <a:rPr lang="en-US" sz="1200" dirty="0">
                <a:solidFill>
                  <a:schemeClr val="tx2"/>
                </a:solidFill>
              </a:rPr>
              <a:t>INT8 = 속도 ↑, 신뢰도 ↓</a:t>
            </a:r>
            <a:endParaRPr lang="en-US" sz="1200" dirty="0"/>
          </a:p>
        </p:txBody>
      </p:sp>
      <p:sp>
        <p:nvSpPr>
          <p:cNvPr id="17" name="lesson-3"/>
          <p:cNvSpPr/>
          <p:nvPr/>
        </p:nvSpPr>
        <p:spPr>
          <a:xfrm>
            <a:off x="7726680" y="4800600"/>
            <a:ext cx="3913632" cy="1051560"/>
          </a:xfrm>
          <a:prstGeom prst="roundRect">
            <a:avLst>
              <a:gd name="adj" fmla="val 6957"/>
            </a:avLst>
          </a:prstGeom>
          <a:solidFill>
            <a:schemeClr val="bg2"/>
          </a:solidFill>
          <a:ln/>
        </p:spPr>
      </p:sp>
      <p:sp>
        <p:nvSpPr>
          <p:cNvPr id="18" name="lesson-n-3"/>
          <p:cNvSpPr txBox="1"/>
          <p:nvPr/>
        </p:nvSpPr>
        <p:spPr>
          <a:xfrm>
            <a:off x="7955280" y="4956048"/>
            <a:ext cx="548640" cy="365760"/>
          </a:xfrm>
          <a:prstGeom prst="rect">
            <a:avLst/>
          </a:prstGeom>
          <a:noFill/>
          <a:ln/>
        </p:spPr>
        <p:txBody>
          <a:bodyPr wrap="square" lIns="0" tIns="0" rIns="0" bIns="0" rtlCol="0" anchor="t"/>
          <a:lstStyle/>
          <a:p>
            <a:pPr indent="0" marL="0">
              <a:buNone/>
            </a:pPr>
            <a:r>
              <a:rPr lang="en-US" sz="1800" b="1" dirty="0">
                <a:solidFill>
                  <a:schemeClr val="accent1"/>
                </a:solidFill>
              </a:rPr>
              <a:t>04</a:t>
            </a:r>
            <a:endParaRPr lang="en-US" sz="1800" dirty="0"/>
          </a:p>
        </p:txBody>
      </p:sp>
      <p:sp>
        <p:nvSpPr>
          <p:cNvPr id="19" name="lesson-h-3"/>
          <p:cNvSpPr txBox="1"/>
          <p:nvPr/>
        </p:nvSpPr>
        <p:spPr>
          <a:xfrm>
            <a:off x="8503920" y="4928616"/>
            <a:ext cx="3017520" cy="347472"/>
          </a:xfrm>
          <a:prstGeom prst="rect">
            <a:avLst/>
          </a:prstGeom>
          <a:noFill/>
          <a:ln/>
        </p:spPr>
        <p:txBody>
          <a:bodyPr wrap="square" lIns="0" tIns="0" rIns="0" bIns="0" rtlCol="0" anchor="t"/>
          <a:lstStyle/>
          <a:p>
            <a:pPr indent="0" marL="0">
              <a:buNone/>
            </a:pPr>
            <a:r>
              <a:rPr lang="en-US" sz="1500" b="1" dirty="0">
                <a:solidFill>
                  <a:schemeClr val="tx1"/>
                </a:solidFill>
              </a:rPr>
              <a:t>점수 ≠ 현장 성능</a:t>
            </a:r>
            <a:endParaRPr lang="en-US" sz="1500" dirty="0"/>
          </a:p>
        </p:txBody>
      </p:sp>
      <p:sp>
        <p:nvSpPr>
          <p:cNvPr id="20" name="lesson-d-3"/>
          <p:cNvSpPr txBox="1"/>
          <p:nvPr/>
        </p:nvSpPr>
        <p:spPr>
          <a:xfrm>
            <a:off x="8503920" y="5321808"/>
            <a:ext cx="3017520" cy="365760"/>
          </a:xfrm>
          <a:prstGeom prst="rect">
            <a:avLst/>
          </a:prstGeom>
          <a:noFill/>
          <a:ln/>
        </p:spPr>
        <p:txBody>
          <a:bodyPr wrap="square" lIns="0" tIns="0" rIns="0" bIns="0" rtlCol="0" anchor="t"/>
          <a:lstStyle/>
          <a:p>
            <a:pPr indent="0" marL="0">
              <a:buNone/>
            </a:pPr>
            <a:r>
              <a:rPr lang="en-US" sz="1200" dirty="0">
                <a:solidFill>
                  <a:schemeClr val="tx2"/>
                </a:solidFill>
              </a:rPr>
              <a:t>92.9% → 새 환경 47%</a:t>
            </a:r>
            <a:endParaRPr lang="en-US" sz="1200" dirty="0"/>
          </a:p>
        </p:txBody>
      </p:sp>
      <p:sp>
        <p:nvSpPr>
          <p:cNvPr id="22"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데모</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가상 검사 라인 · 실제 모델(ATSS)로 판정</a:t>
            </a:r>
            <a:endParaRPr lang="en-US" sz="1500" dirty="0"/>
          </a:p>
        </p:txBody>
      </p:sp>
      <p:pic>
        <p:nvPicPr>
          <p:cNvPr id="4" name="dashboard" descr="C:\Users\user\_se4nchoi\batteryvision\docs\submission\build\img\dashboard.jpg">    </p:cNvPr>
          <p:cNvPicPr>
            <a:picLocks noChangeAspect="1"/>
          </p:cNvPicPr>
          <p:nvPr/>
        </p:nvPicPr>
        <p:blipFill>
          <a:blip r:embed="rId1"/>
          <a:stretch>
            <a:fillRect/>
          </a:stretch>
        </p:blipFill>
        <p:spPr>
          <a:xfrm>
            <a:off x="548640" y="1600200"/>
            <a:ext cx="8321040" cy="4134326"/>
          </a:xfrm>
          <a:prstGeom prst="rect">
            <a:avLst/>
          </a:prstGeom>
        </p:spPr>
      </p:pic>
      <p:sp>
        <p:nvSpPr>
          <p:cNvPr id="5" name="demo-card"/>
          <p:cNvSpPr/>
          <p:nvPr/>
        </p:nvSpPr>
        <p:spPr>
          <a:xfrm>
            <a:off x="9052560" y="1600200"/>
            <a:ext cx="2587752" cy="4134326"/>
          </a:xfrm>
          <a:prstGeom prst="roundRect">
            <a:avLst>
              <a:gd name="adj" fmla="val 2827"/>
            </a:avLst>
          </a:prstGeom>
          <a:solidFill>
            <a:schemeClr val="bg2"/>
          </a:solidFill>
          <a:ln/>
        </p:spPr>
      </p:sp>
      <p:sp>
        <p:nvSpPr>
          <p:cNvPr id="6" name="demo-b"/>
          <p:cNvSpPr txBox="1"/>
          <p:nvPr/>
        </p:nvSpPr>
        <p:spPr>
          <a:xfrm>
            <a:off x="9281160" y="1828800"/>
            <a:ext cx="2240280" cy="365760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카메라 → 모델 → 판정</a:t>
            </a:r>
            <a:endParaRPr lang="en-US" sz="1400" dirty="0"/>
          </a:p>
          <a:p>
            <a:pPr marL="342900" indent="-342900">
              <a:spcAft>
                <a:spcPts val="1000"/>
              </a:spcAft>
              <a:buSzPct val="100000"/>
              <a:buChar char="•"/>
            </a:pPr>
            <a:r>
              <a:rPr lang="en-US" sz="1400" dirty="0">
                <a:solidFill>
                  <a:schemeClr val="tx1"/>
                </a:solidFill>
              </a:rPr>
              <a:t>heatmap · 해시 기록</a:t>
            </a:r>
            <a:endParaRPr lang="en-US" sz="1400" dirty="0"/>
          </a:p>
          <a:p>
            <a:pPr marL="342900" indent="-342900">
              <a:spcAft>
                <a:spcPts val="1000"/>
              </a:spcAft>
              <a:buSzPct val="100000"/>
              <a:buChar char="•"/>
            </a:pPr>
            <a:r>
              <a:rPr lang="en-US" sz="1400" dirty="0">
                <a:solidFill>
                  <a:schemeClr val="tx1"/>
                </a:solidFill>
              </a:rPr>
              <a:t>로트별 추적</a:t>
            </a:r>
            <a:endParaRPr lang="en-US" sz="1400" dirty="0"/>
          </a:p>
          <a:p>
            <a:pPr marL="342900" indent="-342900">
              <a:spcAft>
                <a:spcPts val="1000"/>
              </a:spcAft>
              <a:buSzPct val="100000"/>
              <a:buChar char="•"/>
            </a:pPr>
            <a:r>
              <a:rPr lang="en-US" sz="1400" dirty="0">
                <a:solidFill>
                  <a:schemeClr val="tx2"/>
                </a:solidFill>
              </a:rPr>
              <a:t>실제 장비 미연결</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BatteryVision Dark">
  <a:themeElements>
    <a:clrScheme name="BatteryVision Dark">
      <a:dk1>
        <a:srgbClr val="EEF1F5"/>
      </a:dk1>
      <a:lt1>
        <a:srgbClr val="16191E"/>
      </a:lt1>
      <a:dk2>
        <a:srgbClr val="9AA4B2"/>
      </a:dk2>
      <a:lt2>
        <a:srgbClr val="23272F"/>
      </a:lt2>
      <a:accent1>
        <a:srgbClr val="4FD1C5"/>
      </a:accent1>
      <a:accent2>
        <a:srgbClr val="E5534B"/>
      </a:accent2>
      <a:accent3>
        <a:srgbClr val="F2B33D"/>
      </a:accent3>
      <a:accent4>
        <a:srgbClr val="3B8BEB"/>
      </a:accent4>
      <a:accent5>
        <a:srgbClr val="EB6834"/>
      </a:accent5>
      <a:accent6>
        <a:srgbClr val="1BAF7A"/>
      </a:accent6>
      <a:hlink>
        <a:srgbClr val="4FD1C5"/>
      </a:hlink>
      <a:folHlink>
        <a:srgbClr val="9AA4B2"/>
      </a:folHlink>
    </a:clrScheme>
    <a:fontScheme name="BatteryVision Dark">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배터리 표면 식별 Vision AI</dc:title>
  <dc:subject>PptxGenJS Presentation</dc:subject>
  <dc:creator>PptxGenJS</dc:creator>
  <cp:lastModifiedBy>PptxGenJS</cp:lastModifiedBy>
  <cp:revision>1</cp:revision>
  <dcterms:created xsi:type="dcterms:W3CDTF">2026-10-21T02:34:05Z</dcterms:created>
  <dcterms:modified xsi:type="dcterms:W3CDTF">2026-10-21T02:34:05Z</dcterms:modified>
</cp:coreProperties>
</file>