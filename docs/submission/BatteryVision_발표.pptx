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de2eb51-ee1a-0a59-9971-5fe9a83b519f}">
          <p14:sldIdLst>
            <p14:sldId id="256"/>
            <p14:sldId id="257"/>
          </p14:sldIdLst>
        </p14:section>
        <p14:section name="실험" id="{b8de3005-0c15-3584-11a4-6e3697357e65}">
          <p14:sldIdLst>
            <p14:sldId id="258"/>
            <p14:sldId id="259"/>
            <p14:sldId id="260"/>
            <p14:sldId id="261"/>
          </p14:sldIdLst>
        </p14:section>
        <p14:section name="최적화" id="{126eb760-b783-7f4b-d3bf-fdc764f0ed74}">
          <p14:sldIdLst>
            <p14:sldId id="262"/>
          </p14:sldIdLst>
        </p14:section>
        <p14:section name="검증" id="{0919a729-0b52-4760-548c-32a4fbfd86ad}">
          <p14:sldIdLst>
            <p14:sldId id="263"/>
          </p14:sldIdLst>
        </p14:section>
        <p14:section name="정리" id="{e13845a6-9f4e-b63b-1147-a6d6b0cb9c5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클래스별 AP@50 (1차 테스트 131장)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</c:v>
                </c:pt>
              </c:strCache>
            </c:strRef>
          </c:tx>
          <c:spPr>
            <a:solidFill>
              <a:srgbClr val="E553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scratch</c:v>
                </c:pt>
              </c:strCache>
            </c:strRef>
          </c:tx>
          <c:spPr>
            <a:solidFill>
              <a:srgbClr val="F2B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0.858</c:v>
                </c:pt>
                <c:pt idx="1">
                  <c:v>0.784</c:v>
                </c:pt>
                <c:pt idx="2">
                  <c:v>0.664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배터리 셀 표면의 crack과 scratch를 찾는 Vision AI입니다. Intel Geti로 ATSS, YOLOX-S, YOLOX-Tiny 세 모델을 학습해 비교하고, INT8로 경량화했을 때 무엇이 달라지는지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crack은 세 모델 모두 AP 1.0이지만, scratch는 0.66에서 0.86입니다. 박스 크기는 둘 다 이미지의 0.4% 안팎으로 비슷합니다. 차이는 대비입니다. crack은 어둡고 뚜렷하고, scratch는 반사나 나무결과 비슷한 흐릿한 선입니다. 이후 나오는 오류도 대부분 scratch입니다.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라벨이 이미 달린 Roboflow 공개 데이터셋을 그대로 Geti에 가져왔습니다. 목적은 모델별 성능 차이와 INT8 경량화의 효과를 보는 것입니다. 모델은 ATSS, YOLOX-S, YOLOX-Tiny 세 가지를 각각 기본 FP16, heatmap을 출력하는 FP16 XAI, 그리고 INT8로 내보내 총 9개를 비교했습니다. 한계는 분명합니다. 사진이 전부 초록 매트, 회색, 나무 탁상 위에서 찍은 탁상 사진이고, 셀당 사진은 한 장, 촬영 세션도 반복됩니다.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결과는 mAP 93%로 좋아 보였습니다. 하지만 데이터를 다시 보니 문제가 있었습니다. Roboflow 데이터셋을 통째로 Geti에 올리면서 테스트 153장도 함께 들어갔고, Geti가 이를 다시 나눠 학습했습니다. 그래서 1차 테스트 사진 중 일부는 모델이 학습 때 본 사진일 수 있습니다. 게다가 22장은 학습 사진과 사실상 같은 사진이었습니다. 직접 만든 데이터셋이 아니라서 놓친 부분입니다. 그래서 1차 점수는 모델끼리 비교하는 데만 쓰고, 처음 보는 사진에서의 성능은 2차 세트로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모델을 기본 FP16으로 비교했습니다. 파라미터가 가장 적은 ATSS가 92.9%로 가장 정확했고, Geti 점수도 같은 순서입니다. 처음 보는 2차 세트에서도 ATSS가 YOLOX-S보다 훨씬 많이 잡았습니다. 다만 '작다'는 파라미터 기준이고, 연산량은 Tiny가 가장 적습니다. 그리고 1차 점수는 학습 사진이 섞였을 수 있어서, 모델끼리 비교하는 용도로만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말하면, crack과 scratch를 서로 헷갈린 경우는 한 번도 없고, 오류는 전부 놓친 scratch나 배경 오검출입니다. 특히 나무 탁상 배경에서 재현율이 33%로 가장 약합니다. heatmap은 YOLOX-S가 98%의 사진에서 결함을 짚지만 ATSS는 48%로, 정확도와 설명력은 별개였습니다.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수업에서 다룬 모델 최적화를 직접 써보고 싶어서, Geti에서 INT8 모델을 받아 직접 만든 벤치마크로 측정했습니다. 같은 131장을 한 장씩, 같은 CPU에서, 전처리와 후처리를 포함해 잰 값입니다. INT8은 2배에서 4배 빠르고 크기는 절반 정도이며, mAP는 그대로입니다. 대신 신뢰도 점수가 조금 낮아져 같은 기준에서는 놓치는 결함이 늘어납니다. INT8을 쓰려면 기준값을 다시 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업로더가 올린 다른 세트에서, 학습에 한 번도 쓰지 않은 45장으로 제 앱에서 다시 테스트했습니다. 1차 테스트에서 결함 셀을 거의 다 잡던 모델이 ATSS 47%, YOLOX-S 3%까지 떨어집니다. 결함을 착각한 게 아니라 점수가 낮아서 통과시킨 것이고, 정상 셀을 불합격시킨 경우는 없었습니다. 1차 테스트에는 학습 때 본 사진이 섞여 있었고 촬영 환경도 같았기 때문입니다. 그럼 기준값을 낮추면 될까요? 0.15까지 낮추면 결함은 97% 잡지만 정상 셀도 87%가 걸립니다. 두 점수 분포가 겹치기 때문에 기준값으로는 해결되지 않고, 새 환경의 사진으로 재학습해야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순서대로 정리했습니다. 점수가 가장 높았던 단계보다, 테스트셋이 학습 데이터에 섞인 걸 발견하고 2차 세트에서 점수가 떨어진 단계에서 더 많이 배웠습니다. 마지막으로 기준값을 낮춰 봤지만 정상 셀이 87% 걸려서, 새 환경에서는 기준값이 아니라 재학습이 필요하다는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대시보드에서 실제 모델이 가상 검사 라인을 돌리는 모습을 보여드리겠습니다. (라이브 데모로 전환)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BatteryVision · Intel Geti 실습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Intel Geti · OpenVINO 실습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배터리 표면 식별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Vision AI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ATSS · YOLOX-S · YOLOX-Tiny 모델 비교 및 INT8 경량화 분석</a:t>
            </a:r>
            <a:endParaRPr lang="en-US" sz="1600" dirty="0"/>
          </a:p>
        </p:txBody>
      </p:sp>
      <p:pic>
        <p:nvPicPr>
          <p:cNvPr id="5" name="cover-crack" descr="C:\Users\user\_se4nchoi\batteryvision\docs\submission\build\img\cover_c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77440"/>
            <a:ext cx="2103120" cy="2103120"/>
          </a:xfrm>
          <a:prstGeom prst="rect">
            <a:avLst/>
          </a:prstGeom>
        </p:spPr>
      </p:pic>
      <p:sp>
        <p:nvSpPr>
          <p:cNvPr id="6" name="cover-dot-crack"/>
          <p:cNvSpPr/>
          <p:nvPr/>
        </p:nvSpPr>
        <p:spPr>
          <a:xfrm>
            <a:off x="5074920" y="466344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over-label-crack"/>
          <p:cNvSpPr txBox="1"/>
          <p:nvPr/>
        </p:nvSpPr>
        <p:spPr>
          <a:xfrm>
            <a:off x="5312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</a:t>
            </a:r>
            <a:endParaRPr lang="en-US" sz="1400" dirty="0"/>
          </a:p>
        </p:txBody>
      </p:sp>
      <p:pic>
        <p:nvPicPr>
          <p:cNvPr id="8" name="cover-scratch" descr="C:\Users\user\_se4nchoi\batteryvision\docs\submission\build\img\cover_scra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77440"/>
            <a:ext cx="2103120" cy="2103120"/>
          </a:xfrm>
          <a:prstGeom prst="rect">
            <a:avLst/>
          </a:prstGeom>
        </p:spPr>
      </p:pic>
      <p:sp>
        <p:nvSpPr>
          <p:cNvPr id="9" name="cover-dot-scratch"/>
          <p:cNvSpPr/>
          <p:nvPr/>
        </p:nvSpPr>
        <p:spPr>
          <a:xfrm>
            <a:off x="7360920" y="46634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cover-label-scratch"/>
          <p:cNvSpPr txBox="1"/>
          <p:nvPr/>
        </p:nvSpPr>
        <p:spPr>
          <a:xfrm>
            <a:off x="7598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</a:t>
            </a:r>
            <a:endParaRPr lang="en-US" sz="1400" dirty="0"/>
          </a:p>
        </p:txBody>
      </p:sp>
      <p:pic>
        <p:nvPicPr>
          <p:cNvPr id="11" name="cover-정상" descr="C:\Users\user\_se4nchoi\batteryvision\docs\submission\build\img\cover_g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377440"/>
            <a:ext cx="2103120" cy="2103120"/>
          </a:xfrm>
          <a:prstGeom prst="rect">
            <a:avLst/>
          </a:prstGeom>
        </p:spPr>
      </p:pic>
      <p:sp>
        <p:nvSpPr>
          <p:cNvPr id="12" name="cover-dot-정상"/>
          <p:cNvSpPr/>
          <p:nvPr/>
        </p:nvSpPr>
        <p:spPr>
          <a:xfrm>
            <a:off x="9646920" y="466344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cover-label-정상"/>
          <p:cNvSpPr txBox="1"/>
          <p:nvPr/>
        </p:nvSpPr>
        <p:spPr>
          <a:xfrm>
            <a:off x="9884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me-backdrop" descr="C:\Users\user\_se4nchoi\batteryvision\docs\submission\build\img\mem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crack은 쉽고, scratch는 어려워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비슷한 크기, 다른 대비</a:t>
            </a:r>
            <a:endParaRPr lang="en-US" sz="1500" dirty="0"/>
          </a:p>
        </p:txBody>
      </p:sp>
      <p:sp>
        <p:nvSpPr>
          <p:cNvPr id="5" name="meme-credit"/>
          <p:cNvSpPr txBox="1"/>
          <p:nvPr/>
        </p:nvSpPr>
        <p:spPr>
          <a:xfrm>
            <a:off x="329184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배경 이미지: Mnet 방송 화면</a:t>
            </a:r>
            <a:endParaRPr lang="en-US" sz="900" dirty="0"/>
          </a:p>
        </p:txBody>
      </p:sp>
      <p:pic>
        <p:nvPicPr>
          <p:cNvPr id="6" name="zoom-crack" descr="C:\Users\user\_se4nchoi\batteryvision\docs\submission\build\img\zoom_cra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2651760" cy="2651760"/>
          </a:xfrm>
          <a:prstGeom prst="rect">
            <a:avLst/>
          </a:prstGeom>
        </p:spPr>
      </p:pic>
      <p:sp>
        <p:nvSpPr>
          <p:cNvPr id="7" name="zoom-dot-crack"/>
          <p:cNvSpPr/>
          <p:nvPr/>
        </p:nvSpPr>
        <p:spPr>
          <a:xfrm>
            <a:off x="548640" y="452628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zoom-cap-crack"/>
          <p:cNvSpPr txBox="1"/>
          <p:nvPr/>
        </p:nvSpPr>
        <p:spPr>
          <a:xfrm>
            <a:off x="786384" y="44531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어둡고 뚜렷함</a:t>
            </a:r>
            <a:endParaRPr lang="en-US" sz="1400" dirty="0"/>
          </a:p>
        </p:txBody>
      </p:sp>
      <p:pic>
        <p:nvPicPr>
          <p:cNvPr id="9" name="zoom-scratch" descr="C:\Users\user\_se4nchoi\batteryvision\docs\submission\build\img\zoom_scrat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691640"/>
            <a:ext cx="2651760" cy="2651760"/>
          </a:xfrm>
          <a:prstGeom prst="rect">
            <a:avLst/>
          </a:prstGeom>
        </p:spPr>
      </p:pic>
      <p:sp>
        <p:nvSpPr>
          <p:cNvPr id="10" name="zoom-dot-scratch"/>
          <p:cNvSpPr/>
          <p:nvPr/>
        </p:nvSpPr>
        <p:spPr>
          <a:xfrm>
            <a:off x="3383280" y="452628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zoom-cap-scratch"/>
          <p:cNvSpPr txBox="1"/>
          <p:nvPr/>
        </p:nvSpPr>
        <p:spPr>
          <a:xfrm>
            <a:off x="3621024" y="44531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가늘고 흐릿함</a:t>
            </a:r>
            <a:endParaRPr lang="en-US" sz="1400" dirty="0"/>
          </a:p>
        </p:txBody>
      </p:sp>
      <p:sp>
        <p:nvSpPr>
          <p:cNvPr id="12" name="size-line"/>
          <p:cNvSpPr txBox="1"/>
          <p:nvPr/>
        </p:nvSpPr>
        <p:spPr>
          <a:xfrm>
            <a:off x="54864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박스 크기 (중앙값): crack 0.39% · scratch 0.44%</a:t>
            </a:r>
            <a:endParaRPr lang="en-US" sz="1300" dirty="0"/>
          </a:p>
        </p:txBody>
      </p:sp>
      <p:sp>
        <p:nvSpPr>
          <p:cNvPr id="13" name="takeaway-card"/>
          <p:cNvSpPr/>
          <p:nvPr/>
        </p:nvSpPr>
        <p:spPr>
          <a:xfrm>
            <a:off x="548640" y="5440680"/>
            <a:ext cx="54864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4" name="takeaway"/>
          <p:cNvSpPr txBox="1"/>
          <p:nvPr/>
        </p:nvSpPr>
        <p:spPr>
          <a:xfrm>
            <a:off x="822960" y="5504688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crack AP 1.00 · scratch AP 0.66–0.86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이후 오류는 대부분 scratch</a:t>
            </a:r>
            <a:endParaRPr lang="en-US" sz="1400" dirty="0"/>
          </a:p>
        </p:txBody>
      </p:sp>
      <p:graphicFrame>
        <p:nvGraphicFramePr>
          <p:cNvPr id="15" name="ap-chart" descr=""/>
          <p:cNvGraphicFramePr/>
          <p:nvPr/>
        </p:nvGraphicFramePr>
        <p:xfrm>
          <a:off x="6355080" y="1691640"/>
          <a:ext cx="528523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실험 설계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데이터셋과 모델 구성</a:t>
            </a:r>
            <a:endParaRPr lang="en-US" sz="1500" dirty="0"/>
          </a:p>
        </p:txBody>
      </p:sp>
      <p:sp>
        <p:nvSpPr>
          <p:cNvPr id="4" name="dataset-card"/>
          <p:cNvSpPr/>
          <p:nvPr/>
        </p:nvSpPr>
        <p:spPr>
          <a:xfrm>
            <a:off x="548640" y="164592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5" name="ds-h"/>
          <p:cNvSpPr txBox="1"/>
          <p:nvPr/>
        </p:nvSpPr>
        <p:spPr>
          <a:xfrm>
            <a:off x="8229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</p:txBody>
      </p:sp>
      <p:sp>
        <p:nvSpPr>
          <p:cNvPr id="6" name="ds-b"/>
          <p:cNvSpPr txBox="1"/>
          <p:nvPr/>
        </p:nvSpPr>
        <p:spPr>
          <a:xfrm>
            <a:off x="822960" y="219456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Roboflow 공개 데이터셋 · 라벨 포함 그대로 import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crack · scratch · 원본 1,531장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목적: 모델별 성능 차이와 INT8 경량화 효과 확인</a:t>
            </a:r>
            <a:endParaRPr lang="en-US" sz="1400" dirty="0"/>
          </a:p>
        </p:txBody>
      </p:sp>
      <p:sp>
        <p:nvSpPr>
          <p:cNvPr id="7" name="limit-h"/>
          <p:cNvSpPr txBox="1"/>
          <p:nvPr/>
        </p:nvSpPr>
        <p:spPr>
          <a:xfrm>
            <a:off x="822960" y="3611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한계</a:t>
            </a:r>
            <a:endParaRPr lang="en-US" sz="1600" dirty="0"/>
          </a:p>
        </p:txBody>
      </p:sp>
      <p:pic>
        <p:nvPicPr>
          <p:cNvPr id="8" name="bg-0" descr="C:\Users\user\_se4nchoi\batteryvision\docs\submission\build\img\bg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1508760" cy="1508760"/>
          </a:xfrm>
          <a:prstGeom prst="rect">
            <a:avLst/>
          </a:prstGeom>
        </p:spPr>
      </p:pic>
      <p:sp>
        <p:nvSpPr>
          <p:cNvPr id="9" name="bg-l-0"/>
          <p:cNvSpPr txBox="1"/>
          <p:nvPr/>
        </p:nvSpPr>
        <p:spPr>
          <a:xfrm>
            <a:off x="82296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초록 매트</a:t>
            </a:r>
            <a:endParaRPr lang="en-US" sz="1200" dirty="0"/>
          </a:p>
        </p:txBody>
      </p:sp>
      <p:pic>
        <p:nvPicPr>
          <p:cNvPr id="10" name="bg-1" descr="C:\Users\user\_se4nchoi\batteryvision\docs\submission\build\img\bg_gr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023360"/>
            <a:ext cx="1508760" cy="1508760"/>
          </a:xfrm>
          <a:prstGeom prst="rect">
            <a:avLst/>
          </a:prstGeom>
        </p:spPr>
      </p:pic>
      <p:sp>
        <p:nvSpPr>
          <p:cNvPr id="11" name="bg-l-1"/>
          <p:cNvSpPr txBox="1"/>
          <p:nvPr/>
        </p:nvSpPr>
        <p:spPr>
          <a:xfrm>
            <a:off x="246888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회색</a:t>
            </a:r>
            <a:endParaRPr lang="en-US" sz="1200" dirty="0"/>
          </a:p>
        </p:txBody>
      </p:sp>
      <p:pic>
        <p:nvPicPr>
          <p:cNvPr id="12" name="bg-2" descr="C:\Users\user\_se4nchoi\batteryvision\docs\submission\build\img\bg_w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023360"/>
            <a:ext cx="1508760" cy="1508760"/>
          </a:xfrm>
          <a:prstGeom prst="rect">
            <a:avLst/>
          </a:prstGeom>
        </p:spPr>
      </p:pic>
      <p:sp>
        <p:nvSpPr>
          <p:cNvPr id="13" name="bg-l-2"/>
          <p:cNvSpPr txBox="1"/>
          <p:nvPr/>
        </p:nvSpPr>
        <p:spPr>
          <a:xfrm>
            <a:off x="411480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나무 탁상</a:t>
            </a:r>
            <a:endParaRPr lang="en-US" sz="1200" dirty="0"/>
          </a:p>
        </p:txBody>
      </p:sp>
      <p:sp>
        <p:nvSpPr>
          <p:cNvPr id="14" name="limit-t"/>
          <p:cNvSpPr txBox="1"/>
          <p:nvPr/>
        </p:nvSpPr>
        <p:spPr>
          <a:xfrm>
            <a:off x="822960" y="5852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탁상 촬영 · 셀당 사진 1장 · 같은 촬영 세션 반복</a:t>
            </a:r>
            <a:endParaRPr lang="en-US" sz="1300" dirty="0"/>
          </a:p>
        </p:txBody>
      </p:sp>
      <p:sp>
        <p:nvSpPr>
          <p:cNvPr id="15" name="grid-h"/>
          <p:cNvSpPr txBox="1"/>
          <p:nvPr/>
        </p:nvSpPr>
        <p:spPr>
          <a:xfrm>
            <a:off x="61722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모델 9종 = 아키텍처 3 × 내보내기 3</a:t>
            </a:r>
            <a:endParaRPr lang="en-US" sz="1600" dirty="0"/>
          </a:p>
        </p:txBody>
      </p:sp>
      <p:graphicFrame>
        <p:nvGraphicFramePr>
          <p:cNvPr id="4" name="model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0312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1097280"/>
                <a:gridCol w="128016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+ XAI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17" name="legend-card"/>
          <p:cNvSpPr/>
          <p:nvPr/>
        </p:nvSpPr>
        <p:spPr>
          <a:xfrm>
            <a:off x="6172200" y="4572000"/>
            <a:ext cx="5468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8" name="legend"/>
          <p:cNvSpPr txBox="1"/>
          <p:nvPr/>
        </p:nvSpPr>
        <p:spPr>
          <a:xfrm>
            <a:off x="6446520" y="47091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FP16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기본 모델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XAI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결함 위치 heatmap 출력 (설명 가능)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INT8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양자화로 경량화</a:t>
            </a:r>
            <a:endParaRPr lang="en-US" sz="1400" dirty="0"/>
          </a:p>
        </p:txBody>
      </p:sp>
      <p:sp>
        <p:nvSpPr>
          <p:cNvPr id="19" name="credit"/>
          <p:cNvSpPr txBox="1"/>
          <p:nvPr/>
        </p:nvSpPr>
        <p:spPr>
          <a:xfrm>
            <a:off x="548640" y="62362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데이터: Battery Defect Inspection v8 (Roboflow Universe), CC BY 4.0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높은 결과에 숨은 함정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1차 테스트 93%, 그런데 테스트 사진이 학습 데이터에 섞여 있었다</a:t>
            </a:r>
            <a:endParaRPr lang="en-US" sz="1500" dirty="0"/>
          </a:p>
        </p:txBody>
      </p:sp>
      <p:sp>
        <p:nvSpPr>
          <p:cNvPr id="4" name="upload-card"/>
          <p:cNvSpPr/>
          <p:nvPr/>
        </p:nvSpPr>
        <p:spPr>
          <a:xfrm>
            <a:off x="548640" y="1645920"/>
            <a:ext cx="548640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5" name="up-h"/>
          <p:cNvSpPr txBox="1"/>
          <p:nvPr/>
        </p:nvSpPr>
        <p:spPr>
          <a:xfrm>
            <a:off x="82296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테스트셋까지 Geti에 업로드</a:t>
            </a:r>
            <a:endParaRPr lang="en-US" sz="1600" dirty="0"/>
          </a:p>
        </p:txBody>
      </p:sp>
      <p:sp>
        <p:nvSpPr>
          <p:cNvPr id="6" name="up-n"/>
          <p:cNvSpPr txBox="1"/>
          <p:nvPr/>
        </p:nvSpPr>
        <p:spPr>
          <a:xfrm>
            <a:off x="822960" y="2240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3,673장</a:t>
            </a:r>
            <a:endParaRPr lang="en-US" sz="4400" dirty="0"/>
          </a:p>
        </p:txBody>
      </p:sp>
      <p:sp>
        <p:nvSpPr>
          <p:cNvPr id="7" name="up-b"/>
          <p:cNvSpPr txBox="1"/>
          <p:nvPr/>
        </p:nvSpPr>
        <p:spPr>
          <a:xfrm>
            <a:off x="822960" y="31089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학습 3,214 + 검증 306 + 테스트 153 (Roboflow v8 전체)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Geti가 라벨 있는 약 2,800장을 70/20/10으로 다시 나눠 학습</a:t>
            </a:r>
            <a:endParaRPr lang="en-US" sz="1400" dirty="0"/>
          </a:p>
        </p:txBody>
      </p:sp>
      <p:pic>
        <p:nvPicPr>
          <p:cNvPr id="8" name="dup-0" descr="C:\Users\user\_se4nchoi\batteryvision\docs\submission\build\img\dup_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645920"/>
            <a:ext cx="1828800" cy="1828800"/>
          </a:xfrm>
          <a:prstGeom prst="rect">
            <a:avLst/>
          </a:prstGeom>
        </p:spPr>
      </p:pic>
      <p:sp>
        <p:nvSpPr>
          <p:cNvPr id="9" name="dup-l-0"/>
          <p:cNvSpPr txBox="1"/>
          <p:nvPr/>
        </p:nvSpPr>
        <p:spPr>
          <a:xfrm>
            <a:off x="62636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테스트 사진</a:t>
            </a:r>
            <a:endParaRPr lang="en-US" sz="1300" dirty="0"/>
          </a:p>
        </p:txBody>
      </p:sp>
      <p:pic>
        <p:nvPicPr>
          <p:cNvPr id="10" name="dup-1" descr="C:\Users\user\_se4nchoi\batteryvision\docs\submission\build\img\dup_t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45920"/>
            <a:ext cx="1828800" cy="1828800"/>
          </a:xfrm>
          <a:prstGeom prst="rect">
            <a:avLst/>
          </a:prstGeom>
        </p:spPr>
      </p:pic>
      <p:sp>
        <p:nvSpPr>
          <p:cNvPr id="11" name="dup-l-1"/>
          <p:cNvSpPr txBox="1"/>
          <p:nvPr/>
        </p:nvSpPr>
        <p:spPr>
          <a:xfrm>
            <a:off x="82296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학습 사진</a:t>
            </a:r>
            <a:endParaRPr lang="en-US" sz="1300" dirty="0"/>
          </a:p>
        </p:txBody>
      </p:sp>
      <p:sp>
        <p:nvSpPr>
          <p:cNvPr id="12" name="nd-card"/>
          <p:cNvSpPr/>
          <p:nvPr/>
        </p:nvSpPr>
        <p:spPr>
          <a:xfrm>
            <a:off x="10195560" y="1645920"/>
            <a:ext cx="1444752" cy="21488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</p:sp>
      <p:sp>
        <p:nvSpPr>
          <p:cNvPr id="13" name="nd-n"/>
          <p:cNvSpPr txBox="1"/>
          <p:nvPr/>
        </p:nvSpPr>
        <p:spPr>
          <a:xfrm>
            <a:off x="10287000" y="18745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22장</a:t>
            </a:r>
            <a:endParaRPr lang="en-US" sz="2800" dirty="0"/>
          </a:p>
        </p:txBody>
      </p:sp>
      <p:sp>
        <p:nvSpPr>
          <p:cNvPr id="14" name="nd-l"/>
          <p:cNvSpPr txBox="1"/>
          <p:nvPr/>
        </p:nvSpPr>
        <p:spPr>
          <a:xfrm>
            <a:off x="10287000" y="25146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학습 사진과 거의 같은 테스트 사진</a:t>
            </a:r>
            <a:endParaRPr lang="en-US" sz="1200" dirty="0"/>
          </a:p>
        </p:txBody>
      </p:sp>
      <p:sp>
        <p:nvSpPr>
          <p:cNvPr id="15" name="dup-cap"/>
          <p:cNvSpPr txBox="1"/>
          <p:nvPr/>
        </p:nvSpPr>
        <p:spPr>
          <a:xfrm>
            <a:off x="6263640" y="3840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dHash 거리 4 / 256비트: 사실상 같은 사진</a:t>
            </a:r>
            <a:endParaRPr lang="en-US" sz="1200" dirty="0"/>
          </a:p>
        </p:txBody>
      </p:sp>
      <p:sp>
        <p:nvSpPr>
          <p:cNvPr id="16" name="lesson-card"/>
          <p:cNvSpPr/>
          <p:nvPr/>
        </p:nvSpPr>
        <p:spPr>
          <a:xfrm>
            <a:off x="548640" y="4617720"/>
            <a:ext cx="11094415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7" name="lesson-h"/>
          <p:cNvSpPr txBox="1"/>
          <p:nvPr/>
        </p:nvSpPr>
        <p:spPr>
          <a:xfrm>
            <a:off x="82296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 1차 테스트 점수는</a:t>
            </a:r>
            <a:endParaRPr lang="en-US" sz="1600" dirty="0"/>
          </a:p>
        </p:txBody>
      </p:sp>
      <p:sp>
        <p:nvSpPr>
          <p:cNvPr id="18" name="lesson-b"/>
          <p:cNvSpPr txBox="1"/>
          <p:nvPr/>
        </p:nvSpPr>
        <p:spPr>
          <a:xfrm>
            <a:off x="822960" y="513892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학습에 쓴 사진이 포함됐을 수 있음 (Geti 화면에서 분할 목록 확인 불가)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모델끼리 비교는 가능, 처음 보는 사진에서의 성능은 2차 세트로 확인</a:t>
            </a:r>
            <a:endParaRPr lang="en-US" sz="1400" dirty="0"/>
          </a:p>
        </p:txBody>
      </p:sp>
      <p:sp>
        <p:nvSpPr>
          <p:cNvPr id="19" name="lesson-t"/>
          <p:cNvSpPr txBox="1"/>
          <p:nvPr/>
        </p:nvSpPr>
        <p:spPr>
          <a:xfrm>
            <a:off x="7726680" y="51389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교훈: 테스트셋은 업로드 전에 분리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작은 모델이 더 맵다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FP16 기준 · 1차 테스트 131장</a:t>
            </a:r>
            <a:endParaRPr lang="en-US" sz="1500" dirty="0"/>
          </a:p>
        </p:txBody>
      </p:sp>
      <p:sp>
        <p:nvSpPr>
          <p:cNvPr id="4" name="model-0"/>
          <p:cNvSpPr/>
          <p:nvPr/>
        </p:nvSpPr>
        <p:spPr>
          <a:xfrm>
            <a:off x="548640" y="1645920"/>
            <a:ext cx="35661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5" name="model-dot-0"/>
          <p:cNvSpPr/>
          <p:nvPr/>
        </p:nvSpPr>
        <p:spPr>
          <a:xfrm>
            <a:off x="822960" y="1865376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model-n-0"/>
          <p:cNvSpPr txBox="1"/>
          <p:nvPr/>
        </p:nvSpPr>
        <p:spPr>
          <a:xfrm>
            <a:off x="106070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ATSS-MobileNetV2</a:t>
            </a:r>
            <a:endParaRPr lang="en-US" sz="1600" dirty="0"/>
          </a:p>
        </p:txBody>
      </p:sp>
      <p:sp>
        <p:nvSpPr>
          <p:cNvPr id="7" name="best-badge"/>
          <p:cNvSpPr/>
          <p:nvPr/>
        </p:nvSpPr>
        <p:spPr>
          <a:xfrm>
            <a:off x="3246120" y="1801368"/>
            <a:ext cx="640080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8" name="best-t"/>
          <p:cNvSpPr txBox="1"/>
          <p:nvPr/>
        </p:nvSpPr>
        <p:spPr>
          <a:xfrm>
            <a:off x="3246120" y="1801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최고</a:t>
            </a:r>
            <a:endParaRPr lang="en-US" sz="1100" dirty="0"/>
          </a:p>
        </p:txBody>
      </p:sp>
      <p:sp>
        <p:nvSpPr>
          <p:cNvPr id="9" name="model-s-0"/>
          <p:cNvSpPr txBox="1"/>
          <p:nvPr/>
        </p:nvSpPr>
        <p:spPr>
          <a:xfrm>
            <a:off x="82296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3.9M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20.6 GFLOPs</a:t>
            </a:r>
            <a:endParaRPr lang="en-US" sz="1300" dirty="0"/>
          </a:p>
        </p:txBody>
      </p:sp>
      <p:sp>
        <p:nvSpPr>
          <p:cNvPr id="10" name="model-m-0"/>
          <p:cNvSpPr txBox="1"/>
          <p:nvPr/>
        </p:nvSpPr>
        <p:spPr>
          <a:xfrm>
            <a:off x="82296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92.9%</a:t>
            </a:r>
            <a:endParaRPr lang="en-US" sz="4000" dirty="0"/>
          </a:p>
        </p:txBody>
      </p:sp>
      <p:sp>
        <p:nvSpPr>
          <p:cNvPr id="11" name="model-a-0"/>
          <p:cNvSpPr txBox="1"/>
          <p:nvPr/>
        </p:nvSpPr>
        <p:spPr>
          <a:xfrm>
            <a:off x="82296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mAP@50 · scratch AP 0.86</a:t>
            </a:r>
            <a:endParaRPr lang="en-US" sz="1300" dirty="0"/>
          </a:p>
        </p:txBody>
      </p:sp>
      <p:sp>
        <p:nvSpPr>
          <p:cNvPr id="12" name="model-1"/>
          <p:cNvSpPr/>
          <p:nvPr/>
        </p:nvSpPr>
        <p:spPr>
          <a:xfrm>
            <a:off x="4297680" y="1645920"/>
            <a:ext cx="35661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model-dot-1"/>
          <p:cNvSpPr/>
          <p:nvPr/>
        </p:nvSpPr>
        <p:spPr>
          <a:xfrm>
            <a:off x="4572000" y="186537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model-n-1"/>
          <p:cNvSpPr txBox="1"/>
          <p:nvPr/>
        </p:nvSpPr>
        <p:spPr>
          <a:xfrm>
            <a:off x="480974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5" name="model-s-1"/>
          <p:cNvSpPr txBox="1"/>
          <p:nvPr/>
        </p:nvSpPr>
        <p:spPr>
          <a:xfrm>
            <a:off x="457200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26.8 GFLOPs</a:t>
            </a:r>
            <a:endParaRPr lang="en-US" sz="1300" dirty="0"/>
          </a:p>
        </p:txBody>
      </p:sp>
      <p:sp>
        <p:nvSpPr>
          <p:cNvPr id="16" name="model-m-1"/>
          <p:cNvSpPr txBox="1"/>
          <p:nvPr/>
        </p:nvSpPr>
        <p:spPr>
          <a:xfrm>
            <a:off x="457200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89.2%</a:t>
            </a:r>
            <a:endParaRPr lang="en-US" sz="4000" dirty="0"/>
          </a:p>
        </p:txBody>
      </p:sp>
      <p:sp>
        <p:nvSpPr>
          <p:cNvPr id="17" name="model-a-1"/>
          <p:cNvSpPr txBox="1"/>
          <p:nvPr/>
        </p:nvSpPr>
        <p:spPr>
          <a:xfrm>
            <a:off x="457200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mAP@50 · scratch AP 0.78</a:t>
            </a:r>
            <a:endParaRPr lang="en-US" sz="1300" dirty="0"/>
          </a:p>
        </p:txBody>
      </p:sp>
      <p:sp>
        <p:nvSpPr>
          <p:cNvPr id="18" name="model-2"/>
          <p:cNvSpPr/>
          <p:nvPr/>
        </p:nvSpPr>
        <p:spPr>
          <a:xfrm>
            <a:off x="8046720" y="1645920"/>
            <a:ext cx="35661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9" name="model-dot-2"/>
          <p:cNvSpPr/>
          <p:nvPr/>
        </p:nvSpPr>
        <p:spPr>
          <a:xfrm>
            <a:off x="8321040" y="186537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model-n-2"/>
          <p:cNvSpPr txBox="1"/>
          <p:nvPr/>
        </p:nvSpPr>
        <p:spPr>
          <a:xfrm>
            <a:off x="855878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21" name="model-s-2"/>
          <p:cNvSpPr txBox="1"/>
          <p:nvPr/>
        </p:nvSpPr>
        <p:spPr>
          <a:xfrm>
            <a:off x="832104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5.06M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6.45 GFLOPs</a:t>
            </a:r>
            <a:endParaRPr lang="en-US" sz="1300" dirty="0"/>
          </a:p>
        </p:txBody>
      </p:sp>
      <p:sp>
        <p:nvSpPr>
          <p:cNvPr id="22" name="model-m-2"/>
          <p:cNvSpPr txBox="1"/>
          <p:nvPr/>
        </p:nvSpPr>
        <p:spPr>
          <a:xfrm>
            <a:off x="832104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83.2%</a:t>
            </a:r>
            <a:endParaRPr lang="en-US" sz="4000" dirty="0"/>
          </a:p>
        </p:txBody>
      </p:sp>
      <p:sp>
        <p:nvSpPr>
          <p:cNvPr id="23" name="model-a-2"/>
          <p:cNvSpPr txBox="1"/>
          <p:nvPr/>
        </p:nvSpPr>
        <p:spPr>
          <a:xfrm>
            <a:off x="832104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mAP@50 · scratch AP 0.66</a:t>
            </a:r>
            <a:endParaRPr lang="en-US" sz="1300" dirty="0"/>
          </a:p>
        </p:txBody>
      </p:sp>
      <p:sp>
        <p:nvSpPr>
          <p:cNvPr id="24" name="why-card"/>
          <p:cNvSpPr/>
          <p:nvPr/>
        </p:nvSpPr>
        <p:spPr>
          <a:xfrm>
            <a:off x="548640" y="4206240"/>
            <a:ext cx="5486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5" name="why-h"/>
          <p:cNvSpPr txBox="1"/>
          <p:nvPr/>
        </p:nvSpPr>
        <p:spPr>
          <a:xfrm>
            <a:off x="8229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결과</a:t>
            </a:r>
            <a:endParaRPr lang="en-US" sz="1600" dirty="0"/>
          </a:p>
        </p:txBody>
      </p:sp>
      <p:sp>
        <p:nvSpPr>
          <p:cNvPr id="26" name="why-b"/>
          <p:cNvSpPr txBox="1"/>
          <p:nvPr/>
        </p:nvSpPr>
        <p:spPr>
          <a:xfrm>
            <a:off x="822960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파라미터가 가장 적은 ATSS가 가장 정확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Geti 점수도 ATSS 최고 (86% · 81% · 81%)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2차 세트도 ATSS 우위 (검출 47% vs 3%)</a:t>
            </a:r>
            <a:endParaRPr lang="en-US" sz="1400" dirty="0"/>
          </a:p>
        </p:txBody>
      </p:sp>
      <p:sp>
        <p:nvSpPr>
          <p:cNvPr id="27" name="note-card"/>
          <p:cNvSpPr/>
          <p:nvPr/>
        </p:nvSpPr>
        <p:spPr>
          <a:xfrm>
            <a:off x="6263640" y="4206240"/>
            <a:ext cx="5376672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8" name="note-h"/>
          <p:cNvSpPr txBox="1"/>
          <p:nvPr/>
        </p:nvSpPr>
        <p:spPr>
          <a:xfrm>
            <a:off x="65379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주의</a:t>
            </a:r>
            <a:endParaRPr lang="en-US" sz="1600" dirty="0"/>
          </a:p>
        </p:txBody>
      </p:sp>
      <p:sp>
        <p:nvSpPr>
          <p:cNvPr id="29" name="note-b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'작은 모델' = 파라미터 기준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연산량은 Tiny가 가장 적음 (6.45 GFLOPs)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1차 점수는 학습 사진 포함 가능 → 모델 간 비교용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오류 분석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ATSS · 검토 기준 0.30 · 1차 테스트</a:t>
            </a:r>
            <a:endParaRPr lang="en-US" sz="1500" dirty="0"/>
          </a:p>
        </p:txBody>
      </p:sp>
      <p:sp>
        <p:nvSpPr>
          <p:cNvPr id="4" name="conclusion-band"/>
          <p:cNvSpPr/>
          <p:nvPr/>
        </p:nvSpPr>
        <p:spPr>
          <a:xfrm>
            <a:off x="548640" y="16002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3272F"/>
          </a:solidFill>
          <a:ln/>
        </p:spPr>
      </p:sp>
      <p:sp>
        <p:nvSpPr>
          <p:cNvPr id="5" name="conclusion"/>
          <p:cNvSpPr txBox="1"/>
          <p:nvPr/>
        </p:nvSpPr>
        <p:spPr>
          <a:xfrm>
            <a:off x="822960" y="164592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혼동 0건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·  오류는 전부 놓친 scratch  ·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나무 배경에서 가장 약함</a:t>
            </a:r>
            <a:endParaRPr lang="en-US" sz="2200" dirty="0"/>
          </a:p>
        </p:txBody>
      </p:sp>
      <p:graphicFrame>
        <p:nvGraphicFramePr>
          <p:cNvPr id="7" name="confus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↓  예측 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(오검출)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7" name="bg-recall-card"/>
          <p:cNvSpPr/>
          <p:nvPr/>
        </p:nvSpPr>
        <p:spPr>
          <a:xfrm>
            <a:off x="6263640" y="2651760"/>
            <a:ext cx="537667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bgr-h"/>
          <p:cNvSpPr txBox="1"/>
          <p:nvPr/>
        </p:nvSpPr>
        <p:spPr>
          <a:xfrm>
            <a:off x="6537960" y="27614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배경별 박스 재현율 (불합격 기준 0.60)</a:t>
            </a:r>
            <a:endParaRPr lang="en-US" sz="1400" dirty="0"/>
          </a:p>
        </p:txBody>
      </p:sp>
      <p:sp>
        <p:nvSpPr>
          <p:cNvPr id="9" name="bgr-l-0"/>
          <p:cNvSpPr txBox="1"/>
          <p:nvPr/>
        </p:nvSpPr>
        <p:spPr>
          <a:xfrm>
            <a:off x="6537960" y="3172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초록 매트</a:t>
            </a:r>
            <a:endParaRPr lang="en-US" sz="1300" dirty="0"/>
          </a:p>
        </p:txBody>
      </p:sp>
      <p:sp>
        <p:nvSpPr>
          <p:cNvPr id="10" name="bgr-track-0"/>
          <p:cNvSpPr/>
          <p:nvPr/>
        </p:nvSpPr>
        <p:spPr>
          <a:xfrm>
            <a:off x="7772400" y="3246120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1" name="bgr-fill-0"/>
          <p:cNvSpPr/>
          <p:nvPr/>
        </p:nvSpPr>
        <p:spPr>
          <a:xfrm>
            <a:off x="7772400" y="3246120"/>
            <a:ext cx="2172614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bgr-v-0"/>
          <p:cNvSpPr txBox="1"/>
          <p:nvPr/>
        </p:nvSpPr>
        <p:spPr>
          <a:xfrm>
            <a:off x="10881360" y="31729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72%</a:t>
            </a:r>
            <a:endParaRPr lang="en-US" sz="1300" dirty="0"/>
          </a:p>
        </p:txBody>
      </p:sp>
      <p:sp>
        <p:nvSpPr>
          <p:cNvPr id="13" name="bgr-l-1"/>
          <p:cNvSpPr txBox="1"/>
          <p:nvPr/>
        </p:nvSpPr>
        <p:spPr>
          <a:xfrm>
            <a:off x="6537960" y="35844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회색</a:t>
            </a:r>
            <a:endParaRPr lang="en-US" sz="1300" dirty="0"/>
          </a:p>
        </p:txBody>
      </p:sp>
      <p:sp>
        <p:nvSpPr>
          <p:cNvPr id="14" name="bgr-track-1"/>
          <p:cNvSpPr/>
          <p:nvPr/>
        </p:nvSpPr>
        <p:spPr>
          <a:xfrm>
            <a:off x="7772400" y="3657600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5" name="bgr-fill-1"/>
          <p:cNvSpPr/>
          <p:nvPr/>
        </p:nvSpPr>
        <p:spPr>
          <a:xfrm>
            <a:off x="7772400" y="3657600"/>
            <a:ext cx="2263140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bgr-v-1"/>
          <p:cNvSpPr txBox="1"/>
          <p:nvPr/>
        </p:nvSpPr>
        <p:spPr>
          <a:xfrm>
            <a:off x="10881360" y="3584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75%</a:t>
            </a:r>
            <a:endParaRPr lang="en-US" sz="1300" dirty="0"/>
          </a:p>
        </p:txBody>
      </p:sp>
      <p:sp>
        <p:nvSpPr>
          <p:cNvPr id="17" name="bgr-l-2"/>
          <p:cNvSpPr txBox="1"/>
          <p:nvPr/>
        </p:nvSpPr>
        <p:spPr>
          <a:xfrm>
            <a:off x="6537960" y="39959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나무 탁상</a:t>
            </a:r>
            <a:endParaRPr lang="en-US" sz="1300" dirty="0"/>
          </a:p>
        </p:txBody>
      </p:sp>
      <p:sp>
        <p:nvSpPr>
          <p:cNvPr id="18" name="bgr-track-2"/>
          <p:cNvSpPr/>
          <p:nvPr/>
        </p:nvSpPr>
        <p:spPr>
          <a:xfrm>
            <a:off x="7772400" y="4069080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9" name="bgr-fill-2"/>
          <p:cNvSpPr/>
          <p:nvPr/>
        </p:nvSpPr>
        <p:spPr>
          <a:xfrm>
            <a:off x="7772400" y="4069080"/>
            <a:ext cx="995782" cy="16459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0" name="bgr-v-2"/>
          <p:cNvSpPr txBox="1"/>
          <p:nvPr/>
        </p:nvSpPr>
        <p:spPr>
          <a:xfrm>
            <a:off x="10881360" y="39959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33%</a:t>
            </a:r>
            <a:endParaRPr lang="en-US" sz="1300" dirty="0"/>
          </a:p>
        </p:txBody>
      </p:sp>
      <p:sp>
        <p:nvSpPr>
          <p:cNvPr id="21" name="heat-card"/>
          <p:cNvSpPr/>
          <p:nvPr/>
        </p:nvSpPr>
        <p:spPr>
          <a:xfrm>
            <a:off x="548640" y="475488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22" name="heat-0" descr="C:\Users\user\_se4nchoi\batteryvision\docs\submission\build\img\heat_at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873752"/>
            <a:ext cx="1225296" cy="1225296"/>
          </a:xfrm>
          <a:prstGeom prst="rect">
            <a:avLst/>
          </a:prstGeom>
        </p:spPr>
      </p:pic>
      <p:pic>
        <p:nvPicPr>
          <p:cNvPr id="23" name="heat-1" descr="C:\Users\user\_se4nchoi\batteryvision\docs\submission\build\img\heat_yolo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873752"/>
            <a:ext cx="1225296" cy="1225296"/>
          </a:xfrm>
          <a:prstGeom prst="rect">
            <a:avLst/>
          </a:prstGeom>
        </p:spPr>
      </p:pic>
      <p:sp>
        <p:nvSpPr>
          <p:cNvPr id="24" name="heat-cap"/>
          <p:cNvSpPr txBox="1"/>
          <p:nvPr/>
        </p:nvSpPr>
        <p:spPr>
          <a:xfrm>
            <a:off x="3566160" y="4892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heatmap이 결함을 짚은 비율: </a:t>
            </a:r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YOLOX-S 98%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· </a:t>
            </a:r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ATSS 48%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더 정확한 모델이 더 잘 설명하지는 않는다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INT8 장단점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수업에서 다룬 양자화를 직접 적용 · 직접 설계한 벤치마크로 측정</a:t>
            </a:r>
            <a:endParaRPr lang="en-US" sz="1500" dirty="0"/>
          </a:p>
        </p:txBody>
      </p:sp>
      <p:graphicFrame>
        <p:nvGraphicFramePr>
          <p:cNvPr id="8" name="int8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1005840"/>
                <a:gridCol w="1645920"/>
                <a:gridCol w="1920240"/>
                <a:gridCol w="222199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CPU ms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MB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mAP@50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결함 셀 (/98)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43.9 → 20.0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→ 3.9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0.929 → 0.929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→ 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48.9 → 24.9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→ 9.8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0.892 → 0.902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→ 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33.5 → 8.3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→ 5.8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0.832 → 0.829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→ 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5" name="method-card"/>
          <p:cNvSpPr/>
          <p:nvPr/>
        </p:nvSpPr>
        <p:spPr>
          <a:xfrm>
            <a:off x="548640" y="3931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23272F"/>
          </a:solidFill>
          <a:ln/>
        </p:spPr>
      </p:sp>
      <p:sp>
        <p:nvSpPr>
          <p:cNvPr id="6" name="method"/>
          <p:cNvSpPr txBox="1"/>
          <p:nvPr/>
        </p:nvSpPr>
        <p:spPr>
          <a:xfrm>
            <a:off x="822960" y="3959352"/>
            <a:ext cx="105457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측정 방법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1차 테스트 131장 · 사진 1장씩 · Intel Core Ultra 7 265K CPU · 전처리·후처리 포함 · 워밍업 10회 제외</a:t>
            </a:r>
            <a:endParaRPr lang="en-US" sz="1300" dirty="0"/>
          </a:p>
        </p:txBody>
      </p:sp>
      <p:sp>
        <p:nvSpPr>
          <p:cNvPr id="7" name="pro-card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8" name="pro-h"/>
          <p:cNvSpPr txBox="1"/>
          <p:nvPr/>
        </p:nvSpPr>
        <p:spPr>
          <a:xfrm>
            <a:off x="822960" y="4828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장점</a:t>
            </a:r>
            <a:endParaRPr lang="en-US" sz="1600" dirty="0"/>
          </a:p>
        </p:txBody>
      </p:sp>
      <p:sp>
        <p:nvSpPr>
          <p:cNvPr id="9" name="pro-b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2–4배 빠름 · 크기 약 절반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mAP@50은 거의 그대로</a:t>
            </a:r>
            <a:endParaRPr lang="en-US" sz="1400" dirty="0"/>
          </a:p>
        </p:txBody>
      </p:sp>
      <p:sp>
        <p:nvSpPr>
          <p:cNvPr id="10" name="con-card"/>
          <p:cNvSpPr/>
          <p:nvPr/>
        </p:nvSpPr>
        <p:spPr>
          <a:xfrm>
            <a:off x="6199632" y="4709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1" name="con-h"/>
          <p:cNvSpPr txBox="1"/>
          <p:nvPr/>
        </p:nvSpPr>
        <p:spPr>
          <a:xfrm>
            <a:off x="6473952" y="4828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단점</a:t>
            </a:r>
            <a:endParaRPr lang="en-US" sz="1600" dirty="0"/>
          </a:p>
        </p:txBody>
      </p:sp>
      <p:sp>
        <p:nvSpPr>
          <p:cNvPr id="12" name="con-b"/>
          <p:cNvSpPr txBox="1"/>
          <p:nvPr/>
        </p:nvSpPr>
        <p:spPr>
          <a:xfrm>
            <a:off x="6473952" y="5212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신뢰도가 낮아져 같은 기준에서 놓침 증가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INT8용 판정 기준값을 다시 정해야 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2차 데이터셋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같은 업로더의 다른 세트(v2) 45장 (결함 30 · 정상 15) · 학습에 전혀 안 쓴 사진 · 내 앱으로 테스트</a:t>
            </a:r>
            <a:endParaRPr lang="en-US" sz="1500" dirty="0"/>
          </a:p>
        </p:txBody>
      </p:sp>
      <p:sp>
        <p:nvSpPr>
          <p:cNvPr id="4" name="holdout-card"/>
          <p:cNvSpPr/>
          <p:nvPr/>
        </p:nvSpPr>
        <p:spPr>
          <a:xfrm>
            <a:off x="548640" y="1645920"/>
            <a:ext cx="60350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5" name="ho-h"/>
          <p:cNvSpPr txBox="1"/>
          <p:nvPr/>
        </p:nvSpPr>
        <p:spPr>
          <a:xfrm>
            <a:off x="82296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결함 셀 검출률 (검토 또는 불합격)</a:t>
            </a:r>
            <a:endParaRPr lang="en-US" sz="1600" dirty="0"/>
          </a:p>
        </p:txBody>
      </p:sp>
      <p:sp>
        <p:nvSpPr>
          <p:cNvPr id="6" name="ho-c1"/>
          <p:cNvSpPr txBox="1"/>
          <p:nvPr/>
        </p:nvSpPr>
        <p:spPr>
          <a:xfrm>
            <a:off x="29260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1차 테스트</a:t>
            </a:r>
            <a:endParaRPr lang="en-US" sz="1200" dirty="0"/>
          </a:p>
        </p:txBody>
      </p:sp>
      <p:sp>
        <p:nvSpPr>
          <p:cNvPr id="7" name="ho-c2"/>
          <p:cNvSpPr txBox="1"/>
          <p:nvPr/>
        </p:nvSpPr>
        <p:spPr>
          <a:xfrm>
            <a:off x="47548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</a:t>
            </a:r>
            <a:endParaRPr lang="en-US" sz="1200" dirty="0"/>
          </a:p>
        </p:txBody>
      </p:sp>
      <p:sp>
        <p:nvSpPr>
          <p:cNvPr id="8" name="ho-dot-0"/>
          <p:cNvSpPr/>
          <p:nvPr/>
        </p:nvSpPr>
        <p:spPr>
          <a:xfrm>
            <a:off x="822960" y="271576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ho-n-0"/>
          <p:cNvSpPr txBox="1"/>
          <p:nvPr/>
        </p:nvSpPr>
        <p:spPr>
          <a:xfrm>
            <a:off x="1060704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</a:t>
            </a:r>
            <a:endParaRPr lang="en-US" sz="1600" dirty="0"/>
          </a:p>
        </p:txBody>
      </p:sp>
      <p:sp>
        <p:nvSpPr>
          <p:cNvPr id="10" name="ho-a-0"/>
          <p:cNvSpPr txBox="1"/>
          <p:nvPr/>
        </p:nvSpPr>
        <p:spPr>
          <a:xfrm>
            <a:off x="29260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100%</a:t>
            </a:r>
            <a:endParaRPr lang="en-US" sz="2600" dirty="0"/>
          </a:p>
        </p:txBody>
      </p:sp>
      <p:sp>
        <p:nvSpPr>
          <p:cNvPr id="11" name="ho-b-0"/>
          <p:cNvSpPr txBox="1"/>
          <p:nvPr/>
        </p:nvSpPr>
        <p:spPr>
          <a:xfrm>
            <a:off x="47548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12" name="ho-dot-1"/>
          <p:cNvSpPr/>
          <p:nvPr/>
        </p:nvSpPr>
        <p:spPr>
          <a:xfrm>
            <a:off x="822960" y="337413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ho-n-1"/>
          <p:cNvSpPr txBox="1"/>
          <p:nvPr/>
        </p:nvSpPr>
        <p:spPr>
          <a:xfrm>
            <a:off x="1060704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4" name="ho-a-1"/>
          <p:cNvSpPr txBox="1"/>
          <p:nvPr/>
        </p:nvSpPr>
        <p:spPr>
          <a:xfrm>
            <a:off x="29260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94%</a:t>
            </a:r>
            <a:endParaRPr lang="en-US" sz="2600" dirty="0"/>
          </a:p>
        </p:txBody>
      </p:sp>
      <p:sp>
        <p:nvSpPr>
          <p:cNvPr id="15" name="ho-b-1"/>
          <p:cNvSpPr txBox="1"/>
          <p:nvPr/>
        </p:nvSpPr>
        <p:spPr>
          <a:xfrm>
            <a:off x="47548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3%</a:t>
            </a:r>
            <a:endParaRPr lang="en-US" sz="2600" dirty="0"/>
          </a:p>
        </p:txBody>
      </p:sp>
      <p:sp>
        <p:nvSpPr>
          <p:cNvPr id="16" name="ho-dot-2"/>
          <p:cNvSpPr/>
          <p:nvPr/>
        </p:nvSpPr>
        <p:spPr>
          <a:xfrm>
            <a:off x="822960" y="4032504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ho-n-2"/>
          <p:cNvSpPr txBox="1"/>
          <p:nvPr/>
        </p:nvSpPr>
        <p:spPr>
          <a:xfrm>
            <a:off x="1060704" y="3858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18" name="ho-a-2"/>
          <p:cNvSpPr txBox="1"/>
          <p:nvPr/>
        </p:nvSpPr>
        <p:spPr>
          <a:xfrm>
            <a:off x="29260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99%</a:t>
            </a:r>
            <a:endParaRPr lang="en-US" sz="2600" dirty="0"/>
          </a:p>
        </p:txBody>
      </p:sp>
      <p:sp>
        <p:nvSpPr>
          <p:cNvPr id="19" name="ho-b-2"/>
          <p:cNvSpPr txBox="1"/>
          <p:nvPr/>
        </p:nvSpPr>
        <p:spPr>
          <a:xfrm>
            <a:off x="47548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20" name="finding-card"/>
          <p:cNvSpPr/>
          <p:nvPr/>
        </p:nvSpPr>
        <p:spPr>
          <a:xfrm>
            <a:off x="548640" y="4846320"/>
            <a:ext cx="6035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1" name="finding-b"/>
          <p:cNvSpPr txBox="1"/>
          <p:nvPr/>
        </p:nvSpPr>
        <p:spPr>
          <a:xfrm>
            <a:off x="822960" y="4956048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착각이 아니라 점수가 낮아 놓침 · 정상 불합격 0건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3"/>
                </a:solidFill>
              </a:rPr>
              <a:t>원인: 1차는 본 적 있는 사진 포함 + 같은 촬영 환경</a:t>
            </a:r>
            <a:endParaRPr lang="en-US" sz="1400" dirty="0"/>
          </a:p>
        </p:txBody>
      </p:sp>
      <p:sp>
        <p:nvSpPr>
          <p:cNvPr id="22" name="th-h"/>
          <p:cNvSpPr txBox="1"/>
          <p:nvPr/>
        </p:nvSpPr>
        <p:spPr>
          <a:xfrm>
            <a:off x="681228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기준값을 낮추면? (ATSS · 2차 세트)</a:t>
            </a:r>
            <a:endParaRPr lang="en-US" sz="1600" dirty="0"/>
          </a:p>
        </p:txBody>
      </p:sp>
      <p:graphicFrame>
        <p:nvGraphicFramePr>
          <p:cNvPr id="9" name="t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103120"/>
          <a:ext cx="4828032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1609344"/>
                <a:gridCol w="160934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 (현재)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24" name="th-cap"/>
          <p:cNvSpPr txBox="1"/>
          <p:nvPr/>
        </p:nvSpPr>
        <p:spPr>
          <a:xfrm>
            <a:off x="6812280" y="4023360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놓침을 줄이면 정상 셀이 같이 걸림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→ 기준값이 아니라 재학습 문제</a:t>
            </a:r>
            <a:endParaRPr lang="en-US" sz="1500" dirty="0"/>
          </a:p>
        </p:txBody>
      </p:sp>
      <p:pic>
        <p:nvPicPr>
          <p:cNvPr id="25" name="miss-img" descr="C:\Users\user\_se4nchoi\batteryvision\docs\submission\build\img\holdout_mi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4846320"/>
            <a:ext cx="1371600" cy="1371600"/>
          </a:xfrm>
          <a:prstGeom prst="rect">
            <a:avLst/>
          </a:prstGeom>
        </p:spPr>
      </p:pic>
      <p:sp>
        <p:nvSpPr>
          <p:cNvPr id="26" name="miss-cap"/>
          <p:cNvSpPr txBox="1"/>
          <p:nvPr/>
        </p:nvSpPr>
        <p:spPr>
          <a:xfrm>
            <a:off x="8366760" y="5074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놓친 예: scratch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ATSS 최고 점수 0.21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Logs and Lesson Learned</a:t>
            </a:r>
            <a:endParaRPr lang="en-US" sz="3200" dirty="0"/>
          </a:p>
        </p:txBody>
      </p:sp>
      <p:graphicFrame>
        <p:nvGraphicFramePr>
          <p:cNvPr id="10" name="lo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903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40280"/>
                <a:gridCol w="1691640"/>
                <a:gridCol w="2423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· 1차 테스트 153장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숫자는 좋아 보인다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복사본 22장 제거 · 131장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 그대로, 평가는 정직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내역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포함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점수는 비교용으로만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 · Tiny 비교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89.2 · 83.2%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모델이 이기지 않는다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 양자화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2–4배 빠름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빠르지만 기준값 재조정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세트 45장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사진의 실력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· 기준값 0.15로 낮춤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87%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 X → 재학습 필요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4" name="log-note"/>
          <p:cNvSpPr txBox="1"/>
          <p:nvPr/>
        </p:nvSpPr>
        <p:spPr>
          <a:xfrm>
            <a:off x="548640" y="589788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결과: mAP@50 (1–2, 4) · CPU 속도 (5) · 결함 셀 검출률, ATSS (6–7)</a:t>
            </a:r>
            <a:endParaRPr lang="en-US" sz="1000" dirty="0"/>
          </a:p>
        </p:txBody>
      </p:sp>
      <p:sp>
        <p:nvSpPr>
          <p:cNvPr id="5" name="lesson-0"/>
          <p:cNvSpPr/>
          <p:nvPr/>
        </p:nvSpPr>
        <p:spPr>
          <a:xfrm>
            <a:off x="7726680" y="123444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lesson-n-0"/>
          <p:cNvSpPr txBox="1"/>
          <p:nvPr/>
        </p:nvSpPr>
        <p:spPr>
          <a:xfrm>
            <a:off x="7955280" y="1389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lesson-h-0"/>
          <p:cNvSpPr txBox="1"/>
          <p:nvPr/>
        </p:nvSpPr>
        <p:spPr>
          <a:xfrm>
            <a:off x="8503920" y="1362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테스트셋은 먼저 분리</a:t>
            </a:r>
            <a:endParaRPr lang="en-US" sz="1500" dirty="0"/>
          </a:p>
        </p:txBody>
      </p:sp>
      <p:sp>
        <p:nvSpPr>
          <p:cNvPr id="8" name="lesson-d-0"/>
          <p:cNvSpPr txBox="1"/>
          <p:nvPr/>
        </p:nvSpPr>
        <p:spPr>
          <a:xfrm>
            <a:off x="850392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업로드 전에 나누고, 중복·세션도 확인</a:t>
            </a:r>
            <a:endParaRPr lang="en-US" sz="1200" dirty="0"/>
          </a:p>
        </p:txBody>
      </p:sp>
      <p:sp>
        <p:nvSpPr>
          <p:cNvPr id="9" name="lesson-1"/>
          <p:cNvSpPr/>
          <p:nvPr/>
        </p:nvSpPr>
        <p:spPr>
          <a:xfrm>
            <a:off x="7726680" y="242316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esson-n-1"/>
          <p:cNvSpPr txBox="1"/>
          <p:nvPr/>
        </p:nvSpPr>
        <p:spPr>
          <a:xfrm>
            <a:off x="7955280" y="2578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lesson-h-1"/>
          <p:cNvSpPr txBox="1"/>
          <p:nvPr/>
        </p:nvSpPr>
        <p:spPr>
          <a:xfrm>
            <a:off x="8503920" y="25511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큰 모델 ≠ 좋은 모델</a:t>
            </a:r>
            <a:endParaRPr lang="en-US" sz="1500" dirty="0"/>
          </a:p>
        </p:txBody>
      </p:sp>
      <p:sp>
        <p:nvSpPr>
          <p:cNvPr id="12" name="lesson-d-1"/>
          <p:cNvSpPr txBox="1"/>
          <p:nvPr/>
        </p:nvSpPr>
        <p:spPr>
          <a:xfrm>
            <a:off x="8503920" y="2944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데이터와 결함에 맞는 모델 선택</a:t>
            </a:r>
            <a:endParaRPr lang="en-US" sz="1200" dirty="0"/>
          </a:p>
        </p:txBody>
      </p:sp>
      <p:sp>
        <p:nvSpPr>
          <p:cNvPr id="13" name="lesson-2"/>
          <p:cNvSpPr/>
          <p:nvPr/>
        </p:nvSpPr>
        <p:spPr>
          <a:xfrm>
            <a:off x="7726680" y="361188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4" name="lesson-n-2"/>
          <p:cNvSpPr txBox="1"/>
          <p:nvPr/>
        </p:nvSpPr>
        <p:spPr>
          <a:xfrm>
            <a:off x="795528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lesson-h-2"/>
          <p:cNvSpPr txBox="1"/>
          <p:nvPr/>
        </p:nvSpPr>
        <p:spPr>
          <a:xfrm>
            <a:off x="8503920" y="3739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최적화는 기준값과 함께</a:t>
            </a:r>
            <a:endParaRPr lang="en-US" sz="1500" dirty="0"/>
          </a:p>
        </p:txBody>
      </p:sp>
      <p:sp>
        <p:nvSpPr>
          <p:cNvPr id="16" name="lesson-d-2"/>
          <p:cNvSpPr txBox="1"/>
          <p:nvPr/>
        </p:nvSpPr>
        <p:spPr>
          <a:xfrm>
            <a:off x="8503920" y="41330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INT8은 빠르지만 판정 기준을 다시 맞춰야</a:t>
            </a:r>
            <a:endParaRPr lang="en-US" sz="1200" dirty="0"/>
          </a:p>
        </p:txBody>
      </p:sp>
      <p:sp>
        <p:nvSpPr>
          <p:cNvPr id="17" name="lesson-3"/>
          <p:cNvSpPr/>
          <p:nvPr/>
        </p:nvSpPr>
        <p:spPr>
          <a:xfrm>
            <a:off x="7726680" y="480060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8" name="lesson-n-3"/>
          <p:cNvSpPr txBox="1"/>
          <p:nvPr/>
        </p:nvSpPr>
        <p:spPr>
          <a:xfrm>
            <a:off x="7955280" y="4956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19" name="lesson-h-3"/>
          <p:cNvSpPr txBox="1"/>
          <p:nvPr/>
        </p:nvSpPr>
        <p:spPr>
          <a:xfrm>
            <a:off x="8503920" y="49286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점수 ≠ 현장 성능</a:t>
            </a:r>
            <a:endParaRPr lang="en-US" sz="1500" dirty="0"/>
          </a:p>
        </p:txBody>
      </p:sp>
      <p:sp>
        <p:nvSpPr>
          <p:cNvPr id="20" name="lesson-d-3"/>
          <p:cNvSpPr txBox="1"/>
          <p:nvPr/>
        </p:nvSpPr>
        <p:spPr>
          <a:xfrm>
            <a:off x="8503920" y="5321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환경이 바뀌면 기준값이 아니라 재학습</a:t>
            </a:r>
            <a:endParaRPr lang="en-US" sz="12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데모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가상 검사 라인 · 실제 모델(ATSS)로 판정</a:t>
            </a:r>
            <a:endParaRPr lang="en-US" sz="1500" dirty="0"/>
          </a:p>
        </p:txBody>
      </p:sp>
      <p:pic>
        <p:nvPicPr>
          <p:cNvPr id="4" name="dashboard" descr="C:\Users\user\_se4nchoi\batteryvision\docs\submission\build\img\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680960" cy="3816301"/>
          </a:xfrm>
          <a:prstGeom prst="rect">
            <a:avLst/>
          </a:prstGeom>
        </p:spPr>
      </p:pic>
      <p:sp>
        <p:nvSpPr>
          <p:cNvPr id="5" name="demo-card"/>
          <p:cNvSpPr/>
          <p:nvPr/>
        </p:nvSpPr>
        <p:spPr>
          <a:xfrm>
            <a:off x="8458200" y="1645920"/>
            <a:ext cx="3182112" cy="3816301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6" name="demo-b"/>
          <p:cNvSpPr txBox="1"/>
          <p:nvPr/>
        </p:nvSpPr>
        <p:spPr>
          <a:xfrm>
            <a:off x="8686800" y="1874520"/>
            <a:ext cx="2788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카메라 → 모델 → PASS · REVIEW · REJECT 분류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결함 위치 heatmap과 모델 해시를 기록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로트별 결함 추적 (Batches)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가상 라인이며 실제 장비와 연결되지 않음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Vision Dark">
  <a:themeElements>
    <a:clrScheme name="BatteryVision Dark">
      <a:dk1>
        <a:srgbClr val="EEF1F5"/>
      </a:dk1>
      <a:lt1>
        <a:srgbClr val="16191E"/>
      </a:lt1>
      <a:dk2>
        <a:srgbClr val="9AA4B2"/>
      </a:dk2>
      <a:lt2>
        <a:srgbClr val="23272F"/>
      </a:lt2>
      <a:accent1>
        <a:srgbClr val="4FD1C5"/>
      </a:accent1>
      <a:accent2>
        <a:srgbClr val="E5534B"/>
      </a:accent2>
      <a:accent3>
        <a:srgbClr val="F2B33D"/>
      </a:accent3>
      <a:accent4>
        <a:srgbClr val="3B8BEB"/>
      </a:accent4>
      <a:accent5>
        <a:srgbClr val="EB6834"/>
      </a:accent5>
      <a:accent6>
        <a:srgbClr val="1BAF7A"/>
      </a:accent6>
      <a:hlink>
        <a:srgbClr val="4FD1C5"/>
      </a:hlink>
      <a:folHlink>
        <a:srgbClr val="9AA4B2"/>
      </a:folHlink>
    </a:clrScheme>
    <a:fontScheme name="BatteryVision Dark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표면 식별 Vision AI</dc:title>
  <dc:subject>PptxGenJS Presentation</dc:subject>
  <dc:creator>PptxGenJS</dc:creator>
  <cp:lastModifiedBy>PptxGenJS</cp:lastModifiedBy>
  <cp:revision>1</cp:revision>
  <dcterms:created xsi:type="dcterms:W3CDTF">2026-10-21T01:53:43Z</dcterms:created>
  <dcterms:modified xsi:type="dcterms:W3CDTF">2026-10-21T01:53:43Z</dcterms:modified>
</cp:coreProperties>
</file>