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fc59b71-a3ae-029e-6699-5dd83144d8bf}">
          <p14:sldIdLst>
            <p14:sldId id="256"/>
            <p14:sldId id="257"/>
          </p14:sldIdLst>
        </p14:section>
        <p14:section name="실험" id="{bde8193f-717a-5375-ea80-5f49ac4d68fb}">
          <p14:sldIdLst>
            <p14:sldId id="258"/>
            <p14:sldId id="259"/>
            <p14:sldId id="260"/>
            <p14:sldId id="261"/>
          </p14:sldIdLst>
        </p14:section>
        <p14:section name="최적화" id="{47949f94-4b1c-365b-4ae1-541cdba602b2}">
          <p14:sldIdLst>
            <p14:sldId id="262"/>
          </p14:sldIdLst>
        </p14:section>
        <p14:section name="검증" id="{1b9ad431-83c8-c39e-f745-2f243faf8572}">
          <p14:sldIdLst>
            <p14:sldId id="263"/>
          </p14:sldIdLst>
        </p14:section>
        <p14:section name="정리" id="{b9d06c33-3bf9-1a1c-f4c7-e4ab02b1a570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EEF1F5"/>
                </a:solidFill>
                <a:latin typeface="+mn-lt"/>
              </a:rPr>
              <a:t>클래스별 AP@50 (1차 테스트 131장)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crack</c:v>
                </c:pt>
              </c:strCache>
            </c:strRef>
          </c:tx>
          <c:spPr>
            <a:solidFill>
              <a:srgbClr val="E5534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scratch</c:v>
                </c:pt>
              </c:strCache>
            </c:strRef>
          </c:tx>
          <c:spPr>
            <a:solidFill>
              <a:srgbClr val="F2B3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0.858</c:v>
                </c:pt>
                <c:pt idx="1">
                  <c:v>0.784</c:v>
                </c:pt>
                <c:pt idx="2">
                  <c:v>0.664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EF1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EF1F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3A3F4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4B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EEF1F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EF1F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EEF1F5"/>
                </a:solidFill>
                <a:latin typeface="+mn-lt"/>
              </a:rPr>
              <a:t>CPU ms / 사진 (낮을수록 빠름)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FP16</c:v>
                </c:pt>
              </c:strCache>
            </c:strRef>
          </c:tx>
          <c:spPr>
            <a:solidFill>
              <a:srgbClr val="6B748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43.9</c:v>
                </c:pt>
                <c:pt idx="1">
                  <c:v>48.9</c:v>
                </c:pt>
                <c:pt idx="2">
                  <c:v>33.5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INT8</c:v>
                </c:pt>
              </c:strCache>
            </c:strRef>
          </c:tx>
          <c:spPr>
            <a:solidFill>
              <a:srgbClr val="4FD1C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EF1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ATSS</c:v>
                  </c:pt>
                  <c:pt idx="1">
                    <c:v>YOLOX-S</c:v>
                  </c:pt>
                  <c:pt idx="2">
                    <c:v>YOLOX-Tiny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24.9</c:v>
                </c:pt>
                <c:pt idx="2">
                  <c:v>8.3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EEF1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EF1F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3A3F4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4B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EEF1F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배터리 셀 표면의 crack과 scratch를 찾는 Vision AI입니다. Intel Geti로 ATSS, YOLOX-S, YOLOX-Tiny 세 모델을 학습해 비교하고, INT8로 경량화했을 때 무엇이 달라지는지 분석했습니다.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crack은 세 모델 모두 AP 1.0이지만, scratch는 0.66에서 0.86입니다. 박스 크기는 둘 다 이미지의 0.4% 안팎으로 비슷합니다. 차이는 대비입니다. crack은 어둡고 뚜렷하고, scratch는 반사나 나무결과 비슷한 흐릿한 선입니다. 이후 나오는 오류도 대부분 scratch입니다.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라벨이 이미 달린 Roboflow 공개 데이터셋을 그대로 Geti에 가져왔습니다. 목적은 모델별 성능 차이와 INT8 경량화의 효과를 보는 것입니다. 모델은 ATSS, YOLOX-S, YOLOX-Tiny 세 가지를 각각 기본 FP16, heatmap을 출력하는 FP16 XAI, 그리고 INT8로 내보내 총 9개를 비교했습니다. 한계는 분명합니다. 사진이 전부 초록 매트, 회색, 나무 탁상 위에서 찍은 탁상 사진이고, 셀당 사진은 한 장, 촬영 세션도 반복됩니다.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처음 결과는 mAP 93%로 좋아 보였습니다. 하지만 데이터를 다시 보니 문제가 있었습니다. Roboflow 데이터셋을 통째로 Geti에 올리면서 테스트 153장도 함께 들어갔고, Geti가 이를 다시 나눠 학습했습니다. 그래서 1차 테스트 사진 중 일부는 모델이 학습 때 본 사진일 수 있습니다. 게다가 22장은 학습 사진과 사실상 같은 사진이었습니다. 직접 만든 데이터셋이 아니라서 놓친 부분입니다. 그래서 1차 점수는 모델끼리 비교하는 데만 쓰고, 처음 보는 사진에서의 성능은 2차 세트로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Geti 화면입니다. 세 모델 모두 같은 2,800장으로 학습했고, Geti 점수는 ATSS 86%, 나머지 81%입니다. 다만 Roboflow가 원본마다 증강 사본 3장을 만들어 두었고 Geti가 이를 무작위로 나눴기 때문에, 같은 원본의 사본이 Geti 학습과 테스트에 함께 들어갔을 가능성이 높아 Geti 점수도 낙관적입니다. 오른쪽은 직접 만든 벤치마크로 잰 값인데 순서가 같습니다. 파라미터가 가장 적은 ATSS가 가장 정확했고, 학습에 안 쓴 2차 세트에서도 ATSS가 YOLOX-S보다 훨씬 많이 잡았습니다. 다만 '작다'는 파라미터 기준이고, 연산량은 Tiny가 가장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결론부터 말하면, crack과 scratch를 서로 헷갈린 경우는 한 번도 없고, 오류는 전부 놓친 scratch나 배경 오검출입니다. 특히 나무 탁상 배경에서 재현율이 33%로 가장 약합니다. heatmap은 YOLOX-S가 98%의 사진에서 결함을 짚지만 ATSS는 48%로, 정확도와 설명력은 별개였습니다.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수업에서 다룬 모델 최적화를 직접 써보고 싶어서, Geti에서 INT8 모델을 받아 직접 만든 벤치마크로 측정했습니다. 같은 131장을 한 장씩, 같은 CPU에서, 전처리와 후처리를 포함해 잰 값입니다. INT8은 2배에서 4배 빠르고 크기는 절반 정도이며, mAP는 그대로입니다. 대신 신뢰도 점수가 조금 낮아져 같은 기준에서는 놓치는 결함이 늘어납니다. INT8을 쓰려면 기준값을 다시 정해야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업로더가 올린 다른 세트에서, 학습에 한 번도 쓰지 않은 45장으로 제 앱에서 다시 테스트했습니다. 1차 테스트에서 결함 셀을 거의 다 잡던 모델이 ATSS 47%, YOLOX-S 3%까지 떨어집니다. 결함을 착각한 게 아니라 점수가 낮아서 통과시킨 것이고, 정상 셀을 불합격시킨 경우는 없었습니다. 기준값을 바꿔 보면, ATSS는 0.15까지 낮추면 결함 97%를 잡지만 정상 셀도 87%가 걸립니다. YOLOX-S는 다릅니다. 2차 세트 mAP@50이 0.93으로 결함을 정상보다 높게 순위 매기는 건 정확한데, 점수 자체가 낮습니다. 0.05로 낮추면 정상 오검출 없이 57%를 잡습니다. 즉 기준값은 모델마다 따로 정해야 하고, 그래도 부족하기 때문에 새 환경 사진으로 재학습이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실험 순서대로 정리했습니다. 점수가 가장 높았던 단계보다, 테스트셋이 학습 데이터에 섞인 걸 발견하고 2차 세트에서 점수가 떨어진 단계에서 더 많이 배웠습니다. 마지막으로 기준값을 낮춰 봤지만 정상 셀이 87% 걸려서, 새 환경에서는 기준값이 아니라 재학습이 필요하다는 결론입니다.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대시보드에서 실제 모델이 가상 검사 라인을 돌리는 모습을 보여드리겠습니다. (라이브 데모로 전환)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06040"/>
            <a:ext cx="4389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4343400"/>
            <a:ext cx="4297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BatteryVision · Intel Geti 실습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1488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Intel Geti · OpenVINO 실습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060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배터리 표면 식별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Vision AI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43434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ATSS · YOLOX-S · YOLOX-Tiny 모델 비교 및 INT8 경량화 분석</a:t>
            </a:r>
            <a:endParaRPr lang="en-US" sz="1600" dirty="0"/>
          </a:p>
        </p:txBody>
      </p:sp>
      <p:pic>
        <p:nvPicPr>
          <p:cNvPr id="5" name="cover-crack" descr="C:\Users\user\_se4nchoi\batteryvision\docs\submission\build\img\cover_cra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2377440"/>
            <a:ext cx="2103120" cy="2103120"/>
          </a:xfrm>
          <a:prstGeom prst="rect">
            <a:avLst/>
          </a:prstGeom>
        </p:spPr>
      </p:pic>
      <p:sp>
        <p:nvSpPr>
          <p:cNvPr id="6" name="cover-dot-crack"/>
          <p:cNvSpPr/>
          <p:nvPr/>
        </p:nvSpPr>
        <p:spPr>
          <a:xfrm>
            <a:off x="5074920" y="466344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cover-label-crack"/>
          <p:cNvSpPr txBox="1"/>
          <p:nvPr/>
        </p:nvSpPr>
        <p:spPr>
          <a:xfrm>
            <a:off x="5312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crack</a:t>
            </a:r>
            <a:endParaRPr lang="en-US" sz="1400" dirty="0"/>
          </a:p>
        </p:txBody>
      </p:sp>
      <p:pic>
        <p:nvPicPr>
          <p:cNvPr id="8" name="cover-scratch" descr="C:\Users\user\_se4nchoi\batteryvision\docs\submission\build\img\cover_scrat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377440"/>
            <a:ext cx="2103120" cy="2103120"/>
          </a:xfrm>
          <a:prstGeom prst="rect">
            <a:avLst/>
          </a:prstGeom>
        </p:spPr>
      </p:pic>
      <p:sp>
        <p:nvSpPr>
          <p:cNvPr id="9" name="cover-dot-scratch"/>
          <p:cNvSpPr/>
          <p:nvPr/>
        </p:nvSpPr>
        <p:spPr>
          <a:xfrm>
            <a:off x="7360920" y="4663440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cover-label-scratch"/>
          <p:cNvSpPr txBox="1"/>
          <p:nvPr/>
        </p:nvSpPr>
        <p:spPr>
          <a:xfrm>
            <a:off x="7598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scratch</a:t>
            </a:r>
            <a:endParaRPr lang="en-US" sz="1400" dirty="0"/>
          </a:p>
        </p:txBody>
      </p:sp>
      <p:pic>
        <p:nvPicPr>
          <p:cNvPr id="11" name="cover-정상" descr="C:\Users\user\_se4nchoi\batteryvision\docs\submission\build\img\cover_goo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377440"/>
            <a:ext cx="2103120" cy="2103120"/>
          </a:xfrm>
          <a:prstGeom prst="rect">
            <a:avLst/>
          </a:prstGeom>
        </p:spPr>
      </p:pic>
      <p:sp>
        <p:nvSpPr>
          <p:cNvPr id="12" name="cover-dot-정상"/>
          <p:cNvSpPr/>
          <p:nvPr/>
        </p:nvSpPr>
        <p:spPr>
          <a:xfrm>
            <a:off x="9646920" y="4663440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3" name="cover-label-정상"/>
          <p:cNvSpPr txBox="1"/>
          <p:nvPr/>
        </p:nvSpPr>
        <p:spPr>
          <a:xfrm>
            <a:off x="9884664" y="4590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정상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eme-backdrop" descr="C:\Users\user\_se4nchoi\batteryvision\docs\submission\build\img\mem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1600200" cy="1600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crack은 쉽고, scratch는 어려워</a:t>
            </a:r>
            <a:endParaRPr lang="en-US" sz="3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비슷한 크기, 다른 대비</a:t>
            </a:r>
            <a:endParaRPr lang="en-US" sz="1500" dirty="0"/>
          </a:p>
        </p:txBody>
      </p:sp>
      <p:sp>
        <p:nvSpPr>
          <p:cNvPr id="5" name="meme-credit"/>
          <p:cNvSpPr txBox="1"/>
          <p:nvPr/>
        </p:nvSpPr>
        <p:spPr>
          <a:xfrm>
            <a:off x="3291840" y="64190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배경 이미지: Mnet 방송 화면</a:t>
            </a:r>
            <a:endParaRPr lang="en-US" sz="900" dirty="0"/>
          </a:p>
        </p:txBody>
      </p:sp>
      <p:pic>
        <p:nvPicPr>
          <p:cNvPr id="6" name="zoom-crack" descr="C:\Users\user\_se4nchoi\batteryvision\docs\submission\build\img\zoom_crac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3108960" cy="3108960"/>
          </a:xfrm>
          <a:prstGeom prst="rect">
            <a:avLst/>
          </a:prstGeom>
        </p:spPr>
      </p:pic>
      <p:sp>
        <p:nvSpPr>
          <p:cNvPr id="7" name="zoom-dot-crack"/>
          <p:cNvSpPr/>
          <p:nvPr/>
        </p:nvSpPr>
        <p:spPr>
          <a:xfrm>
            <a:off x="548640" y="495604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zoom-cap-crack"/>
          <p:cNvSpPr txBox="1"/>
          <p:nvPr/>
        </p:nvSpPr>
        <p:spPr>
          <a:xfrm>
            <a:off x="786384" y="48828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crack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어둡고 뚜렷함</a:t>
            </a:r>
            <a:endParaRPr lang="en-US" sz="1400" dirty="0"/>
          </a:p>
        </p:txBody>
      </p:sp>
      <p:pic>
        <p:nvPicPr>
          <p:cNvPr id="9" name="zoom-scratch" descr="C:\Users\user\_se4nchoi\batteryvision\docs\submission\build\img\zoom_scratc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645920"/>
            <a:ext cx="3108960" cy="3108960"/>
          </a:xfrm>
          <a:prstGeom prst="rect">
            <a:avLst/>
          </a:prstGeom>
        </p:spPr>
      </p:pic>
      <p:sp>
        <p:nvSpPr>
          <p:cNvPr id="10" name="zoom-dot-scratch"/>
          <p:cNvSpPr/>
          <p:nvPr/>
        </p:nvSpPr>
        <p:spPr>
          <a:xfrm>
            <a:off x="3794760" y="4956048"/>
            <a:ext cx="146304" cy="146304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zoom-cap-scratch"/>
          <p:cNvSpPr txBox="1"/>
          <p:nvPr/>
        </p:nvSpPr>
        <p:spPr>
          <a:xfrm>
            <a:off x="4032504" y="488289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scratch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가늘고 흐릿함</a:t>
            </a:r>
            <a:endParaRPr lang="en-US" sz="1400" dirty="0"/>
          </a:p>
        </p:txBody>
      </p:sp>
      <p:sp>
        <p:nvSpPr>
          <p:cNvPr id="12" name="size-line"/>
          <p:cNvSpPr txBox="1"/>
          <p:nvPr/>
        </p:nvSpPr>
        <p:spPr>
          <a:xfrm>
            <a:off x="548640" y="54864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박스 크기 중앙값 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crack 0.39% · scratch 0.44%</a:t>
            </a:r>
            <a:endParaRPr lang="en-US" sz="1600" dirty="0"/>
          </a:p>
        </p:txBody>
      </p:sp>
      <p:graphicFrame>
        <p:nvGraphicFramePr>
          <p:cNvPr id="13" name="ap-chart" descr=""/>
          <p:cNvGraphicFramePr/>
          <p:nvPr/>
        </p:nvGraphicFramePr>
        <p:xfrm>
          <a:off x="7223760" y="1645920"/>
          <a:ext cx="4416552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실험 설계</a:t>
            </a:r>
            <a:endParaRPr lang="en-US" sz="3200" dirty="0"/>
          </a:p>
        </p:txBody>
      </p:sp>
      <p:sp>
        <p:nvSpPr>
          <p:cNvPr id="3" name="dataset-card"/>
          <p:cNvSpPr/>
          <p:nvPr/>
        </p:nvSpPr>
        <p:spPr>
          <a:xfrm>
            <a:off x="548640" y="1645920"/>
            <a:ext cx="5394960" cy="4572000"/>
          </a:xfrm>
          <a:prstGeom prst="roundRect">
            <a:avLst>
              <a:gd name="adj" fmla="val 1600"/>
            </a:avLst>
          </a:prstGeom>
          <a:solidFill>
            <a:schemeClr val="bg2"/>
          </a:solidFill>
          <a:ln/>
        </p:spPr>
      </p:sp>
      <p:sp>
        <p:nvSpPr>
          <p:cNvPr id="4" name="ds-h"/>
          <p:cNvSpPr txBox="1"/>
          <p:nvPr/>
        </p:nvSpPr>
        <p:spPr>
          <a:xfrm>
            <a:off x="82296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데이터셋</a:t>
            </a:r>
            <a:endParaRPr lang="en-US" sz="1600" dirty="0"/>
          </a:p>
        </p:txBody>
      </p:sp>
      <p:sp>
        <p:nvSpPr>
          <p:cNvPr id="5" name="ds-b"/>
          <p:cNvSpPr txBox="1"/>
          <p:nvPr/>
        </p:nvSpPr>
        <p:spPr>
          <a:xfrm>
            <a:off x="822960" y="2194560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Roboflow 공개 데이터셋 · 라벨 포함 그대로 import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crack · scratch · 원본 1,531장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목적: 모델별 성능 비교 · INT8 효과</a:t>
            </a:r>
            <a:endParaRPr lang="en-US" sz="1400" dirty="0"/>
          </a:p>
        </p:txBody>
      </p:sp>
      <p:sp>
        <p:nvSpPr>
          <p:cNvPr id="6" name="limit-h"/>
          <p:cNvSpPr txBox="1"/>
          <p:nvPr/>
        </p:nvSpPr>
        <p:spPr>
          <a:xfrm>
            <a:off x="822960" y="36118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한계</a:t>
            </a:r>
            <a:endParaRPr lang="en-US" sz="1600" dirty="0"/>
          </a:p>
        </p:txBody>
      </p:sp>
      <p:pic>
        <p:nvPicPr>
          <p:cNvPr id="7" name="bg-0" descr="C:\Users\user\_se4nchoi\batteryvision\docs\submission\build\img\bg_gre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023360"/>
            <a:ext cx="1508760" cy="1508760"/>
          </a:xfrm>
          <a:prstGeom prst="rect">
            <a:avLst/>
          </a:prstGeom>
        </p:spPr>
      </p:pic>
      <p:sp>
        <p:nvSpPr>
          <p:cNvPr id="8" name="bg-l-0"/>
          <p:cNvSpPr txBox="1"/>
          <p:nvPr/>
        </p:nvSpPr>
        <p:spPr>
          <a:xfrm>
            <a:off x="82296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초록 매트</a:t>
            </a:r>
            <a:endParaRPr lang="en-US" sz="1200" dirty="0"/>
          </a:p>
        </p:txBody>
      </p:sp>
      <p:pic>
        <p:nvPicPr>
          <p:cNvPr id="9" name="bg-1" descr="C:\Users\user\_se4nchoi\batteryvision\docs\submission\build\img\bg_gre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4023360"/>
            <a:ext cx="1508760" cy="1508760"/>
          </a:xfrm>
          <a:prstGeom prst="rect">
            <a:avLst/>
          </a:prstGeom>
        </p:spPr>
      </p:pic>
      <p:sp>
        <p:nvSpPr>
          <p:cNvPr id="10" name="bg-l-1"/>
          <p:cNvSpPr txBox="1"/>
          <p:nvPr/>
        </p:nvSpPr>
        <p:spPr>
          <a:xfrm>
            <a:off x="246888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회색</a:t>
            </a:r>
            <a:endParaRPr lang="en-US" sz="1200" dirty="0"/>
          </a:p>
        </p:txBody>
      </p:sp>
      <p:pic>
        <p:nvPicPr>
          <p:cNvPr id="11" name="bg-2" descr="C:\Users\user\_se4nchoi\batteryvision\docs\submission\build\img\bg_woo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023360"/>
            <a:ext cx="1508760" cy="1508760"/>
          </a:xfrm>
          <a:prstGeom prst="rect">
            <a:avLst/>
          </a:prstGeom>
        </p:spPr>
      </p:pic>
      <p:sp>
        <p:nvSpPr>
          <p:cNvPr id="12" name="bg-l-2"/>
          <p:cNvSpPr txBox="1"/>
          <p:nvPr/>
        </p:nvSpPr>
        <p:spPr>
          <a:xfrm>
            <a:off x="4114800" y="5577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나무 탁상</a:t>
            </a:r>
            <a:endParaRPr lang="en-US" sz="1200" dirty="0"/>
          </a:p>
        </p:txBody>
      </p:sp>
      <p:sp>
        <p:nvSpPr>
          <p:cNvPr id="13" name="limit-t"/>
          <p:cNvSpPr txBox="1"/>
          <p:nvPr/>
        </p:nvSpPr>
        <p:spPr>
          <a:xfrm>
            <a:off x="822960" y="5852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탁상 촬영 · 셀당 사진 1장 · 같은 촬영 세션 반복</a:t>
            </a:r>
            <a:endParaRPr lang="en-US" sz="1300" dirty="0"/>
          </a:p>
        </p:txBody>
      </p:sp>
      <p:sp>
        <p:nvSpPr>
          <p:cNvPr id="14" name="grid-h"/>
          <p:cNvSpPr txBox="1"/>
          <p:nvPr/>
        </p:nvSpPr>
        <p:spPr>
          <a:xfrm>
            <a:off x="61722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모델 9종 = 아키텍처 3 × 내보내기 3</a:t>
            </a:r>
            <a:endParaRPr lang="en-US" sz="1600" dirty="0"/>
          </a:p>
        </p:txBody>
      </p:sp>
      <p:graphicFrame>
        <p:nvGraphicFramePr>
          <p:cNvPr id="4" name="model-gri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103120"/>
          <a:ext cx="5468112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1097280"/>
                <a:gridCol w="128016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FP16 + XAI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INT8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ATSS-MobileNetV2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YOLOX-Tiny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 MB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16" name="legend-card"/>
          <p:cNvSpPr/>
          <p:nvPr/>
        </p:nvSpPr>
        <p:spPr>
          <a:xfrm>
            <a:off x="6172200" y="4572000"/>
            <a:ext cx="5468112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17" name="legend"/>
          <p:cNvSpPr txBox="1"/>
          <p:nvPr/>
        </p:nvSpPr>
        <p:spPr>
          <a:xfrm>
            <a:off x="6446520" y="47091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XAI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결함 위치 heatmap 출력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INT8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양자화 경량화</a:t>
            </a:r>
            <a:endParaRPr lang="en-US" sz="1400" dirty="0"/>
          </a:p>
        </p:txBody>
      </p:sp>
      <p:sp>
        <p:nvSpPr>
          <p:cNvPr id="18" name="credit"/>
          <p:cNvSpPr txBox="1"/>
          <p:nvPr/>
        </p:nvSpPr>
        <p:spPr>
          <a:xfrm>
            <a:off x="548640" y="62362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데이터: Battery Defect Inspection v8 (Roboflow Universe), CC BY 4.0</a:t>
            </a:r>
            <a:endParaRPr lang="en-US" sz="9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높은 결과에 숨은 함정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1차 테스트 93%, 그런데 테스트 사진이 학습 데이터에 섞여 있었다</a:t>
            </a:r>
            <a:endParaRPr lang="en-US" sz="1500" dirty="0"/>
          </a:p>
        </p:txBody>
      </p:sp>
      <p:sp>
        <p:nvSpPr>
          <p:cNvPr id="4" name="upload-card"/>
          <p:cNvSpPr/>
          <p:nvPr/>
        </p:nvSpPr>
        <p:spPr>
          <a:xfrm>
            <a:off x="548640" y="1645920"/>
            <a:ext cx="443484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up-h"/>
          <p:cNvSpPr txBox="1"/>
          <p:nvPr/>
        </p:nvSpPr>
        <p:spPr>
          <a:xfrm>
            <a:off x="822960" y="1783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테스트셋까지 Geti에 업로드</a:t>
            </a:r>
            <a:endParaRPr lang="en-US" sz="1600" dirty="0"/>
          </a:p>
        </p:txBody>
      </p:sp>
      <p:sp>
        <p:nvSpPr>
          <p:cNvPr id="6" name="up-n"/>
          <p:cNvSpPr txBox="1"/>
          <p:nvPr/>
        </p:nvSpPr>
        <p:spPr>
          <a:xfrm>
            <a:off x="822960" y="2240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3,673장</a:t>
            </a:r>
            <a:endParaRPr lang="en-US" sz="4400" dirty="0"/>
          </a:p>
        </p:txBody>
      </p:sp>
      <p:sp>
        <p:nvSpPr>
          <p:cNvPr id="7" name="up-b"/>
          <p:cNvSpPr txBox="1"/>
          <p:nvPr/>
        </p:nvSpPr>
        <p:spPr>
          <a:xfrm>
            <a:off x="822960" y="31089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= 학습 3,214 + 검증 306 + 테스트 153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Geti가 약 2,800장을 70/20/10으로 재분할</a:t>
            </a:r>
            <a:endParaRPr lang="en-US" sz="1400" dirty="0"/>
          </a:p>
        </p:txBody>
      </p:sp>
      <p:pic>
        <p:nvPicPr>
          <p:cNvPr id="8" name="dup-0" descr="C:\Users\user\_se4nchoi\batteryvision\docs\submission\build\img\dup_t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645920"/>
            <a:ext cx="2377440" cy="2377440"/>
          </a:xfrm>
          <a:prstGeom prst="rect">
            <a:avLst/>
          </a:prstGeom>
        </p:spPr>
      </p:pic>
      <p:sp>
        <p:nvSpPr>
          <p:cNvPr id="9" name="dup-l-0"/>
          <p:cNvSpPr txBox="1"/>
          <p:nvPr/>
        </p:nvSpPr>
        <p:spPr>
          <a:xfrm>
            <a:off x="51663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테스트 사진</a:t>
            </a:r>
            <a:endParaRPr lang="en-US" sz="1300" dirty="0"/>
          </a:p>
        </p:txBody>
      </p:sp>
      <p:pic>
        <p:nvPicPr>
          <p:cNvPr id="10" name="dup-1" descr="C:\Users\user\_se4nchoi\batteryvision\docs\submission\build\img\dup_tra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645920"/>
            <a:ext cx="2377440" cy="2377440"/>
          </a:xfrm>
          <a:prstGeom prst="rect">
            <a:avLst/>
          </a:prstGeom>
        </p:spPr>
      </p:pic>
      <p:sp>
        <p:nvSpPr>
          <p:cNvPr id="11" name="dup-l-1"/>
          <p:cNvSpPr txBox="1"/>
          <p:nvPr/>
        </p:nvSpPr>
        <p:spPr>
          <a:xfrm>
            <a:off x="76809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학습 사진</a:t>
            </a:r>
            <a:endParaRPr lang="en-US" sz="1300" dirty="0"/>
          </a:p>
        </p:txBody>
      </p:sp>
      <p:sp>
        <p:nvSpPr>
          <p:cNvPr id="12" name="nd-card"/>
          <p:cNvSpPr/>
          <p:nvPr/>
        </p:nvSpPr>
        <p:spPr>
          <a:xfrm>
            <a:off x="10241280" y="1645920"/>
            <a:ext cx="1399032" cy="2377440"/>
          </a:xfrm>
          <a:prstGeom prst="roundRect">
            <a:avLst>
              <a:gd name="adj" fmla="val 5229"/>
            </a:avLst>
          </a:prstGeom>
          <a:solidFill>
            <a:schemeClr val="bg2"/>
          </a:solidFill>
          <a:ln/>
        </p:spPr>
      </p:sp>
      <p:sp>
        <p:nvSpPr>
          <p:cNvPr id="13" name="nd-n"/>
          <p:cNvSpPr txBox="1"/>
          <p:nvPr/>
        </p:nvSpPr>
        <p:spPr>
          <a:xfrm>
            <a:off x="10287000" y="2103120"/>
            <a:ext cx="1307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22장</a:t>
            </a:r>
            <a:endParaRPr lang="en-US" sz="2800" dirty="0"/>
          </a:p>
        </p:txBody>
      </p:sp>
      <p:sp>
        <p:nvSpPr>
          <p:cNvPr id="14" name="nd-l"/>
          <p:cNvSpPr txBox="1"/>
          <p:nvPr/>
        </p:nvSpPr>
        <p:spPr>
          <a:xfrm>
            <a:off x="10287000" y="2743200"/>
            <a:ext cx="1307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학습 사진의 복사본</a:t>
            </a:r>
            <a:endParaRPr lang="en-US" sz="1200" dirty="0"/>
          </a:p>
        </p:txBody>
      </p:sp>
      <p:sp>
        <p:nvSpPr>
          <p:cNvPr id="15" name="dup-cap"/>
          <p:cNvSpPr txBox="1"/>
          <p:nvPr/>
        </p:nvSpPr>
        <p:spPr>
          <a:xfrm>
            <a:off x="7680960" y="4069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dHash 거리 4 / 256</a:t>
            </a:r>
            <a:endParaRPr lang="en-US" sz="1200" dirty="0"/>
          </a:p>
        </p:txBody>
      </p:sp>
      <p:sp>
        <p:nvSpPr>
          <p:cNvPr id="16" name="lesson-card"/>
          <p:cNvSpPr/>
          <p:nvPr/>
        </p:nvSpPr>
        <p:spPr>
          <a:xfrm>
            <a:off x="548640" y="4617720"/>
            <a:ext cx="11094415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7" name="lesson-h"/>
          <p:cNvSpPr txBox="1"/>
          <p:nvPr/>
        </p:nvSpPr>
        <p:spPr>
          <a:xfrm>
            <a:off x="82296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1차 테스트 점수는</a:t>
            </a:r>
            <a:endParaRPr lang="en-US" sz="1600" dirty="0"/>
          </a:p>
        </p:txBody>
      </p:sp>
      <p:sp>
        <p:nvSpPr>
          <p:cNvPr id="18" name="lesson-b"/>
          <p:cNvSpPr txBox="1"/>
          <p:nvPr/>
        </p:nvSpPr>
        <p:spPr>
          <a:xfrm>
            <a:off x="822960" y="5138928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학습에 쓴 사진 포함 가능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모델 간 비교용 · 실제 성능은 2차 세트로</a:t>
            </a:r>
            <a:endParaRPr lang="en-US" sz="1400" dirty="0"/>
          </a:p>
        </p:txBody>
      </p:sp>
      <p:sp>
        <p:nvSpPr>
          <p:cNvPr id="19" name="lesson-t"/>
          <p:cNvSpPr txBox="1"/>
          <p:nvPr/>
        </p:nvSpPr>
        <p:spPr>
          <a:xfrm>
            <a:off x="7726680" y="5138928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교훈: 테스트셋은 업로드 전에 분리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작은 모델이 더 맵다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FP16 기준 · Geti 화면 vs 직접 측정</a:t>
            </a:r>
            <a:endParaRPr lang="en-US" sz="1500" dirty="0"/>
          </a:p>
        </p:txBody>
      </p:sp>
      <p:pic>
        <p:nvPicPr>
          <p:cNvPr id="4" name="geti-models" descr="C:\Users\user\_se4nchoi\batteryvision\docs\submission\build\img\geti_mod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730949" cy="4023360"/>
          </a:xfrm>
          <a:prstGeom prst="rect">
            <a:avLst/>
          </a:prstGeom>
        </p:spPr>
      </p:pic>
      <p:sp>
        <p:nvSpPr>
          <p:cNvPr id="5" name="geti-caveat"/>
          <p:cNvSpPr txBox="1"/>
          <p:nvPr/>
        </p:nvSpPr>
        <p:spPr>
          <a:xfrm>
            <a:off x="548640" y="5687568"/>
            <a:ext cx="373094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Geti 점수도 낙관적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같은 원본의 ×3 증강 사본이 Geti 학습·테스트에 함께 분할됐을 가능성</a:t>
            </a:r>
            <a:endParaRPr lang="en-US" sz="1100" dirty="0"/>
          </a:p>
        </p:txBody>
      </p:sp>
      <p:sp>
        <p:nvSpPr>
          <p:cNvPr id="6" name="own-h"/>
          <p:cNvSpPr txBox="1"/>
          <p:nvPr/>
        </p:nvSpPr>
        <p:spPr>
          <a:xfrm>
            <a:off x="4599629" y="1600200"/>
            <a:ext cx="704342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직접 측정 · 1차 테스트 131장</a:t>
            </a:r>
            <a:endParaRPr lang="en-US" sz="1600" dirty="0"/>
          </a:p>
        </p:txBody>
      </p:sp>
      <p:sp>
        <p:nvSpPr>
          <p:cNvPr id="7" name="own-col-0"/>
          <p:cNvSpPr txBox="1"/>
          <p:nvPr/>
        </p:nvSpPr>
        <p:spPr>
          <a:xfrm>
            <a:off x="7114229" y="2011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mAP@50</a:t>
            </a:r>
            <a:endParaRPr lang="en-US" sz="1200" dirty="0"/>
          </a:p>
        </p:txBody>
      </p:sp>
      <p:sp>
        <p:nvSpPr>
          <p:cNvPr id="8" name="own-col-1"/>
          <p:cNvSpPr txBox="1"/>
          <p:nvPr/>
        </p:nvSpPr>
        <p:spPr>
          <a:xfrm>
            <a:off x="8760149" y="2011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scratch AP</a:t>
            </a:r>
            <a:endParaRPr lang="en-US" sz="1200" dirty="0"/>
          </a:p>
        </p:txBody>
      </p:sp>
      <p:sp>
        <p:nvSpPr>
          <p:cNvPr id="9" name="own-col-2"/>
          <p:cNvSpPr txBox="1"/>
          <p:nvPr/>
        </p:nvSpPr>
        <p:spPr>
          <a:xfrm>
            <a:off x="9628829" y="2011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2차 세트 검출</a:t>
            </a:r>
            <a:endParaRPr lang="en-US" sz="1200" dirty="0"/>
          </a:p>
        </p:txBody>
      </p:sp>
      <p:sp>
        <p:nvSpPr>
          <p:cNvPr id="10" name="own-row-0"/>
          <p:cNvSpPr/>
          <p:nvPr/>
        </p:nvSpPr>
        <p:spPr>
          <a:xfrm>
            <a:off x="4599629" y="2377440"/>
            <a:ext cx="7043426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1" name="own-dot-0"/>
          <p:cNvSpPr/>
          <p:nvPr/>
        </p:nvSpPr>
        <p:spPr>
          <a:xfrm>
            <a:off x="4828229" y="2606040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own-n-0"/>
          <p:cNvSpPr txBox="1"/>
          <p:nvPr/>
        </p:nvSpPr>
        <p:spPr>
          <a:xfrm>
            <a:off x="5056829" y="2514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ATSS-MobileNetV2</a:t>
            </a:r>
            <a:endParaRPr lang="en-US" sz="1500" dirty="0"/>
          </a:p>
        </p:txBody>
      </p:sp>
      <p:sp>
        <p:nvSpPr>
          <p:cNvPr id="13" name="own-s-0"/>
          <p:cNvSpPr txBox="1"/>
          <p:nvPr/>
        </p:nvSpPr>
        <p:spPr>
          <a:xfrm>
            <a:off x="5056829" y="2926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3.9M · 20.6 GFLOPs</a:t>
            </a:r>
            <a:endParaRPr lang="en-US" sz="1200" dirty="0"/>
          </a:p>
        </p:txBody>
      </p:sp>
      <p:sp>
        <p:nvSpPr>
          <p:cNvPr id="14" name="own-m-0"/>
          <p:cNvSpPr txBox="1"/>
          <p:nvPr/>
        </p:nvSpPr>
        <p:spPr>
          <a:xfrm>
            <a:off x="7114229" y="248716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4"/>
                </a:solidFill>
              </a:rPr>
              <a:t>92.9%</a:t>
            </a:r>
            <a:endParaRPr lang="en-US" sz="3400" dirty="0"/>
          </a:p>
        </p:txBody>
      </p:sp>
      <p:sp>
        <p:nvSpPr>
          <p:cNvPr id="15" name="own-a-0"/>
          <p:cNvSpPr txBox="1"/>
          <p:nvPr/>
        </p:nvSpPr>
        <p:spPr>
          <a:xfrm>
            <a:off x="8760149" y="248716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0.86</a:t>
            </a:r>
            <a:endParaRPr lang="en-US" sz="1800" dirty="0"/>
          </a:p>
        </p:txBody>
      </p:sp>
      <p:sp>
        <p:nvSpPr>
          <p:cNvPr id="16" name="own-h2-0"/>
          <p:cNvSpPr txBox="1"/>
          <p:nvPr/>
        </p:nvSpPr>
        <p:spPr>
          <a:xfrm>
            <a:off x="9903149" y="248716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47%</a:t>
            </a:r>
            <a:endParaRPr lang="en-US" sz="1800" dirty="0"/>
          </a:p>
        </p:txBody>
      </p:sp>
      <p:sp>
        <p:nvSpPr>
          <p:cNvPr id="17" name="best-badge"/>
          <p:cNvSpPr/>
          <p:nvPr/>
        </p:nvSpPr>
        <p:spPr>
          <a:xfrm>
            <a:off x="6519869" y="2944368"/>
            <a:ext cx="502920" cy="237744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sp>
        <p:nvSpPr>
          <p:cNvPr id="18" name="best-t"/>
          <p:cNvSpPr txBox="1"/>
          <p:nvPr/>
        </p:nvSpPr>
        <p:spPr>
          <a:xfrm>
            <a:off x="6519869" y="294436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best</a:t>
            </a:r>
            <a:endParaRPr lang="en-US" sz="1000" dirty="0"/>
          </a:p>
        </p:txBody>
      </p:sp>
      <p:sp>
        <p:nvSpPr>
          <p:cNvPr id="19" name="own-row-1"/>
          <p:cNvSpPr/>
          <p:nvPr/>
        </p:nvSpPr>
        <p:spPr>
          <a:xfrm>
            <a:off x="4599629" y="3566160"/>
            <a:ext cx="7043426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20" name="own-dot-1"/>
          <p:cNvSpPr/>
          <p:nvPr/>
        </p:nvSpPr>
        <p:spPr>
          <a:xfrm>
            <a:off x="4828229" y="3794760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1" name="own-n-1"/>
          <p:cNvSpPr txBox="1"/>
          <p:nvPr/>
        </p:nvSpPr>
        <p:spPr>
          <a:xfrm>
            <a:off x="5056829" y="3703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YOLOX-S</a:t>
            </a:r>
            <a:endParaRPr lang="en-US" sz="1500" dirty="0"/>
          </a:p>
        </p:txBody>
      </p:sp>
      <p:sp>
        <p:nvSpPr>
          <p:cNvPr id="22" name="own-s-1"/>
          <p:cNvSpPr txBox="1"/>
          <p:nvPr/>
        </p:nvSpPr>
        <p:spPr>
          <a:xfrm>
            <a:off x="5056829" y="4114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9M · 26.8 GFLOPs</a:t>
            </a:r>
            <a:endParaRPr lang="en-US" sz="1200" dirty="0"/>
          </a:p>
        </p:txBody>
      </p:sp>
      <p:sp>
        <p:nvSpPr>
          <p:cNvPr id="23" name="own-m-1"/>
          <p:cNvSpPr txBox="1"/>
          <p:nvPr/>
        </p:nvSpPr>
        <p:spPr>
          <a:xfrm>
            <a:off x="7114229" y="367588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5"/>
                </a:solidFill>
              </a:rPr>
              <a:t>89.2%</a:t>
            </a:r>
            <a:endParaRPr lang="en-US" sz="3400" dirty="0"/>
          </a:p>
        </p:txBody>
      </p:sp>
      <p:sp>
        <p:nvSpPr>
          <p:cNvPr id="24" name="own-a-1"/>
          <p:cNvSpPr txBox="1"/>
          <p:nvPr/>
        </p:nvSpPr>
        <p:spPr>
          <a:xfrm>
            <a:off x="8760149" y="367588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0.78</a:t>
            </a:r>
            <a:endParaRPr lang="en-US" sz="1800" dirty="0"/>
          </a:p>
        </p:txBody>
      </p:sp>
      <p:sp>
        <p:nvSpPr>
          <p:cNvPr id="25" name="own-h2-1"/>
          <p:cNvSpPr txBox="1"/>
          <p:nvPr/>
        </p:nvSpPr>
        <p:spPr>
          <a:xfrm>
            <a:off x="9903149" y="367588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3%</a:t>
            </a:r>
            <a:endParaRPr lang="en-US" sz="1800" dirty="0"/>
          </a:p>
        </p:txBody>
      </p:sp>
      <p:sp>
        <p:nvSpPr>
          <p:cNvPr id="26" name="own-row-2"/>
          <p:cNvSpPr/>
          <p:nvPr/>
        </p:nvSpPr>
        <p:spPr>
          <a:xfrm>
            <a:off x="4599629" y="4754880"/>
            <a:ext cx="7043426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27" name="own-dot-2"/>
          <p:cNvSpPr/>
          <p:nvPr/>
        </p:nvSpPr>
        <p:spPr>
          <a:xfrm>
            <a:off x="4828229" y="4983480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8" name="own-n-2"/>
          <p:cNvSpPr txBox="1"/>
          <p:nvPr/>
        </p:nvSpPr>
        <p:spPr>
          <a:xfrm>
            <a:off x="5056829" y="4892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YOLOX-Tiny</a:t>
            </a:r>
            <a:endParaRPr lang="en-US" sz="1500" dirty="0"/>
          </a:p>
        </p:txBody>
      </p:sp>
      <p:sp>
        <p:nvSpPr>
          <p:cNvPr id="29" name="own-s-2"/>
          <p:cNvSpPr txBox="1"/>
          <p:nvPr/>
        </p:nvSpPr>
        <p:spPr>
          <a:xfrm>
            <a:off x="5056829" y="5303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5.06M · 6.45 GFLOPs</a:t>
            </a:r>
            <a:endParaRPr lang="en-US" sz="1200" dirty="0"/>
          </a:p>
        </p:txBody>
      </p:sp>
      <p:sp>
        <p:nvSpPr>
          <p:cNvPr id="30" name="own-m-2"/>
          <p:cNvSpPr txBox="1"/>
          <p:nvPr/>
        </p:nvSpPr>
        <p:spPr>
          <a:xfrm>
            <a:off x="7114229" y="4864608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83.2%</a:t>
            </a:r>
            <a:endParaRPr lang="en-US" sz="3400" dirty="0"/>
          </a:p>
        </p:txBody>
      </p:sp>
      <p:sp>
        <p:nvSpPr>
          <p:cNvPr id="31" name="own-a-2"/>
          <p:cNvSpPr txBox="1"/>
          <p:nvPr/>
        </p:nvSpPr>
        <p:spPr>
          <a:xfrm>
            <a:off x="8760149" y="48646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0.66</a:t>
            </a:r>
            <a:endParaRPr lang="en-US" sz="1800" dirty="0"/>
          </a:p>
        </p:txBody>
      </p:sp>
      <p:sp>
        <p:nvSpPr>
          <p:cNvPr id="32" name="own-h2-2"/>
          <p:cNvSpPr txBox="1"/>
          <p:nvPr/>
        </p:nvSpPr>
        <p:spPr>
          <a:xfrm>
            <a:off x="9903149" y="4864608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47%</a:t>
            </a:r>
            <a:endParaRPr lang="en-US" sz="1800" dirty="0"/>
          </a:p>
        </p:txBody>
      </p:sp>
      <p:sp>
        <p:nvSpPr>
          <p:cNvPr id="33" name="own-note"/>
          <p:cNvSpPr txBox="1"/>
          <p:nvPr/>
        </p:nvSpPr>
        <p:spPr>
          <a:xfrm>
            <a:off x="4599629" y="5943600"/>
            <a:ext cx="7043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Geti 점수와 같은 순서 · 작은 = 파라미터 기준 (연산량은 Tiny 최소)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오류 분석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ATSS · 검토 기준 0.30 · 1차 테스트</a:t>
            </a:r>
            <a:endParaRPr lang="en-US" sz="1500" dirty="0"/>
          </a:p>
        </p:txBody>
      </p:sp>
      <p:sp>
        <p:nvSpPr>
          <p:cNvPr id="4" name="conclusion-band"/>
          <p:cNvSpPr/>
          <p:nvPr/>
        </p:nvSpPr>
        <p:spPr>
          <a:xfrm>
            <a:off x="548640" y="16002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23272F"/>
          </a:solidFill>
          <a:ln/>
        </p:spPr>
      </p:sp>
      <p:sp>
        <p:nvSpPr>
          <p:cNvPr id="5" name="conclusion"/>
          <p:cNvSpPr txBox="1"/>
          <p:nvPr/>
        </p:nvSpPr>
        <p:spPr>
          <a:xfrm>
            <a:off x="822960" y="164592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혼동 0건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  ·  오류는 전부 놓친 scratch  ·  </a:t>
            </a:r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나무 배경에서 가장 약함</a:t>
            </a:r>
            <a:endParaRPr lang="en-US" sz="2200" dirty="0"/>
          </a:p>
        </p:txBody>
      </p:sp>
      <p:graphicFrame>
        <p:nvGraphicFramePr>
          <p:cNvPr id="7" name="confus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54864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34440"/>
                <a:gridCol w="1234440"/>
                <a:gridCol w="12344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정답 ↓  예측 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crack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scratch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crack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scratch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59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배경 (오검출)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7" name="bg-recall-card"/>
          <p:cNvSpPr/>
          <p:nvPr/>
        </p:nvSpPr>
        <p:spPr>
          <a:xfrm>
            <a:off x="548640" y="4572000"/>
            <a:ext cx="548640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/>
        </p:spPr>
      </p:sp>
      <p:sp>
        <p:nvSpPr>
          <p:cNvPr id="8" name="bgr-h"/>
          <p:cNvSpPr txBox="1"/>
          <p:nvPr/>
        </p:nvSpPr>
        <p:spPr>
          <a:xfrm>
            <a:off x="822960" y="46634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배경별 박스 재현율 (불합격 기준 0.60)</a:t>
            </a:r>
            <a:endParaRPr lang="en-US" sz="1400" dirty="0"/>
          </a:p>
        </p:txBody>
      </p:sp>
      <p:sp>
        <p:nvSpPr>
          <p:cNvPr id="9" name="bgr-l-0"/>
          <p:cNvSpPr txBox="1"/>
          <p:nvPr/>
        </p:nvSpPr>
        <p:spPr>
          <a:xfrm>
            <a:off x="822960" y="50292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초록 매트</a:t>
            </a:r>
            <a:endParaRPr lang="en-US" sz="1300" dirty="0"/>
          </a:p>
        </p:txBody>
      </p:sp>
      <p:sp>
        <p:nvSpPr>
          <p:cNvPr id="10" name="bgr-track-0"/>
          <p:cNvSpPr/>
          <p:nvPr/>
        </p:nvSpPr>
        <p:spPr>
          <a:xfrm>
            <a:off x="2103120" y="5102352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1" name="bgr-fill-0"/>
          <p:cNvSpPr/>
          <p:nvPr/>
        </p:nvSpPr>
        <p:spPr>
          <a:xfrm>
            <a:off x="2103120" y="5102352"/>
            <a:ext cx="2172614" cy="1645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" name="bgr-v-0"/>
          <p:cNvSpPr txBox="1"/>
          <p:nvPr/>
        </p:nvSpPr>
        <p:spPr>
          <a:xfrm>
            <a:off x="5212080" y="50292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72%</a:t>
            </a:r>
            <a:endParaRPr lang="en-US" sz="1300" dirty="0"/>
          </a:p>
        </p:txBody>
      </p:sp>
      <p:sp>
        <p:nvSpPr>
          <p:cNvPr id="13" name="bgr-l-1"/>
          <p:cNvSpPr txBox="1"/>
          <p:nvPr/>
        </p:nvSpPr>
        <p:spPr>
          <a:xfrm>
            <a:off x="822960" y="53949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회색</a:t>
            </a:r>
            <a:endParaRPr lang="en-US" sz="1300" dirty="0"/>
          </a:p>
        </p:txBody>
      </p:sp>
      <p:sp>
        <p:nvSpPr>
          <p:cNvPr id="14" name="bgr-track-1"/>
          <p:cNvSpPr/>
          <p:nvPr/>
        </p:nvSpPr>
        <p:spPr>
          <a:xfrm>
            <a:off x="2103120" y="5468112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5" name="bgr-fill-1"/>
          <p:cNvSpPr/>
          <p:nvPr/>
        </p:nvSpPr>
        <p:spPr>
          <a:xfrm>
            <a:off x="2103120" y="5468112"/>
            <a:ext cx="2263140" cy="16459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bgr-v-1"/>
          <p:cNvSpPr txBox="1"/>
          <p:nvPr/>
        </p:nvSpPr>
        <p:spPr>
          <a:xfrm>
            <a:off x="5212080" y="539496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75%</a:t>
            </a:r>
            <a:endParaRPr lang="en-US" sz="1300" dirty="0"/>
          </a:p>
        </p:txBody>
      </p:sp>
      <p:sp>
        <p:nvSpPr>
          <p:cNvPr id="17" name="bgr-l-2"/>
          <p:cNvSpPr txBox="1"/>
          <p:nvPr/>
        </p:nvSpPr>
        <p:spPr>
          <a:xfrm>
            <a:off x="822960" y="5760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나무 탁상</a:t>
            </a:r>
            <a:endParaRPr lang="en-US" sz="1300" dirty="0"/>
          </a:p>
        </p:txBody>
      </p:sp>
      <p:sp>
        <p:nvSpPr>
          <p:cNvPr id="18" name="bgr-track-2"/>
          <p:cNvSpPr/>
          <p:nvPr/>
        </p:nvSpPr>
        <p:spPr>
          <a:xfrm>
            <a:off x="2103120" y="5833872"/>
            <a:ext cx="3017520" cy="164592"/>
          </a:xfrm>
          <a:prstGeom prst="rect">
            <a:avLst/>
          </a:prstGeom>
          <a:solidFill>
            <a:srgbClr val="3A3F48"/>
          </a:solidFill>
          <a:ln/>
        </p:spPr>
      </p:sp>
      <p:sp>
        <p:nvSpPr>
          <p:cNvPr id="19" name="bgr-fill-2"/>
          <p:cNvSpPr/>
          <p:nvPr/>
        </p:nvSpPr>
        <p:spPr>
          <a:xfrm>
            <a:off x="2103120" y="5833872"/>
            <a:ext cx="995782" cy="16459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0" name="bgr-v-2"/>
          <p:cNvSpPr txBox="1"/>
          <p:nvPr/>
        </p:nvSpPr>
        <p:spPr>
          <a:xfrm>
            <a:off x="5212080" y="57607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33%</a:t>
            </a:r>
            <a:endParaRPr lang="en-US" sz="1300" dirty="0"/>
          </a:p>
        </p:txBody>
      </p:sp>
      <p:pic>
        <p:nvPicPr>
          <p:cNvPr id="21" name="heat-0" descr="C:\Users\user\_se4nchoi\batteryvision\docs\submission\build\img\heat_at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606040"/>
            <a:ext cx="2633472" cy="2633472"/>
          </a:xfrm>
          <a:prstGeom prst="rect">
            <a:avLst/>
          </a:prstGeom>
        </p:spPr>
      </p:pic>
      <p:sp>
        <p:nvSpPr>
          <p:cNvPr id="22" name="heat-dot-0"/>
          <p:cNvSpPr/>
          <p:nvPr/>
        </p:nvSpPr>
        <p:spPr>
          <a:xfrm>
            <a:off x="6263640" y="5413248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heat-l-0"/>
          <p:cNvSpPr txBox="1"/>
          <p:nvPr/>
        </p:nvSpPr>
        <p:spPr>
          <a:xfrm>
            <a:off x="6501384" y="53400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ATSS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결함 적중 </a:t>
            </a:r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48%</a:t>
            </a:r>
            <a:endParaRPr lang="en-US" sz="1400" dirty="0"/>
          </a:p>
        </p:txBody>
      </p:sp>
      <p:pic>
        <p:nvPicPr>
          <p:cNvPr id="24" name="heat-1" descr="C:\Users\user\_se4nchoi\batteryvision\docs\submission\build\img\heat_yolox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606040"/>
            <a:ext cx="2633472" cy="2633472"/>
          </a:xfrm>
          <a:prstGeom prst="rect">
            <a:avLst/>
          </a:prstGeom>
        </p:spPr>
      </p:pic>
      <p:sp>
        <p:nvSpPr>
          <p:cNvPr id="25" name="heat-dot-1"/>
          <p:cNvSpPr/>
          <p:nvPr/>
        </p:nvSpPr>
        <p:spPr>
          <a:xfrm>
            <a:off x="9006840" y="5413248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6" name="heat-l-1"/>
          <p:cNvSpPr txBox="1"/>
          <p:nvPr/>
        </p:nvSpPr>
        <p:spPr>
          <a:xfrm>
            <a:off x="9244584" y="53400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YOLOX-S 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결함 적중 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98%</a:t>
            </a:r>
            <a:endParaRPr lang="en-US" sz="1400" dirty="0"/>
          </a:p>
        </p:txBody>
      </p:sp>
      <p:sp>
        <p:nvSpPr>
          <p:cNvPr id="27" name="heat-cap"/>
          <p:cNvSpPr txBox="1"/>
          <p:nvPr/>
        </p:nvSpPr>
        <p:spPr>
          <a:xfrm>
            <a:off x="6263640" y="5760720"/>
            <a:ext cx="5376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heatmap 최고점이 정답 박스 안 · 정확도 ≠ heatmap 품질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INT8 장단점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수업에서 다룬 양자화 적용 · 직접 만든 벤치마크로 측정</a:t>
            </a:r>
            <a:endParaRPr lang="en-US" sz="1500" dirty="0"/>
          </a:p>
        </p:txBody>
      </p:sp>
      <p:graphicFrame>
        <p:nvGraphicFramePr>
          <p:cNvPr id="4" name="speed-chart" descr=""/>
          <p:cNvGraphicFramePr/>
          <p:nvPr/>
        </p:nvGraphicFramePr>
        <p:xfrm>
          <a:off x="548640" y="155448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int8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828800"/>
          <a:ext cx="510235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31520"/>
                <a:gridCol w="1051560"/>
                <a:gridCol w="1307592"/>
                <a:gridCol w="8229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속도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크기 MB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mAP@50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놓친 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2.2×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5.7 → 3.9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0.929 → 0.929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→ 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2.0×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18.4 → 9.8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0.892 → 0.902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→ 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YOLOX-Tiny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4.0×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10.6 → 5.8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0.832 → 0.829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→ 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6" name="int8-note"/>
          <p:cNvSpPr txBox="1"/>
          <p:nvPr/>
        </p:nvSpPr>
        <p:spPr>
          <a:xfrm>
            <a:off x="6537960" y="4160520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값: FP16 → INT8 · 놓친 셀 = 결함 98장 중 검토 기준 0.30 미만</a:t>
            </a:r>
            <a:endParaRPr lang="en-US" sz="1100" dirty="0"/>
          </a:p>
        </p:txBody>
      </p:sp>
      <p:sp>
        <p:nvSpPr>
          <p:cNvPr id="7" name="method-card"/>
          <p:cNvSpPr/>
          <p:nvPr/>
        </p:nvSpPr>
        <p:spPr>
          <a:xfrm>
            <a:off x="548640" y="480060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23272F"/>
          </a:solidFill>
          <a:ln/>
        </p:spPr>
      </p:sp>
      <p:sp>
        <p:nvSpPr>
          <p:cNvPr id="8" name="method"/>
          <p:cNvSpPr txBox="1"/>
          <p:nvPr/>
        </p:nvSpPr>
        <p:spPr>
          <a:xfrm>
            <a:off x="822960" y="480060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측정 방법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1차 테스트 131장 · 사진 1장씩 · Intel Core Ultra 7 265K CPU · 전처리·후처리 포함 · 워밍업 10회 제외</a:t>
            </a:r>
            <a:endParaRPr lang="en-US" sz="1300" dirty="0"/>
          </a:p>
        </p:txBody>
      </p:sp>
      <p:sp>
        <p:nvSpPr>
          <p:cNvPr id="9" name="pro-card"/>
          <p:cNvSpPr/>
          <p:nvPr/>
        </p:nvSpPr>
        <p:spPr>
          <a:xfrm>
            <a:off x="548640" y="5486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0" name="pro"/>
          <p:cNvSpPr txBox="1"/>
          <p:nvPr/>
        </p:nvSpPr>
        <p:spPr>
          <a:xfrm>
            <a:off x="822960" y="54864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장점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2–4배 빠름 · 크기 절반 · mAP 유지</a:t>
            </a:r>
            <a:endParaRPr lang="en-US" sz="1500" dirty="0"/>
          </a:p>
        </p:txBody>
      </p:sp>
      <p:sp>
        <p:nvSpPr>
          <p:cNvPr id="11" name="con-card"/>
          <p:cNvSpPr/>
          <p:nvPr/>
        </p:nvSpPr>
        <p:spPr>
          <a:xfrm>
            <a:off x="6199632" y="5486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con"/>
          <p:cNvSpPr txBox="1"/>
          <p:nvPr/>
        </p:nvSpPr>
        <p:spPr>
          <a:xfrm>
            <a:off x="6473952" y="548640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단점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신뢰도 ↓ → 놓침 ↑ · 기준값 재설정 필요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2차 데이터셋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학습 미사용 · 같은 업로더의 v2 세트 45장 (결함 30 · 정상 15)</a:t>
            </a:r>
            <a:endParaRPr lang="en-US" sz="1500" dirty="0"/>
          </a:p>
        </p:txBody>
      </p:sp>
      <p:sp>
        <p:nvSpPr>
          <p:cNvPr id="4" name="holdout-card"/>
          <p:cNvSpPr/>
          <p:nvPr/>
        </p:nvSpPr>
        <p:spPr>
          <a:xfrm>
            <a:off x="548640" y="1645920"/>
            <a:ext cx="60350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5" name="ho-h"/>
          <p:cNvSpPr txBox="1"/>
          <p:nvPr/>
        </p:nvSpPr>
        <p:spPr>
          <a:xfrm>
            <a:off x="822960" y="17556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결함 셀 검출률 (검토 또는 불합격)</a:t>
            </a:r>
            <a:endParaRPr lang="en-US" sz="1600" dirty="0"/>
          </a:p>
        </p:txBody>
      </p:sp>
      <p:sp>
        <p:nvSpPr>
          <p:cNvPr id="6" name="ho-c1"/>
          <p:cNvSpPr txBox="1"/>
          <p:nvPr/>
        </p:nvSpPr>
        <p:spPr>
          <a:xfrm>
            <a:off x="292608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1차 테스트</a:t>
            </a:r>
            <a:endParaRPr lang="en-US" sz="1200" dirty="0"/>
          </a:p>
        </p:txBody>
      </p:sp>
      <p:sp>
        <p:nvSpPr>
          <p:cNvPr id="7" name="ho-c2"/>
          <p:cNvSpPr txBox="1"/>
          <p:nvPr/>
        </p:nvSpPr>
        <p:spPr>
          <a:xfrm>
            <a:off x="475488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2차 세트</a:t>
            </a:r>
            <a:endParaRPr lang="en-US" sz="1200" dirty="0"/>
          </a:p>
        </p:txBody>
      </p:sp>
      <p:sp>
        <p:nvSpPr>
          <p:cNvPr id="8" name="ho-dot-0"/>
          <p:cNvSpPr/>
          <p:nvPr/>
        </p:nvSpPr>
        <p:spPr>
          <a:xfrm>
            <a:off x="822960" y="2596896"/>
            <a:ext cx="146304" cy="1463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ho-n-0"/>
          <p:cNvSpPr txBox="1"/>
          <p:nvPr/>
        </p:nvSpPr>
        <p:spPr>
          <a:xfrm>
            <a:off x="1060704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ATSS</a:t>
            </a:r>
            <a:endParaRPr lang="en-US" sz="1600" dirty="0"/>
          </a:p>
        </p:txBody>
      </p:sp>
      <p:sp>
        <p:nvSpPr>
          <p:cNvPr id="10" name="ho-a-0"/>
          <p:cNvSpPr txBox="1"/>
          <p:nvPr/>
        </p:nvSpPr>
        <p:spPr>
          <a:xfrm>
            <a:off x="2926080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100%</a:t>
            </a:r>
            <a:endParaRPr lang="en-US" sz="2600" dirty="0"/>
          </a:p>
        </p:txBody>
      </p:sp>
      <p:sp>
        <p:nvSpPr>
          <p:cNvPr id="11" name="ho-b-0"/>
          <p:cNvSpPr txBox="1"/>
          <p:nvPr/>
        </p:nvSpPr>
        <p:spPr>
          <a:xfrm>
            <a:off x="4754880" y="2423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47%</a:t>
            </a:r>
            <a:endParaRPr lang="en-US" sz="2600" dirty="0"/>
          </a:p>
        </p:txBody>
      </p:sp>
      <p:sp>
        <p:nvSpPr>
          <p:cNvPr id="12" name="ho-dot-1"/>
          <p:cNvSpPr/>
          <p:nvPr/>
        </p:nvSpPr>
        <p:spPr>
          <a:xfrm>
            <a:off x="822960" y="3145536"/>
            <a:ext cx="146304" cy="146304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ho-n-1"/>
          <p:cNvSpPr txBox="1"/>
          <p:nvPr/>
        </p:nvSpPr>
        <p:spPr>
          <a:xfrm>
            <a:off x="1060704" y="2971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YOLOX-S</a:t>
            </a:r>
            <a:endParaRPr lang="en-US" sz="1600" dirty="0"/>
          </a:p>
        </p:txBody>
      </p:sp>
      <p:sp>
        <p:nvSpPr>
          <p:cNvPr id="14" name="ho-a-1"/>
          <p:cNvSpPr txBox="1"/>
          <p:nvPr/>
        </p:nvSpPr>
        <p:spPr>
          <a:xfrm>
            <a:off x="2926080" y="2971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94%</a:t>
            </a:r>
            <a:endParaRPr lang="en-US" sz="2600" dirty="0"/>
          </a:p>
        </p:txBody>
      </p:sp>
      <p:sp>
        <p:nvSpPr>
          <p:cNvPr id="15" name="ho-b-1"/>
          <p:cNvSpPr txBox="1"/>
          <p:nvPr/>
        </p:nvSpPr>
        <p:spPr>
          <a:xfrm>
            <a:off x="4754880" y="297180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3%</a:t>
            </a:r>
            <a:endParaRPr lang="en-US" sz="2600" dirty="0"/>
          </a:p>
        </p:txBody>
      </p:sp>
      <p:sp>
        <p:nvSpPr>
          <p:cNvPr id="16" name="ho-dot-2"/>
          <p:cNvSpPr/>
          <p:nvPr/>
        </p:nvSpPr>
        <p:spPr>
          <a:xfrm>
            <a:off x="822960" y="3694176"/>
            <a:ext cx="146304" cy="14630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7" name="ho-n-2"/>
          <p:cNvSpPr txBox="1"/>
          <p:nvPr/>
        </p:nvSpPr>
        <p:spPr>
          <a:xfrm>
            <a:off x="1060704" y="3520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YOLOX-Tiny</a:t>
            </a:r>
            <a:endParaRPr lang="en-US" sz="1600" dirty="0"/>
          </a:p>
        </p:txBody>
      </p:sp>
      <p:sp>
        <p:nvSpPr>
          <p:cNvPr id="18" name="ho-a-2"/>
          <p:cNvSpPr txBox="1"/>
          <p:nvPr/>
        </p:nvSpPr>
        <p:spPr>
          <a:xfrm>
            <a:off x="2926080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99%</a:t>
            </a:r>
            <a:endParaRPr lang="en-US" sz="2600" dirty="0"/>
          </a:p>
        </p:txBody>
      </p:sp>
      <p:sp>
        <p:nvSpPr>
          <p:cNvPr id="19" name="ho-b-2"/>
          <p:cNvSpPr txBox="1"/>
          <p:nvPr/>
        </p:nvSpPr>
        <p:spPr>
          <a:xfrm>
            <a:off x="4754880" y="35204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47%</a:t>
            </a:r>
            <a:endParaRPr lang="en-US" sz="2600" dirty="0"/>
          </a:p>
        </p:txBody>
      </p:sp>
      <p:pic>
        <p:nvPicPr>
          <p:cNvPr id="20" name="miss-img" descr="C:\Users\user\_se4nchoi\batteryvision\docs\submission\build\img\holdout_mi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43400"/>
            <a:ext cx="1874520" cy="1874520"/>
          </a:xfrm>
          <a:prstGeom prst="rect">
            <a:avLst/>
          </a:prstGeom>
        </p:spPr>
      </p:pic>
      <p:sp>
        <p:nvSpPr>
          <p:cNvPr id="21" name="miss-cap"/>
          <p:cNvSpPr txBox="1"/>
          <p:nvPr/>
        </p:nvSpPr>
        <p:spPr>
          <a:xfrm>
            <a:off x="2651760" y="4389120"/>
            <a:ext cx="3931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놓친 예: scratch · ATSS 최고 점수 0.21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클래스 착각 0건 · 정상 불합격 0건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3"/>
                </a:solidFill>
              </a:rPr>
              <a:t>1차: 학습 사진 포함 가능 + 같은 촬영 환경</a:t>
            </a:r>
            <a:endParaRPr lang="en-US" sz="1400" dirty="0"/>
          </a:p>
        </p:txBody>
      </p:sp>
      <p:sp>
        <p:nvSpPr>
          <p:cNvPr id="22" name="th-h"/>
          <p:cNvSpPr txBox="1"/>
          <p:nvPr/>
        </p:nvSpPr>
        <p:spPr>
          <a:xfrm>
            <a:off x="681228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기준값을 바꾸면? (2차 세트)</a:t>
            </a:r>
            <a:endParaRPr lang="en-US" sz="1600" dirty="0"/>
          </a:p>
        </p:txBody>
      </p:sp>
      <p:graphicFrame>
        <p:nvGraphicFramePr>
          <p:cNvPr id="9" name="th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2057400"/>
          <a:ext cx="482803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133856"/>
                <a:gridCol w="1225296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결함 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오검출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0.30 (현재)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0.20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0.30 (현재)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24" name="th-cap"/>
          <p:cNvSpPr txBox="1"/>
          <p:nvPr/>
        </p:nvSpPr>
        <p:spPr>
          <a:xfrm>
            <a:off x="6812280" y="4663440"/>
            <a:ext cx="4828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ATSS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검출 ↑ = 정상 오검출 ↑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YOLOX-S 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순위는 정확 (mAP@50 0.93), 점수만 낮음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기준값은 모델별로 · 그래도 부족 → 재학습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Logs and Lesson Learned</a:t>
            </a:r>
            <a:endParaRPr lang="en-US" sz="3200" dirty="0"/>
          </a:p>
        </p:txBody>
      </p:sp>
      <p:graphicFrame>
        <p:nvGraphicFramePr>
          <p:cNvPr id="10" name="log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903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40280"/>
                <a:gridCol w="1691640"/>
                <a:gridCol w="24231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배운 것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 · 1차 테스트 153장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93.3%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복사본 22장 제거 · 131장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92.9%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영향 0.4%p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업로드 내역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포함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= 비교용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YOLOX-S · Tiny 비교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89.2 · 83.2%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ATSS 최고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INT8 양자화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2–4배 빠름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놓침 소폭 증가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세트 45장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검출 47%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변화에 취약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· 기준값 0.15로 낮춤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87% 오검출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재학습 필요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F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72F"/>
                    </a:solidFill>
                  </a:tcPr>
                </a:tc>
              </a:tr>
            </a:tbl>
          </a:graphicData>
        </a:graphic>
      </p:graphicFrame>
      <p:sp>
        <p:nvSpPr>
          <p:cNvPr id="4" name="log-note"/>
          <p:cNvSpPr txBox="1"/>
          <p:nvPr/>
        </p:nvSpPr>
        <p:spPr>
          <a:xfrm>
            <a:off x="548640" y="589788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결과: mAP@50 (1–2, 4) · CPU 속도 (5) · 결함 셀 검출률, ATSS (6–7)</a:t>
            </a:r>
            <a:endParaRPr lang="en-US" sz="1000" dirty="0"/>
          </a:p>
        </p:txBody>
      </p:sp>
      <p:sp>
        <p:nvSpPr>
          <p:cNvPr id="5" name="lesson-0"/>
          <p:cNvSpPr/>
          <p:nvPr/>
        </p:nvSpPr>
        <p:spPr>
          <a:xfrm>
            <a:off x="7726680" y="123444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6" name="lesson-n-0"/>
          <p:cNvSpPr txBox="1"/>
          <p:nvPr/>
        </p:nvSpPr>
        <p:spPr>
          <a:xfrm>
            <a:off x="7955280" y="1389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lesson-h-0"/>
          <p:cNvSpPr txBox="1"/>
          <p:nvPr/>
        </p:nvSpPr>
        <p:spPr>
          <a:xfrm>
            <a:off x="8503920" y="13624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테스트셋은 먼저 분리</a:t>
            </a:r>
            <a:endParaRPr lang="en-US" sz="1500" dirty="0"/>
          </a:p>
        </p:txBody>
      </p:sp>
      <p:sp>
        <p:nvSpPr>
          <p:cNvPr id="8" name="lesson-d-0"/>
          <p:cNvSpPr txBox="1"/>
          <p:nvPr/>
        </p:nvSpPr>
        <p:spPr>
          <a:xfrm>
            <a:off x="8503920" y="17556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업로드 전 분리 · 중복 확인</a:t>
            </a:r>
            <a:endParaRPr lang="en-US" sz="1200" dirty="0"/>
          </a:p>
        </p:txBody>
      </p:sp>
      <p:sp>
        <p:nvSpPr>
          <p:cNvPr id="9" name="lesson-1"/>
          <p:cNvSpPr/>
          <p:nvPr/>
        </p:nvSpPr>
        <p:spPr>
          <a:xfrm>
            <a:off x="7726680" y="242316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0" name="lesson-n-1"/>
          <p:cNvSpPr txBox="1"/>
          <p:nvPr/>
        </p:nvSpPr>
        <p:spPr>
          <a:xfrm>
            <a:off x="7955280" y="2578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lesson-h-1"/>
          <p:cNvSpPr txBox="1"/>
          <p:nvPr/>
        </p:nvSpPr>
        <p:spPr>
          <a:xfrm>
            <a:off x="8503920" y="25511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큰 모델 ≠ 좋은 모델</a:t>
            </a:r>
            <a:endParaRPr lang="en-US" sz="1500" dirty="0"/>
          </a:p>
        </p:txBody>
      </p:sp>
      <p:sp>
        <p:nvSpPr>
          <p:cNvPr id="12" name="lesson-d-1"/>
          <p:cNvSpPr txBox="1"/>
          <p:nvPr/>
        </p:nvSpPr>
        <p:spPr>
          <a:xfrm>
            <a:off x="8503920" y="29443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3.9M ATSS가 9M YOLOX-S보다 정확</a:t>
            </a:r>
            <a:endParaRPr lang="en-US" sz="1200" dirty="0"/>
          </a:p>
        </p:txBody>
      </p:sp>
      <p:sp>
        <p:nvSpPr>
          <p:cNvPr id="13" name="lesson-2"/>
          <p:cNvSpPr/>
          <p:nvPr/>
        </p:nvSpPr>
        <p:spPr>
          <a:xfrm>
            <a:off x="7726680" y="361188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4" name="lesson-n-2"/>
          <p:cNvSpPr txBox="1"/>
          <p:nvPr/>
        </p:nvSpPr>
        <p:spPr>
          <a:xfrm>
            <a:off x="795528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5" name="lesson-h-2"/>
          <p:cNvSpPr txBox="1"/>
          <p:nvPr/>
        </p:nvSpPr>
        <p:spPr>
          <a:xfrm>
            <a:off x="8503920" y="373989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최적화는 기준값과 함께</a:t>
            </a:r>
            <a:endParaRPr lang="en-US" sz="1500" dirty="0"/>
          </a:p>
        </p:txBody>
      </p:sp>
      <p:sp>
        <p:nvSpPr>
          <p:cNvPr id="16" name="lesson-d-2"/>
          <p:cNvSpPr txBox="1"/>
          <p:nvPr/>
        </p:nvSpPr>
        <p:spPr>
          <a:xfrm>
            <a:off x="8503920" y="41330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INT8 = 속도 ↑, 신뢰도 ↓</a:t>
            </a:r>
            <a:endParaRPr lang="en-US" sz="1200" dirty="0"/>
          </a:p>
        </p:txBody>
      </p:sp>
      <p:sp>
        <p:nvSpPr>
          <p:cNvPr id="17" name="lesson-3"/>
          <p:cNvSpPr/>
          <p:nvPr/>
        </p:nvSpPr>
        <p:spPr>
          <a:xfrm>
            <a:off x="7726680" y="4800600"/>
            <a:ext cx="3913632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/>
        </p:spPr>
      </p:sp>
      <p:sp>
        <p:nvSpPr>
          <p:cNvPr id="18" name="lesson-n-3"/>
          <p:cNvSpPr txBox="1"/>
          <p:nvPr/>
        </p:nvSpPr>
        <p:spPr>
          <a:xfrm>
            <a:off x="7955280" y="4956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19" name="lesson-h-3"/>
          <p:cNvSpPr txBox="1"/>
          <p:nvPr/>
        </p:nvSpPr>
        <p:spPr>
          <a:xfrm>
            <a:off x="8503920" y="492861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점수 ≠ 현장 성능</a:t>
            </a:r>
            <a:endParaRPr lang="en-US" sz="1500" dirty="0"/>
          </a:p>
        </p:txBody>
      </p:sp>
      <p:sp>
        <p:nvSpPr>
          <p:cNvPr id="20" name="lesson-d-3"/>
          <p:cNvSpPr txBox="1"/>
          <p:nvPr/>
        </p:nvSpPr>
        <p:spPr>
          <a:xfrm>
            <a:off x="8503920" y="53218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92.9% → 새 환경 47%</a:t>
            </a:r>
            <a:endParaRPr lang="en-US" sz="12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데모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가상 검사 라인 · 실제 모델(ATSS)로 판정</a:t>
            </a:r>
            <a:endParaRPr lang="en-US" sz="1500" dirty="0"/>
          </a:p>
        </p:txBody>
      </p:sp>
      <p:pic>
        <p:nvPicPr>
          <p:cNvPr id="4" name="dashboard" descr="C:\Users\user\_se4nchoi\batteryvision\docs\submission\build\img\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8321040" cy="4134326"/>
          </a:xfrm>
          <a:prstGeom prst="rect">
            <a:avLst/>
          </a:prstGeom>
        </p:spPr>
      </p:pic>
      <p:sp>
        <p:nvSpPr>
          <p:cNvPr id="5" name="demo-card"/>
          <p:cNvSpPr/>
          <p:nvPr/>
        </p:nvSpPr>
        <p:spPr>
          <a:xfrm>
            <a:off x="9052560" y="1600200"/>
            <a:ext cx="2587752" cy="4134326"/>
          </a:xfrm>
          <a:prstGeom prst="roundRect">
            <a:avLst>
              <a:gd name="adj" fmla="val 2827"/>
            </a:avLst>
          </a:prstGeom>
          <a:solidFill>
            <a:schemeClr val="bg2"/>
          </a:solidFill>
          <a:ln/>
        </p:spPr>
      </p:sp>
      <p:sp>
        <p:nvSpPr>
          <p:cNvPr id="6" name="demo-b"/>
          <p:cNvSpPr txBox="1"/>
          <p:nvPr/>
        </p:nvSpPr>
        <p:spPr>
          <a:xfrm>
            <a:off x="9281160" y="1828800"/>
            <a:ext cx="2240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카메라 → 모델 → 판정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heatmap · 해시 기록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로트별 추적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실제 장비 미연결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tteryVision Dark">
  <a:themeElements>
    <a:clrScheme name="BatteryVision Dark">
      <a:dk1>
        <a:srgbClr val="EEF1F5"/>
      </a:dk1>
      <a:lt1>
        <a:srgbClr val="16191E"/>
      </a:lt1>
      <a:dk2>
        <a:srgbClr val="9AA4B2"/>
      </a:dk2>
      <a:lt2>
        <a:srgbClr val="23272F"/>
      </a:lt2>
      <a:accent1>
        <a:srgbClr val="4FD1C5"/>
      </a:accent1>
      <a:accent2>
        <a:srgbClr val="E5534B"/>
      </a:accent2>
      <a:accent3>
        <a:srgbClr val="F2B33D"/>
      </a:accent3>
      <a:accent4>
        <a:srgbClr val="3B8BEB"/>
      </a:accent4>
      <a:accent5>
        <a:srgbClr val="EB6834"/>
      </a:accent5>
      <a:accent6>
        <a:srgbClr val="1BAF7A"/>
      </a:accent6>
      <a:hlink>
        <a:srgbClr val="4FD1C5"/>
      </a:hlink>
      <a:folHlink>
        <a:srgbClr val="9AA4B2"/>
      </a:folHlink>
    </a:clrScheme>
    <a:fontScheme name="BatteryVision Dark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배터리 표면 식별 Vision AI</dc:title>
  <dc:subject>PptxGenJS Presentation</dc:subject>
  <dc:creator>PptxGenJS</dc:creator>
  <cp:lastModifiedBy>PptxGenJS</cp:lastModifiedBy>
  <cp:revision>1</cp:revision>
  <dcterms:created xsi:type="dcterms:W3CDTF">2026-10-21T02:26:16Z</dcterms:created>
  <dcterms:modified xsi:type="dcterms:W3CDTF">2026-10-21T02:26:16Z</dcterms:modified>
</cp:coreProperties>
</file>