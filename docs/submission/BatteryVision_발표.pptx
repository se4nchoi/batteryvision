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charts/chart3.xml" ContentType="application/vnd.openxmlformats-officedocument.drawingml.chart+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3d141974-ac9e-2fd4-c1b7-8608881c7254}">
          <p14:sldIdLst>
            <p14:sldId id="256"/>
            <p14:sldId id="257"/>
          </p14:sldIdLst>
        </p14:section>
        <p14:section name="실험" id="{fc7a36cb-2c79-d018-6c03-c4fc1b8fda6c}">
          <p14:sldIdLst>
            <p14:sldId id="258"/>
            <p14:sldId id="259"/>
            <p14:sldId id="260"/>
            <p14:sldId id="261"/>
          </p14:sldIdLst>
        </p14:section>
        <p14:section name="최적화" id="{543eeb4e-be04-535f-f2ef-3723d45bb8a8}">
          <p14:sldIdLst>
            <p14:sldId id="262"/>
          </p14:sldIdLst>
        </p14:section>
        <p14:section name="검증" id="{e479bd6a-dcfb-3ee1-58d4-f4cb4192e4fe}">
          <p14:sldIdLst>
            <p14:sldId id="263"/>
          </p14:sldIdLst>
        </p14:section>
        <p14:section name="정리" id="{5a0d611b-6b72-ddba-0f42-97fcb7648dce}">
          <p14:sldIdLst>
            <p14:sldId id="264"/>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클래스별 AP@50 (테스트 131장)</a:t>
            </a:r>
          </a:p>
        </c:rich>
      </c:tx>
      <c:layout/>
      <c:overlay val="0"/>
    </c:title>
    <c:autoTitleDeleted val="0"/>
    <c:plotArea>
      <c:layout/>
      <c:barChart>
        <c:barDir val="col"/>
        <c:grouping val="clustered"/>
        <c:varyColors val="0"/>
        <c:ser>
          <c:idx val="0"/>
          <c:order val="0"/>
          <c:tx>
            <c:strRef>
              <c:f>Sheet1!$B$1</c:f>
              <c:strCache>
                <c:ptCount val="1"/>
                <c:pt idx="0">
                  <c:v>crack</c:v>
                </c:pt>
              </c:strCache>
            </c:strRef>
          </c:tx>
          <c:spPr>
            <a:solidFill>
              <a:srgbClr val="E5534B"/>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1</c:v>
                </c:pt>
                <c:pt idx="1">
                  <c:v>1</c:v>
                </c:pt>
                <c:pt idx="2">
                  <c:v>1</c:v>
                </c:pt>
              </c:numCache>
            </c:numRef>
          </c:val>
        </c:ser>
        <c:ser>
          <c:idx val="1"/>
          <c:order val="1"/>
          <c:tx>
            <c:strRef>
              <c:f>Sheet1!$C$1</c:f>
              <c:strCache>
                <c:ptCount val="1"/>
                <c:pt idx="0">
                  <c:v>scratch</c:v>
                </c:pt>
              </c:strCache>
            </c:strRef>
          </c:tx>
          <c:spPr>
            <a:solidFill>
              <a:srgbClr val="F2B33D"/>
            </a:solidFill>
            <a:effectLst/>
          </c:spPr>
          <c:invertIfNegative val="0"/>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0.858</c:v>
                </c:pt>
                <c:pt idx="1">
                  <c:v>0.784</c:v>
                </c:pt>
                <c:pt idx="2">
                  <c:v>0.664</c:v>
                </c:pt>
              </c:numCache>
            </c:numRef>
          </c:val>
        </c:ser>
        <c:dLbls>
          <c:numFmt formatCode="0.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ax val="1"/>
          <c:min val="0"/>
        </c:scaling>
        <c:delete val="0"/>
        <c:axPos val="l"/>
        <c:majorGridlines>
          <c:spPr>
            <a:ln w="6350" cap="flat">
              <a:solidFill>
                <a:srgbClr val="3A3F48"/>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EEF1F5"/>
                </a:solidFill>
                <a:latin typeface="+mn-lt"/>
              </a:defRPr>
            </a:pPr>
            <a:r>
              <a:rPr sz="1300" b="0" i="0" u="none" strike="noStrike">
                <a:solidFill>
                  <a:srgbClr val="EEF1F5"/>
                </a:solidFill>
                <a:latin typeface="+mn-lt"/>
              </a:rPr>
              <a:t>Geti 보고값: 크기별 mAP (검증셋)</a:t>
            </a:r>
          </a:p>
        </c:rich>
      </c:tx>
      <c:layout/>
      <c:overlay val="0"/>
    </c:title>
    <c:autoTitleDeleted val="0"/>
    <c:plotArea>
      <c:layout/>
      <c:barChart>
        <c:barDir val="col"/>
        <c:grouping val="clustered"/>
        <c:varyColors val="0"/>
        <c:ser>
          <c:idx val="0"/>
          <c:order val="0"/>
          <c:tx>
            <c:strRef>
              <c:f>Sheet1!$B$1</c:f>
              <c:strCache>
                <c:ptCount val="1"/>
                <c:pt idx="0">
                  <c:v>ATSS</c:v>
                </c:pt>
              </c:strCache>
            </c:strRef>
          </c:tx>
          <c:spPr>
            <a:solidFill>
              <a:srgbClr val="3B8BEB"/>
            </a:solidFill>
            <a:effectLst/>
          </c:spPr>
          <c:invertIfNegative val="0"/>
          <c:dLbls>
            <c:numFmt formatCode="0.00" sourceLinked="0"/>
            <c:txPr>
              <a:bodyPr/>
              <a:lstStyle/>
              <a:p>
                <a:pPr>
                  <a:defRPr b="0" i="0" strike="noStrike" sz="10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작은 물체</c:v>
                  </c:pt>
                  <c:pt idx="1">
                    <c:v>중간</c:v>
                  </c:pt>
                  <c:pt idx="2">
                    <c:v>큰 물체</c:v>
                  </c:pt>
                </c:lvl>
              </c:multiLvlStrCache>
            </c:multiLvlStrRef>
          </c:cat>
          <c:val>
            <c:numRef>
              <c:f>Sheet1!$B$2:$B$4</c:f>
              <c:numCache>
                <c:formatCode>General</c:formatCode>
                <c:ptCount val="3"/>
                <c:pt idx="0">
                  <c:v>0.385</c:v>
                </c:pt>
                <c:pt idx="1">
                  <c:v>0.592</c:v>
                </c:pt>
                <c:pt idx="2">
                  <c:v>0.66</c:v>
                </c:pt>
              </c:numCache>
            </c:numRef>
          </c:val>
        </c:ser>
        <c:ser>
          <c:idx val="1"/>
          <c:order val="1"/>
          <c:tx>
            <c:strRef>
              <c:f>Sheet1!$C$1</c:f>
              <c:strCache>
                <c:ptCount val="1"/>
                <c:pt idx="0">
                  <c:v>YOLOX-S</c:v>
                </c:pt>
              </c:strCache>
            </c:strRef>
          </c:tx>
          <c:spPr>
            <a:solidFill>
              <a:srgbClr val="EB6834"/>
            </a:solidFill>
            <a:effectLst/>
          </c:spPr>
          <c:invertIfNegative val="0"/>
          <c:dLbls>
            <c:numFmt formatCode="0.00" sourceLinked="0"/>
            <c:txPr>
              <a:bodyPr/>
              <a:lstStyle/>
              <a:p>
                <a:pPr>
                  <a:defRPr b="0" i="0" strike="noStrike" sz="10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작은 물체</c:v>
                  </c:pt>
                  <c:pt idx="1">
                    <c:v>중간</c:v>
                  </c:pt>
                  <c:pt idx="2">
                    <c:v>큰 물체</c:v>
                  </c:pt>
                </c:lvl>
              </c:multiLvlStrCache>
            </c:multiLvlStrRef>
          </c:cat>
          <c:val>
            <c:numRef>
              <c:f>Sheet1!$C$2:$C$4</c:f>
              <c:numCache>
                <c:formatCode>General</c:formatCode>
                <c:ptCount val="3"/>
                <c:pt idx="0">
                  <c:v>0.39</c:v>
                </c:pt>
                <c:pt idx="1">
                  <c:v>0.539</c:v>
                </c:pt>
                <c:pt idx="2">
                  <c:v>0.589</c:v>
                </c:pt>
              </c:numCache>
            </c:numRef>
          </c:val>
        </c:ser>
        <c:ser>
          <c:idx val="2"/>
          <c:order val="2"/>
          <c:tx>
            <c:strRef>
              <c:f>Sheet1!$D$1</c:f>
              <c:strCache>
                <c:ptCount val="1"/>
                <c:pt idx="0">
                  <c:v>YOLOX-Tiny</c:v>
                </c:pt>
              </c:strCache>
            </c:strRef>
          </c:tx>
          <c:spPr>
            <a:solidFill>
              <a:srgbClr val="1BAF7A"/>
            </a:solidFill>
            <a:effectLst/>
          </c:spPr>
          <c:invertIfNegative val="0"/>
          <c:dLbls>
            <c:numFmt formatCode="0.00" sourceLinked="0"/>
            <c:txPr>
              <a:bodyPr/>
              <a:lstStyle/>
              <a:p>
                <a:pPr>
                  <a:defRPr b="0" i="0" strike="noStrike" sz="10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작은 물체</c:v>
                  </c:pt>
                  <c:pt idx="1">
                    <c:v>중간</c:v>
                  </c:pt>
                  <c:pt idx="2">
                    <c:v>큰 물체</c:v>
                  </c:pt>
                </c:lvl>
              </c:multiLvlStrCache>
            </c:multiLvlStrRef>
          </c:cat>
          <c:val>
            <c:numRef>
              <c:f>Sheet1!$D$2:$D$4</c:f>
              <c:numCache>
                <c:formatCode>General</c:formatCode>
                <c:ptCount val="3"/>
                <c:pt idx="0">
                  <c:v>0.246</c:v>
                </c:pt>
                <c:pt idx="1">
                  <c:v>0.454</c:v>
                </c:pt>
                <c:pt idx="2">
                  <c:v>0.496</c:v>
                </c:pt>
              </c:numCache>
            </c:numRef>
          </c:val>
        </c:ser>
        <c:dLbls>
          <c:numFmt formatCode="0.00" sourceLinked="0"/>
          <c:txPr>
            <a:bodyPr/>
            <a:lstStyle/>
            <a:p>
              <a:pPr>
                <a:defRPr b="0" i="0" strike="noStrike" sz="1000" u="none">
                  <a:solidFill>
                    <a:srgbClr val="EEF1F5"/>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ax val="0.8"/>
          <c:min val="0"/>
        </c:scaling>
        <c:delete val="0"/>
        <c:axPos val="l"/>
        <c:majorGridlines>
          <c:spPr>
            <a:ln w="6350" cap="flat">
              <a:solidFill>
                <a:srgbClr val="3A3F48"/>
              </a:solidFill>
              <a:prstDash val="solid"/>
              <a:round/>
            </a:ln>
          </c:spPr>
        </c:majorGridlines>
        <c:numFmt formatCode="0.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EEF1F5"/>
                </a:solidFill>
                <a:latin typeface="+mn-lt"/>
              </a:defRPr>
            </a:pPr>
            <a:r>
              <a:rPr sz="1400" b="0" i="0" u="none" strike="noStrike">
                <a:solidFill>
                  <a:srgbClr val="EEF1F5"/>
                </a:solidFill>
                <a:latin typeface="+mn-lt"/>
              </a:rPr>
              <a:t>CPU 추론 시간 (ms / 사진, 낮을수록 빠름)</a:t>
            </a:r>
          </a:p>
        </c:rich>
      </c:tx>
      <c:layout/>
      <c:overlay val="0"/>
    </c:title>
    <c:autoTitleDeleted val="0"/>
    <c:plotArea>
      <c:layout/>
      <c:barChart>
        <c:barDir val="col"/>
        <c:grouping val="clustered"/>
        <c:varyColors val="0"/>
        <c:ser>
          <c:idx val="0"/>
          <c:order val="0"/>
          <c:tx>
            <c:strRef>
              <c:f>Sheet1!$B$1</c:f>
              <c:strCache>
                <c:ptCount val="1"/>
                <c:pt idx="0">
                  <c:v>FP16</c:v>
                </c:pt>
              </c:strCache>
            </c:strRef>
          </c:tx>
          <c:spPr>
            <a:solidFill>
              <a:srgbClr val="6B7480"/>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Sheet1!$B$2:$B$4</c:f>
              <c:numCache>
                <c:formatCode>General</c:formatCode>
                <c:ptCount val="3"/>
                <c:pt idx="0">
                  <c:v>43.9</c:v>
                </c:pt>
                <c:pt idx="1">
                  <c:v>48.9</c:v>
                </c:pt>
                <c:pt idx="2">
                  <c:v>33.5</c:v>
                </c:pt>
              </c:numCache>
            </c:numRef>
          </c:val>
        </c:ser>
        <c:ser>
          <c:idx val="1"/>
          <c:order val="1"/>
          <c:tx>
            <c:strRef>
              <c:f>Sheet1!$C$1</c:f>
              <c:strCache>
                <c:ptCount val="1"/>
                <c:pt idx="0">
                  <c:v>INT8</c:v>
                </c:pt>
              </c:strCache>
            </c:strRef>
          </c:tx>
          <c:spPr>
            <a:solidFill>
              <a:srgbClr val="4FD1C5"/>
            </a:solidFill>
            <a:effectLst/>
          </c:spPr>
          <c:invertIfNegative val="0"/>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cat>
            <c:multiLvlStrRef>
              <c:f>Sheet1!$A$2:$A$4</c:f>
              <c:multiLvlStrCache>
                <c:ptCount val="3"/>
                <c:lvl>
                  <c:pt idx="0">
                    <c:v>ATSS</c:v>
                  </c:pt>
                  <c:pt idx="1">
                    <c:v>YOLOX-S</c:v>
                  </c:pt>
                  <c:pt idx="2">
                    <c:v>YOLOX-Tiny</c:v>
                  </c:pt>
                </c:lvl>
              </c:multiLvlStrCache>
            </c:multiLvlStrRef>
          </c:cat>
          <c:val>
            <c:numRef>
              <c:f>Sheet1!$C$2:$C$4</c:f>
              <c:numCache>
                <c:formatCode>General</c:formatCode>
                <c:ptCount val="3"/>
                <c:pt idx="0">
                  <c:v>20</c:v>
                </c:pt>
                <c:pt idx="1">
                  <c:v>24.9</c:v>
                </c:pt>
                <c:pt idx="2">
                  <c:v>8.3</c:v>
                </c:pt>
              </c:numCache>
            </c:numRef>
          </c:val>
        </c:ser>
        <c:dLbls>
          <c:numFmt formatCode="0.0" sourceLinked="0"/>
          <c:txPr>
            <a:bodyPr/>
            <a:lstStyle/>
            <a:p>
              <a:pPr>
                <a:defRPr b="0" i="0" strike="noStrike" sz="1100" u="none">
                  <a:solidFill>
                    <a:srgbClr val="EEF1F5"/>
                  </a:solidFill>
                  <a:latin typeface="+mn-lt"/>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noFill/>
            <a:prstDash val="solid"/>
            <a:round/>
          </a:ln>
        </c:spPr>
        <c:txPr>
          <a:bodyPr/>
          <a:lstStyle/>
          <a:p>
            <a:pPr>
              <a:defRPr sz="1200" b="0" i="0" u="none" strike="noStrike">
                <a:solidFill>
                  <a:srgbClr val="EEF1F5"/>
                </a:solidFill>
                <a:latin typeface="+mn-lt"/>
              </a:defRPr>
            </a:pPr>
            <a:endParaRPr lang="en-US"/>
          </a:p>
        </c:txPr>
        <c:crossAx val="2094734552"/>
        <c:crosses val="autoZero"/>
        <c:auto val="1"/>
        <c:lblAlgn val="ctr"/>
        <c:noMultiLvlLbl val="1"/>
      </c:catAx>
      <c:valAx>
        <c:axId val="2094734552"/>
        <c:scaling>
          <c:orientation val="minMax"/>
          <c:min val="0"/>
        </c:scaling>
        <c:delete val="0"/>
        <c:axPos val="l"/>
        <c:majorGridlines>
          <c:spPr>
            <a:ln w="6350" cap="flat">
              <a:solidFill>
                <a:srgbClr val="3A3F48"/>
              </a:solidFill>
              <a:prstDash val="solid"/>
              <a:round/>
            </a:ln>
          </c:spPr>
        </c:majorGridlines>
        <c:numFmt formatCode="0" sourceLinked="0"/>
        <c:majorTickMark val="out"/>
        <c:minorTickMark val="none"/>
        <c:tickLblPos val="nextTo"/>
        <c:spPr>
          <a:ln w="12700" cap="flat">
            <a:noFill/>
            <a:prstDash val="solid"/>
            <a:round/>
          </a:ln>
        </c:spPr>
        <c:txPr>
          <a:bodyPr/>
          <a:lstStyle/>
          <a:p>
            <a:pPr>
              <a:defRPr sz="1100" b="0" i="0" u="none" strike="noStrike">
                <a:solidFill>
                  <a:srgbClr val="9AA4B2"/>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solidFill>
                <a:srgbClr val="EEF1F5"/>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배터리 셀 표면의 crack과 scratch를 찾는 Vision AI를 Intel Geti로 학습하고 OpenVINO로 경량화해 비교한 실습입니다. 오른쪽이 실제 데이터의 crack, scratch, 정상 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crack은 세 모델 모두 AP 1.0으로 거의 완벽하지만, scratch는 0.66에서 0.86 사이입니다. 박스 크기는 둘 다 이미지의 0.4% 안팎으로 비슷합니다. 차이는 대비입니다. crack은 어둡고 뚜렷한 깨짐이고, scratch는 반사나 나무결과 비슷한 가늘고 흐릿한 선입니다. 이 프로젝트의 오류는 대부분 scratch에서 나옵니다.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공개 데이터셋 1,531장으로 crack과 scratch 두 클래스를 학습했습니다. 테스트 131장은 Geti에 올리지 않고 따로 보관해 모든 모델을 같은 사진, 같은 기준으로 평가했습니다. 판정은 0.6 이상이면 불합격, 0.3에서 0.6은 사람 검토, 그 아래는 합격입니다. 한계도 분명합니다. 모든 사진이 초록 매트, 회색, 나무 탁상 위에서 찍은 사진이라 이 모델은 이 촬영 환경에 맞춰진 모델입니다.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결과는 mAP 93%로 좋아 보였습니다. 하지만 이 실습의 목적은 점수가 아니라 모델과 데이터셋을 조합해 실제로 동작하는 Vision AI를 만드는 것이라, 데이터부터 다시 봤습니다. 테스트 153장 중 22장이 학습 사진과 거의 같은 사진이었습니다. 직접 만든 데이터셋이 아니라서 생긴 문제입니다. 22장을 빼도 점수는 92.9%로 거의 같았지만, 이제는 믿을 수 있는 숫자입니다.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모델을 같은 조건으로 비교했더니, 파라미터가 가장 적은 ATSS가 가장 정확했습니다. Geti의 검증셋 수치도 같은 순서입니다. 크기별로 보면 작은 물체에서는 ATSS와 YOLOX-S가 비슷하고 Tiny만 크게 떨어집니다. 그래서 ATSS의 우위는 중간과 큰 결함에서 나온다고 보는 게 맞고, 입력 해상도 차이는 아직 검증하지 않은 가설입니다.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오류를 열어보면 crack과 scratch를 서로 헷갈린 경우는 한 번도 없습니다. 오류는 전부 놓친 scratch이거나 배경을 scratch로 본 경우입니다. 특히 나무 탁상 배경에서 재현율이 33%로 크게 떨어집니다. heatmap도 비교했는데, YOLOX-S는 98%의 사진에서 결함을 정확히 가리키지만 ATSS는 48%에 그칩니다. 탐지 정확도와 설명 품질은 다른 성질입니다.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수업에서 다룬 모델 최적화를 직접 써보고 싶어서, Geti에서 INT8 양자화 모델을 받아 같은 조건으로 비교했습니다. CPU에서 2배에서 4배 빨라지고 파일 크기는 절반 정도가 되며 mAP는 그대로입니다. 대신 신뢰도 점수가 조금 낮아져서, 같은 판정 기준을 쓰면 놓치는 결함이 늘어납니다. INT8을 실제로 쓰려면 기준값을 다시 정해야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같은 작성자가 나중에 찍은 새 세션 45장으로 다시 테스트했습니다. 기존 테스트에서 결함 셀을 거의 다 잡던 모델들이 여기서는 ATSS 47%, YOLOX-S 3%까지 떨어집니다. 결함을 다른 결함으로 착각한 게 아니라, 점수가 낮아서 그냥 통과시킨 경우입니다. 다행히 정상 셀을 불합격시킨 경우는 없었습니다. 앞에서 말한 촬영 환경의 한계가 실제로 드러난 장면입니다.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실험 순서대로 정리하면 이렇습니다. 점수가 가장 높았던 단계보다, 복사본을 찾고 2차 세션에서 점수가 떨어진 단계에서 가장 많이 배웠습니다. 데이터부터 의심할 것, 큰 모델이 늘 좋은 건 아니라는 것, 최적화는 기준값 조정과 함께 해야 한다는 것, 그리고 테스트 점수가 현장 성능을 보장하지 않는다는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마지막으로 대시보드에서 실제 모델이 가상 검사 라인을 돌리는 모습을 보여드리겠습니다. (라이브 데모로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606040"/>
            <a:ext cx="4389120" cy="164592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3" name="Text 0"/>
          <p:cNvSpPr/>
          <p:nvPr>
            <p:ph idx="101" type="body" hasCustomPrompt="1"/>
          </p:nvPr>
        </p:nvSpPr>
        <p:spPr>
          <a:xfrm>
            <a:off x="548640" y="4343400"/>
            <a:ext cx="4297680" cy="822960"/>
          </a:xfrm>
          <a:prstGeom prst="rect">
            <a:avLst/>
          </a:prstGeom>
          <a:noFill/>
          <a:ln/>
        </p:spPr>
        <p:txBody>
          <a:bodyPr wrap="square" rtlCol="0"/>
          <a:lstStyle>
            <a:lvl1pPr algn="l" indent="0" marL="0">
              <a:buNone/>
              <a:defRPr lang="en-US" sz="1600" dirty="0">
                <a:solidFill>
                  <a:schemeClr val="tx2"/>
                </a:solidFill>
              </a:defRPr>
            </a:lvl1pPr>
          </a:lstStyle>
          <a:p>
            <a:pPr algn="l" indent="0" marL="0">
              <a:buNone/>
            </a:pPr>
            <a:endParaRPr lang="en-US" sz="16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rtlCol="0"/>
          <a:lstStyle>
            <a:lvl1pPr algn="l" indent="0" marL="0">
              <a:buNone/>
              <a:defRPr lang="en-US" sz="3200" b="1" dirty="0">
                <a:solidFill>
                  <a:schemeClr val="tx1"/>
                </a:solidFill>
              </a:defRPr>
            </a:lvl1pPr>
          </a:lstStyle>
          <a:p>
            <a:pPr algn="l" indent="0" marL="0">
              <a:buNone/>
            </a:pP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rtlCol="0"/>
          <a:lstStyle>
            <a:lvl1pPr algn="l" indent="0" marL="0">
              <a:buNone/>
              <a:defRPr lang="en-US" sz="1500" dirty="0">
                <a:solidFill>
                  <a:schemeClr val="tx2"/>
                </a:solidFill>
              </a:defRPr>
            </a:lvl1pPr>
          </a:lstStyle>
          <a:p>
            <a:pPr algn="l" indent="0" marL="0">
              <a:buNone/>
            </a:pPr>
            <a:endParaRPr lang="en-US" sz="1500" dirty="0"/>
          </a:p>
        </p:txBody>
      </p:sp>
      <p:sp>
        <p:nvSpPr>
          <p:cNvPr id="4" name="Text 0"/>
          <p:cNvSpPr/>
          <p:nvPr/>
        </p:nvSpPr>
        <p:spPr>
          <a:xfrm>
            <a:off x="548640" y="6419088"/>
            <a:ext cx="5486400" cy="274320"/>
          </a:xfrm>
          <a:prstGeom prst="rect">
            <a:avLst/>
          </a:prstGeom>
          <a:noFill/>
          <a:ln/>
        </p:spPr>
        <p:txBody>
          <a:bodyPr wrap="square" lIns="0" tIns="0" rIns="0" bIns="0" rtlCol="0" anchor="ctr"/>
          <a:lstStyle/>
          <a:p>
            <a:pPr indent="0" marL="0">
              <a:buNone/>
            </a:pPr>
            <a:r>
              <a:rPr lang="en-US" sz="1000" dirty="0">
                <a:solidFill>
                  <a:schemeClr val="tx2"/>
                </a:solidFill>
              </a:rPr>
              <a:t>BatteryVision · Intel Geti 실습</a:t>
            </a:r>
            <a:endParaRPr lang="en-US" sz="10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image" Target="../media/image-1-2.jpg"/><Relationship Id="rId3" Type="http://schemas.openxmlformats.org/officeDocument/2006/relationships/image" Target="../media/image-1-3.jpg"/><Relationship Id="rId4" Type="http://schemas.openxmlformats.org/officeDocument/2006/relationships/slideLayout" Target="../slideLayouts/slideLayout2.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4" Type="http://schemas.openxmlformats.org/officeDocument/2006/relationships/chart" Target="/ppt/charts/chart1.xml"/><Relationship Id="rId1" Type="http://schemas.openxmlformats.org/officeDocument/2006/relationships/image" Target="../media/image-2-1.jpg"/><Relationship Id="rId2" Type="http://schemas.openxmlformats.org/officeDocument/2006/relationships/image" Target="../media/image-2-2.jpg"/><Relationship Id="rId3" Type="http://schemas.openxmlformats.org/officeDocument/2006/relationships/image" Target="../media/image-2-3.png"/><Relationship Id="rId5" Type="http://schemas.openxmlformats.org/officeDocument/2006/relationships/slideLayout" Target="../slideLayouts/slideLayout3.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jpg"/><Relationship Id="rId3" Type="http://schemas.openxmlformats.org/officeDocument/2006/relationships/image" Target="../media/image-3-3.jpg"/><Relationship Id="rId4" Type="http://schemas.openxmlformats.org/officeDocument/2006/relationships/slideLayout" Target="../slideLayouts/slideLayout3.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jpg"/><Relationship Id="rId2" Type="http://schemas.openxmlformats.org/officeDocument/2006/relationships/image" Target="../media/image-4-2.jpg"/><Relationship Id="rId3" Type="http://schemas.openxmlformats.org/officeDocument/2006/relationships/slideLayout" Target="../slideLayouts/slideLayout3.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jpg"/><Relationship Id="rId2" Type="http://schemas.openxmlformats.org/officeDocument/2006/relationships/image" Target="../media/image-6-2.jpg"/><Relationship Id="rId3" Type="http://schemas.openxmlformats.org/officeDocument/2006/relationships/slideLayout" Target="../slideLayouts/slideLayout3.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jp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jp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kicker"/>
          <p:cNvSpPr txBox="1"/>
          <p:nvPr/>
        </p:nvSpPr>
        <p:spPr>
          <a:xfrm>
            <a:off x="548640" y="2148840"/>
            <a:ext cx="4206240" cy="320040"/>
          </a:xfrm>
          <a:prstGeom prst="rect">
            <a:avLst/>
          </a:prstGeom>
          <a:noFill/>
          <a:ln/>
        </p:spPr>
        <p:txBody>
          <a:bodyPr wrap="square" lIns="0" tIns="0" rIns="0" bIns="0" rtlCol="0" anchor="t"/>
          <a:lstStyle/>
          <a:p>
            <a:pPr indent="0" marL="0">
              <a:buNone/>
            </a:pPr>
            <a:r>
              <a:rPr lang="en-US" sz="1400" b="1" dirty="0">
                <a:solidFill>
                  <a:schemeClr val="accent1"/>
                </a:solidFill>
              </a:rPr>
              <a:t>Intel Geti · OpenVINO 실습</a:t>
            </a:r>
            <a:endParaRPr lang="en-US" sz="1400" dirty="0"/>
          </a:p>
        </p:txBody>
      </p:sp>
      <p:sp>
        <p:nvSpPr>
          <p:cNvPr id="3" name="Text 0"/>
          <p:cNvSpPr/>
          <p:nvPr>
            <p:ph idx="100" type="title" hasCustomPrompt="1"/>
          </p:nvPr>
        </p:nvSpPr>
        <p:spPr>
          <a:xfrm>
            <a:off x="548640" y="2606040"/>
            <a:ext cx="4389120" cy="1645920"/>
          </a:xfrm>
          <a:prstGeom prst="rect">
            <a:avLst/>
          </a:prstGeom>
          <a:noFill/>
          <a:ln/>
        </p:spPr>
        <p:txBody>
          <a:bodyPr wrap="square" lIns="0" tIns="0" rIns="0" bIns="0" rtlCol="0" anchor="t"/>
          <a:lstStyle/>
          <a:p>
            <a:pPr algn="l" indent="0" marL="0">
              <a:buNone/>
            </a:pPr>
            <a:r>
              <a:rPr lang="en-US" sz="4000" b="1" dirty="0">
                <a:solidFill>
                  <a:schemeClr val="tx1"/>
                </a:solidFill>
              </a:rPr>
              <a:t>배터리 표면 식별</a:t>
            </a:r>
            <a:endParaRPr lang="en-US" sz="4000" dirty="0"/>
          </a:p>
          <a:p>
            <a:pPr algn="l" indent="0" marL="0">
              <a:buNone/>
            </a:pPr>
            <a:r>
              <a:rPr lang="en-US" sz="4000" b="1" dirty="0">
                <a:solidFill>
                  <a:schemeClr val="tx1"/>
                </a:solidFill>
              </a:rPr>
              <a:t>Vision AI</a:t>
            </a:r>
            <a:endParaRPr lang="en-US" sz="4000" dirty="0"/>
          </a:p>
        </p:txBody>
      </p:sp>
      <p:sp>
        <p:nvSpPr>
          <p:cNvPr id="4" name="Text 0"/>
          <p:cNvSpPr/>
          <p:nvPr>
            <p:ph idx="101" type="body" hasCustomPrompt="1"/>
          </p:nvPr>
        </p:nvSpPr>
        <p:spPr>
          <a:xfrm>
            <a:off x="548640" y="4343400"/>
            <a:ext cx="4297680" cy="822960"/>
          </a:xfrm>
          <a:prstGeom prst="rect">
            <a:avLst/>
          </a:prstGeom>
          <a:noFill/>
          <a:ln/>
        </p:spPr>
        <p:txBody>
          <a:bodyPr wrap="square" lIns="0" tIns="0" rIns="0" bIns="0" rtlCol="0" anchor="t"/>
          <a:lstStyle/>
          <a:p>
            <a:pPr algn="l" indent="0" marL="0">
              <a:buNone/>
            </a:pPr>
            <a:r>
              <a:rPr lang="en-US" sz="1600" dirty="0">
                <a:solidFill>
                  <a:schemeClr val="tx2"/>
                </a:solidFill>
              </a:rPr>
              <a:t>탐지 모델 3종 비교와 INT8 경량화</a:t>
            </a:r>
            <a:endParaRPr lang="en-US" sz="1600" dirty="0"/>
          </a:p>
        </p:txBody>
      </p:sp>
      <p:pic>
        <p:nvPicPr>
          <p:cNvPr id="5" name="cover-crack" descr="C:\Users\user\_se4nchoi\batteryvision\docs\submission\build\img\cover_crack.jpg">    </p:cNvPr>
          <p:cNvPicPr>
            <a:picLocks noChangeAspect="1"/>
          </p:cNvPicPr>
          <p:nvPr/>
        </p:nvPicPr>
        <p:blipFill>
          <a:blip r:embed="rId1"/>
          <a:stretch>
            <a:fillRect/>
          </a:stretch>
        </p:blipFill>
        <p:spPr>
          <a:xfrm>
            <a:off x="5074920" y="2377440"/>
            <a:ext cx="2103120" cy="2103120"/>
          </a:xfrm>
          <a:prstGeom prst="rect">
            <a:avLst/>
          </a:prstGeom>
        </p:spPr>
      </p:pic>
      <p:sp>
        <p:nvSpPr>
          <p:cNvPr id="6" name="cover-dot-crack"/>
          <p:cNvSpPr/>
          <p:nvPr/>
        </p:nvSpPr>
        <p:spPr>
          <a:xfrm>
            <a:off x="5074920" y="4663440"/>
            <a:ext cx="146304" cy="146304"/>
          </a:xfrm>
          <a:prstGeom prst="ellipse">
            <a:avLst/>
          </a:prstGeom>
          <a:solidFill>
            <a:schemeClr val="accent2"/>
          </a:solidFill>
          <a:ln/>
        </p:spPr>
      </p:sp>
      <p:sp>
        <p:nvSpPr>
          <p:cNvPr id="7" name="cover-label-crack"/>
          <p:cNvSpPr txBox="1"/>
          <p:nvPr/>
        </p:nvSpPr>
        <p:spPr>
          <a:xfrm>
            <a:off x="5312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crack</a:t>
            </a:r>
            <a:endParaRPr lang="en-US" sz="1400" dirty="0"/>
          </a:p>
        </p:txBody>
      </p:sp>
      <p:pic>
        <p:nvPicPr>
          <p:cNvPr id="8" name="cover-scratch" descr="C:\Users\user\_se4nchoi\batteryvision\docs\submission\build\img\cover_scratch.jpg">    </p:cNvPr>
          <p:cNvPicPr>
            <a:picLocks noChangeAspect="1"/>
          </p:cNvPicPr>
          <p:nvPr/>
        </p:nvPicPr>
        <p:blipFill>
          <a:blip r:embed="rId2"/>
          <a:stretch>
            <a:fillRect/>
          </a:stretch>
        </p:blipFill>
        <p:spPr>
          <a:xfrm>
            <a:off x="7360920" y="2377440"/>
            <a:ext cx="2103120" cy="2103120"/>
          </a:xfrm>
          <a:prstGeom prst="rect">
            <a:avLst/>
          </a:prstGeom>
        </p:spPr>
      </p:pic>
      <p:sp>
        <p:nvSpPr>
          <p:cNvPr id="9" name="cover-dot-scratch"/>
          <p:cNvSpPr/>
          <p:nvPr/>
        </p:nvSpPr>
        <p:spPr>
          <a:xfrm>
            <a:off x="7360920" y="4663440"/>
            <a:ext cx="146304" cy="146304"/>
          </a:xfrm>
          <a:prstGeom prst="ellipse">
            <a:avLst/>
          </a:prstGeom>
          <a:solidFill>
            <a:schemeClr val="accent3"/>
          </a:solidFill>
          <a:ln/>
        </p:spPr>
      </p:sp>
      <p:sp>
        <p:nvSpPr>
          <p:cNvPr id="10" name="cover-label-scratch"/>
          <p:cNvSpPr txBox="1"/>
          <p:nvPr/>
        </p:nvSpPr>
        <p:spPr>
          <a:xfrm>
            <a:off x="7598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scratch</a:t>
            </a:r>
            <a:endParaRPr lang="en-US" sz="1400" dirty="0"/>
          </a:p>
        </p:txBody>
      </p:sp>
      <p:pic>
        <p:nvPicPr>
          <p:cNvPr id="11" name="cover-정상" descr="C:\Users\user\_se4nchoi\batteryvision\docs\submission\build\img\cover_good.jpg">    </p:cNvPr>
          <p:cNvPicPr>
            <a:picLocks noChangeAspect="1"/>
          </p:cNvPicPr>
          <p:nvPr/>
        </p:nvPicPr>
        <p:blipFill>
          <a:blip r:embed="rId3"/>
          <a:stretch>
            <a:fillRect/>
          </a:stretch>
        </p:blipFill>
        <p:spPr>
          <a:xfrm>
            <a:off x="9646920" y="2377440"/>
            <a:ext cx="2103120" cy="2103120"/>
          </a:xfrm>
          <a:prstGeom prst="rect">
            <a:avLst/>
          </a:prstGeom>
        </p:spPr>
      </p:pic>
      <p:sp>
        <p:nvSpPr>
          <p:cNvPr id="12" name="cover-dot-정상"/>
          <p:cNvSpPr/>
          <p:nvPr/>
        </p:nvSpPr>
        <p:spPr>
          <a:xfrm>
            <a:off x="9646920" y="4663440"/>
            <a:ext cx="146304" cy="146304"/>
          </a:xfrm>
          <a:prstGeom prst="ellipse">
            <a:avLst/>
          </a:prstGeom>
          <a:solidFill>
            <a:schemeClr val="accent6"/>
          </a:solidFill>
          <a:ln/>
        </p:spPr>
      </p:sp>
      <p:sp>
        <p:nvSpPr>
          <p:cNvPr id="13" name="cover-label-정상"/>
          <p:cNvSpPr txBox="1"/>
          <p:nvPr/>
        </p:nvSpPr>
        <p:spPr>
          <a:xfrm>
            <a:off x="9884664" y="4590288"/>
            <a:ext cx="1828800" cy="292608"/>
          </a:xfrm>
          <a:prstGeom prst="rect">
            <a:avLst/>
          </a:prstGeom>
          <a:noFill/>
          <a:ln/>
        </p:spPr>
        <p:txBody>
          <a:bodyPr wrap="square" lIns="0" tIns="0" rIns="0" bIns="0" rtlCol="0" anchor="t"/>
          <a:lstStyle/>
          <a:p>
            <a:pPr indent="0" marL="0">
              <a:buNone/>
            </a:pPr>
            <a:r>
              <a:rPr lang="en-US" sz="1400" b="1" dirty="0">
                <a:solidFill>
                  <a:schemeClr val="tx1"/>
                </a:solidFill>
              </a:rPr>
              <a:t>정상</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crack은 쉽고, scratch는 어려워</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크기는 비슷한데, 대비가 다르다</a:t>
            </a:r>
            <a:endParaRPr lang="en-US" sz="1500" dirty="0"/>
          </a:p>
        </p:txBody>
      </p:sp>
      <p:pic>
        <p:nvPicPr>
          <p:cNvPr id="4" name="zoom-crack" descr="C:\Users\user\_se4nchoi\batteryvision\docs\submission\build\img\zoom_crack.jpg">    </p:cNvPr>
          <p:cNvPicPr>
            <a:picLocks noChangeAspect="1"/>
          </p:cNvPicPr>
          <p:nvPr/>
        </p:nvPicPr>
        <p:blipFill>
          <a:blip r:embed="rId1"/>
          <a:stretch>
            <a:fillRect/>
          </a:stretch>
        </p:blipFill>
        <p:spPr>
          <a:xfrm>
            <a:off x="548640" y="1691640"/>
            <a:ext cx="2377440" cy="2377440"/>
          </a:xfrm>
          <a:prstGeom prst="rect">
            <a:avLst/>
          </a:prstGeom>
        </p:spPr>
      </p:pic>
      <p:sp>
        <p:nvSpPr>
          <p:cNvPr id="5" name="zoom-dot-crack"/>
          <p:cNvSpPr/>
          <p:nvPr/>
        </p:nvSpPr>
        <p:spPr>
          <a:xfrm>
            <a:off x="548640" y="4224528"/>
            <a:ext cx="146304" cy="146304"/>
          </a:xfrm>
          <a:prstGeom prst="ellipse">
            <a:avLst/>
          </a:prstGeom>
          <a:solidFill>
            <a:schemeClr val="accent2"/>
          </a:solidFill>
          <a:ln/>
        </p:spPr>
      </p:sp>
      <p:sp>
        <p:nvSpPr>
          <p:cNvPr id="6" name="zoom-cap-crack"/>
          <p:cNvSpPr txBox="1"/>
          <p:nvPr/>
        </p:nvSpPr>
        <p:spPr>
          <a:xfrm>
            <a:off x="786384" y="4151376"/>
            <a:ext cx="2194560" cy="292608"/>
          </a:xfrm>
          <a:prstGeom prst="rect">
            <a:avLst/>
          </a:prstGeom>
          <a:noFill/>
          <a:ln/>
        </p:spPr>
        <p:txBody>
          <a:bodyPr wrap="square" lIns="0" tIns="0" rIns="0" bIns="0" rtlCol="0" anchor="t"/>
          <a:lstStyle/>
          <a:p>
            <a:pPr indent="0" marL="0">
              <a:buNone/>
            </a:pPr>
            <a:r>
              <a:rPr lang="en-US" sz="1400" b="1" dirty="0">
                <a:solidFill>
                  <a:schemeClr val="tx1"/>
                </a:solidFill>
              </a:rPr>
              <a:t>crack  </a:t>
            </a:r>
            <a:pPr indent="0" marL="0">
              <a:buNone/>
            </a:pPr>
            <a:r>
              <a:rPr lang="en-US" sz="1400" dirty="0">
                <a:solidFill>
                  <a:schemeClr val="tx2"/>
                </a:solidFill>
              </a:rPr>
              <a:t>어둡고 뚜렷한 깨짐</a:t>
            </a:r>
            <a:endParaRPr lang="en-US" sz="1400" dirty="0"/>
          </a:p>
        </p:txBody>
      </p:sp>
      <p:pic>
        <p:nvPicPr>
          <p:cNvPr id="7" name="zoom-scratch" descr="C:\Users\user\_se4nchoi\batteryvision\docs\submission\build\img\zoom_scratch.jpg">    </p:cNvPr>
          <p:cNvPicPr>
            <a:picLocks noChangeAspect="1"/>
          </p:cNvPicPr>
          <p:nvPr/>
        </p:nvPicPr>
        <p:blipFill>
          <a:blip r:embed="rId2"/>
          <a:stretch>
            <a:fillRect/>
          </a:stretch>
        </p:blipFill>
        <p:spPr>
          <a:xfrm>
            <a:off x="3154680" y="1691640"/>
            <a:ext cx="2377440" cy="2377440"/>
          </a:xfrm>
          <a:prstGeom prst="rect">
            <a:avLst/>
          </a:prstGeom>
        </p:spPr>
      </p:pic>
      <p:sp>
        <p:nvSpPr>
          <p:cNvPr id="8" name="zoom-dot-scratch"/>
          <p:cNvSpPr/>
          <p:nvPr/>
        </p:nvSpPr>
        <p:spPr>
          <a:xfrm>
            <a:off x="3154680" y="4224528"/>
            <a:ext cx="146304" cy="146304"/>
          </a:xfrm>
          <a:prstGeom prst="ellipse">
            <a:avLst/>
          </a:prstGeom>
          <a:solidFill>
            <a:schemeClr val="accent3"/>
          </a:solidFill>
          <a:ln/>
        </p:spPr>
      </p:sp>
      <p:sp>
        <p:nvSpPr>
          <p:cNvPr id="9" name="zoom-cap-scratch"/>
          <p:cNvSpPr txBox="1"/>
          <p:nvPr/>
        </p:nvSpPr>
        <p:spPr>
          <a:xfrm>
            <a:off x="3392424" y="4151376"/>
            <a:ext cx="2194560" cy="292608"/>
          </a:xfrm>
          <a:prstGeom prst="rect">
            <a:avLst/>
          </a:prstGeom>
          <a:noFill/>
          <a:ln/>
        </p:spPr>
        <p:txBody>
          <a:bodyPr wrap="square" lIns="0" tIns="0" rIns="0" bIns="0" rtlCol="0" anchor="t"/>
          <a:lstStyle/>
          <a:p>
            <a:pPr indent="0" marL="0">
              <a:buNone/>
            </a:pPr>
            <a:r>
              <a:rPr lang="en-US" sz="1400" b="1" dirty="0">
                <a:solidFill>
                  <a:schemeClr val="tx1"/>
                </a:solidFill>
              </a:rPr>
              <a:t>scratch  </a:t>
            </a:r>
            <a:pPr indent="0" marL="0">
              <a:buNone/>
            </a:pPr>
            <a:r>
              <a:rPr lang="en-US" sz="1400" dirty="0">
                <a:solidFill>
                  <a:schemeClr val="tx2"/>
                </a:solidFill>
              </a:rPr>
              <a:t>가늘고 흐릿한 선</a:t>
            </a:r>
            <a:endParaRPr lang="en-US" sz="1400" dirty="0"/>
          </a:p>
        </p:txBody>
      </p:sp>
      <p:sp>
        <p:nvSpPr>
          <p:cNvPr id="10" name="meme-card"/>
          <p:cNvSpPr/>
          <p:nvPr/>
        </p:nvSpPr>
        <p:spPr>
          <a:xfrm>
            <a:off x="548640" y="4709160"/>
            <a:ext cx="4983480" cy="1508760"/>
          </a:xfrm>
          <a:prstGeom prst="roundRect">
            <a:avLst>
              <a:gd name="adj" fmla="val 4848"/>
            </a:avLst>
          </a:prstGeom>
          <a:solidFill>
            <a:schemeClr val="bg2"/>
          </a:solidFill>
          <a:ln/>
        </p:spPr>
      </p:sp>
      <p:pic>
        <p:nvPicPr>
          <p:cNvPr id="11" name="meme" descr="C:\Users\user\_se4nchoi\batteryvision\docs\submission\build\img\meme.png">    </p:cNvPr>
          <p:cNvPicPr>
            <a:picLocks noChangeAspect="1"/>
          </p:cNvPicPr>
          <p:nvPr/>
        </p:nvPicPr>
        <p:blipFill>
          <a:blip r:embed="rId3"/>
          <a:stretch>
            <a:fillRect/>
          </a:stretch>
        </p:blipFill>
        <p:spPr>
          <a:xfrm>
            <a:off x="731520" y="4846320"/>
            <a:ext cx="1234440" cy="1234440"/>
          </a:xfrm>
          <a:prstGeom prst="rect">
            <a:avLst/>
          </a:prstGeom>
        </p:spPr>
      </p:pic>
      <p:sp>
        <p:nvSpPr>
          <p:cNvPr id="12" name="meme-line"/>
          <p:cNvSpPr txBox="1"/>
          <p:nvPr/>
        </p:nvSpPr>
        <p:spPr>
          <a:xfrm>
            <a:off x="2148840" y="4937760"/>
            <a:ext cx="3291840" cy="320040"/>
          </a:xfrm>
          <a:prstGeom prst="rect">
            <a:avLst/>
          </a:prstGeom>
          <a:noFill/>
          <a:ln/>
        </p:spPr>
        <p:txBody>
          <a:bodyPr wrap="square" lIns="0" tIns="0" rIns="0" bIns="0" rtlCol="0" anchor="t"/>
          <a:lstStyle/>
          <a:p>
            <a:pPr indent="0" marL="0">
              <a:buNone/>
            </a:pPr>
            <a:r>
              <a:rPr lang="en-US" sz="1400" b="1" dirty="0">
                <a:solidFill>
                  <a:schemeClr val="tx1"/>
                </a:solidFill>
              </a:rPr>
              <a:t>만남은 쉽고 이별은 어려워</a:t>
            </a:r>
            <a:endParaRPr lang="en-US" sz="1400" dirty="0"/>
          </a:p>
        </p:txBody>
      </p:sp>
      <p:sp>
        <p:nvSpPr>
          <p:cNvPr id="13" name="meme-line2"/>
          <p:cNvSpPr txBox="1"/>
          <p:nvPr/>
        </p:nvSpPr>
        <p:spPr>
          <a:xfrm>
            <a:off x="2148840" y="5303520"/>
            <a:ext cx="3291840" cy="320040"/>
          </a:xfrm>
          <a:prstGeom prst="rect">
            <a:avLst/>
          </a:prstGeom>
          <a:noFill/>
          <a:ln/>
        </p:spPr>
        <p:txBody>
          <a:bodyPr wrap="square" lIns="0" tIns="0" rIns="0" bIns="0" rtlCol="0" anchor="t"/>
          <a:lstStyle/>
          <a:p>
            <a:pPr indent="0" marL="0">
              <a:buNone/>
            </a:pPr>
            <a:r>
              <a:rPr lang="en-US" sz="1400" dirty="0">
                <a:solidFill>
                  <a:schemeClr val="accent3"/>
                </a:solidFill>
              </a:rPr>
              <a:t>crack은 쉽고 scratch는 어려워</a:t>
            </a:r>
            <a:endParaRPr lang="en-US" sz="1400" dirty="0"/>
          </a:p>
        </p:txBody>
      </p:sp>
      <p:sp>
        <p:nvSpPr>
          <p:cNvPr id="14" name="meme-credit"/>
          <p:cNvSpPr txBox="1"/>
          <p:nvPr/>
        </p:nvSpPr>
        <p:spPr>
          <a:xfrm>
            <a:off x="2148840" y="5760720"/>
            <a:ext cx="3291840" cy="228600"/>
          </a:xfrm>
          <a:prstGeom prst="rect">
            <a:avLst/>
          </a:prstGeom>
          <a:noFill/>
          <a:ln/>
        </p:spPr>
        <p:txBody>
          <a:bodyPr wrap="square" lIns="0" tIns="0" rIns="0" bIns="0" rtlCol="0" anchor="t"/>
          <a:lstStyle/>
          <a:p>
            <a:pPr indent="0" marL="0">
              <a:buNone/>
            </a:pPr>
            <a:r>
              <a:rPr lang="en-US" sz="1000" dirty="0">
                <a:solidFill>
                  <a:schemeClr val="tx2"/>
                </a:solidFill>
              </a:rPr>
              <a:t>이미지: Mnet 방송 화면</a:t>
            </a:r>
            <a:endParaRPr lang="en-US" sz="1000" dirty="0"/>
          </a:p>
        </p:txBody>
      </p:sp>
      <p:graphicFrame>
        <p:nvGraphicFramePr>
          <p:cNvPr id="15" name="ap-chart" descr=""/>
          <p:cNvGraphicFramePr/>
          <p:nvPr/>
        </p:nvGraphicFramePr>
        <p:xfrm>
          <a:off x="5989320" y="1600200"/>
          <a:ext cx="5669280" cy="3566160"/>
        </p:xfrm>
        <a:graphic xmlns:a="http://schemas.openxmlformats.org/drawingml/2006/main">
          <a:graphicData uri="http://schemas.openxmlformats.org/drawingml/2006/chart">
            <c:chart xmlns:c="http://schemas.openxmlformats.org/drawingml/2006/chart" r:id="rId4"/>
          </a:graphicData>
        </a:graphic>
      </p:graphicFrame>
      <p:sp>
        <p:nvSpPr>
          <p:cNvPr id="16" name="stat-card"/>
          <p:cNvSpPr/>
          <p:nvPr/>
        </p:nvSpPr>
        <p:spPr>
          <a:xfrm>
            <a:off x="5989320" y="5349240"/>
            <a:ext cx="5669280" cy="868680"/>
          </a:xfrm>
          <a:prstGeom prst="roundRect">
            <a:avLst>
              <a:gd name="adj" fmla="val 8421"/>
            </a:avLst>
          </a:prstGeom>
          <a:solidFill>
            <a:schemeClr val="bg2"/>
          </a:solidFill>
          <a:ln/>
        </p:spPr>
      </p:sp>
      <p:sp>
        <p:nvSpPr>
          <p:cNvPr id="17" name="stat-scratch"/>
          <p:cNvSpPr txBox="1"/>
          <p:nvPr/>
        </p:nvSpPr>
        <p:spPr>
          <a:xfrm>
            <a:off x="6217920" y="5532120"/>
            <a:ext cx="5303520" cy="502920"/>
          </a:xfrm>
          <a:prstGeom prst="rect">
            <a:avLst/>
          </a:prstGeom>
          <a:noFill/>
          <a:ln/>
        </p:spPr>
        <p:txBody>
          <a:bodyPr wrap="square" lIns="0" tIns="0" rIns="0" bIns="0" rtlCol="0" anchor="ctr"/>
          <a:lstStyle/>
          <a:p>
            <a:pPr indent="0" marL="0">
              <a:buNone/>
            </a:pPr>
            <a:r>
              <a:rPr lang="en-US" sz="2200" b="1" dirty="0">
                <a:solidFill>
                  <a:schemeClr val="accent3"/>
                </a:solidFill>
              </a:rPr>
              <a:t>0.39% · 0.44%  </a:t>
            </a:r>
            <a:pPr indent="0" marL="0">
              <a:buNone/>
            </a:pPr>
            <a:r>
              <a:rPr lang="en-US" sz="1400" dirty="0">
                <a:solidFill>
                  <a:schemeClr val="tx2"/>
                </a:solidFill>
              </a:rPr>
              <a:t>crack · scratch 박스 크기 중앙값</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실험 설계</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모든 모델에 같은 데이터, 같은 판정 기준</a:t>
            </a:r>
            <a:endParaRPr lang="en-US" sz="1500" dirty="0"/>
          </a:p>
        </p:txBody>
      </p:sp>
      <p:sp>
        <p:nvSpPr>
          <p:cNvPr id="4" name="stat-0"/>
          <p:cNvSpPr/>
          <p:nvPr/>
        </p:nvSpPr>
        <p:spPr>
          <a:xfrm>
            <a:off x="548640" y="1645920"/>
            <a:ext cx="2624328" cy="1143000"/>
          </a:xfrm>
          <a:prstGeom prst="roundRect">
            <a:avLst>
              <a:gd name="adj" fmla="val 6400"/>
            </a:avLst>
          </a:prstGeom>
          <a:solidFill>
            <a:schemeClr val="bg2"/>
          </a:solidFill>
          <a:ln/>
        </p:spPr>
      </p:sp>
      <p:sp>
        <p:nvSpPr>
          <p:cNvPr id="5" name="stat-n-0"/>
          <p:cNvSpPr txBox="1"/>
          <p:nvPr/>
        </p:nvSpPr>
        <p:spPr>
          <a:xfrm>
            <a:off x="777240" y="1755648"/>
            <a:ext cx="2286000" cy="548640"/>
          </a:xfrm>
          <a:prstGeom prst="rect">
            <a:avLst/>
          </a:prstGeom>
          <a:noFill/>
          <a:ln/>
        </p:spPr>
        <p:txBody>
          <a:bodyPr wrap="square" lIns="0" tIns="0" rIns="0" bIns="0" rtlCol="0" anchor="t"/>
          <a:lstStyle/>
          <a:p>
            <a:pPr indent="0" marL="0">
              <a:buNone/>
            </a:pPr>
            <a:r>
              <a:rPr lang="en-US" sz="3000" b="1" dirty="0">
                <a:solidFill>
                  <a:schemeClr val="accent1"/>
                </a:solidFill>
              </a:rPr>
              <a:t>1,531</a:t>
            </a:r>
            <a:endParaRPr lang="en-US" sz="3000" dirty="0"/>
          </a:p>
        </p:txBody>
      </p:sp>
      <p:sp>
        <p:nvSpPr>
          <p:cNvPr id="6" name="stat-l-0"/>
          <p:cNvSpPr txBox="1"/>
          <p:nvPr/>
        </p:nvSpPr>
        <p:spPr>
          <a:xfrm>
            <a:off x="777240" y="2331720"/>
            <a:ext cx="2286000" cy="320040"/>
          </a:xfrm>
          <a:prstGeom prst="rect">
            <a:avLst/>
          </a:prstGeom>
          <a:noFill/>
          <a:ln/>
        </p:spPr>
        <p:txBody>
          <a:bodyPr wrap="square" lIns="0" tIns="0" rIns="0" bIns="0" rtlCol="0" anchor="t"/>
          <a:lstStyle/>
          <a:p>
            <a:pPr indent="0" marL="0">
              <a:buNone/>
            </a:pPr>
            <a:r>
              <a:rPr lang="en-US" sz="1200" dirty="0">
                <a:solidFill>
                  <a:schemeClr val="tx2"/>
                </a:solidFill>
              </a:rPr>
              <a:t>원본 사진</a:t>
            </a:r>
            <a:endParaRPr lang="en-US" sz="1200" dirty="0"/>
          </a:p>
        </p:txBody>
      </p:sp>
      <p:sp>
        <p:nvSpPr>
          <p:cNvPr id="7" name="stat-1"/>
          <p:cNvSpPr/>
          <p:nvPr/>
        </p:nvSpPr>
        <p:spPr>
          <a:xfrm>
            <a:off x="3355848" y="1645920"/>
            <a:ext cx="2624328" cy="1143000"/>
          </a:xfrm>
          <a:prstGeom prst="roundRect">
            <a:avLst>
              <a:gd name="adj" fmla="val 6400"/>
            </a:avLst>
          </a:prstGeom>
          <a:solidFill>
            <a:schemeClr val="bg2"/>
          </a:solidFill>
          <a:ln/>
        </p:spPr>
      </p:sp>
      <p:sp>
        <p:nvSpPr>
          <p:cNvPr id="8" name="stat-n-1"/>
          <p:cNvSpPr txBox="1"/>
          <p:nvPr/>
        </p:nvSpPr>
        <p:spPr>
          <a:xfrm>
            <a:off x="3584448" y="1755648"/>
            <a:ext cx="2286000" cy="548640"/>
          </a:xfrm>
          <a:prstGeom prst="rect">
            <a:avLst/>
          </a:prstGeom>
          <a:noFill/>
          <a:ln/>
        </p:spPr>
        <p:txBody>
          <a:bodyPr wrap="square" lIns="0" tIns="0" rIns="0" bIns="0" rtlCol="0" anchor="t"/>
          <a:lstStyle/>
          <a:p>
            <a:pPr indent="0" marL="0">
              <a:buNone/>
            </a:pPr>
            <a:r>
              <a:rPr lang="en-US" sz="3000" b="1" dirty="0">
                <a:solidFill>
                  <a:schemeClr val="accent1"/>
                </a:solidFill>
              </a:rPr>
              <a:t>2</a:t>
            </a:r>
            <a:endParaRPr lang="en-US" sz="3000" dirty="0"/>
          </a:p>
        </p:txBody>
      </p:sp>
      <p:sp>
        <p:nvSpPr>
          <p:cNvPr id="9" name="stat-l-1"/>
          <p:cNvSpPr txBox="1"/>
          <p:nvPr/>
        </p:nvSpPr>
        <p:spPr>
          <a:xfrm>
            <a:off x="3584448" y="2331720"/>
            <a:ext cx="2286000" cy="320040"/>
          </a:xfrm>
          <a:prstGeom prst="rect">
            <a:avLst/>
          </a:prstGeom>
          <a:noFill/>
          <a:ln/>
        </p:spPr>
        <p:txBody>
          <a:bodyPr wrap="square" lIns="0" tIns="0" rIns="0" bIns="0" rtlCol="0" anchor="t"/>
          <a:lstStyle/>
          <a:p>
            <a:pPr indent="0" marL="0">
              <a:buNone/>
            </a:pPr>
            <a:r>
              <a:rPr lang="en-US" sz="1200" dirty="0">
                <a:solidFill>
                  <a:schemeClr val="tx2"/>
                </a:solidFill>
              </a:rPr>
              <a:t>클래스 (crack · scratch)</a:t>
            </a:r>
            <a:endParaRPr lang="en-US" sz="1200" dirty="0"/>
          </a:p>
        </p:txBody>
      </p:sp>
      <p:sp>
        <p:nvSpPr>
          <p:cNvPr id="10" name="stat-2"/>
          <p:cNvSpPr/>
          <p:nvPr/>
        </p:nvSpPr>
        <p:spPr>
          <a:xfrm>
            <a:off x="6163056" y="1645920"/>
            <a:ext cx="2624328" cy="1143000"/>
          </a:xfrm>
          <a:prstGeom prst="roundRect">
            <a:avLst>
              <a:gd name="adj" fmla="val 6400"/>
            </a:avLst>
          </a:prstGeom>
          <a:solidFill>
            <a:schemeClr val="bg2"/>
          </a:solidFill>
          <a:ln/>
        </p:spPr>
      </p:sp>
      <p:sp>
        <p:nvSpPr>
          <p:cNvPr id="11" name="stat-n-2"/>
          <p:cNvSpPr txBox="1"/>
          <p:nvPr/>
        </p:nvSpPr>
        <p:spPr>
          <a:xfrm>
            <a:off x="6391656" y="1755648"/>
            <a:ext cx="2286000" cy="548640"/>
          </a:xfrm>
          <a:prstGeom prst="rect">
            <a:avLst/>
          </a:prstGeom>
          <a:noFill/>
          <a:ln/>
        </p:spPr>
        <p:txBody>
          <a:bodyPr wrap="square" lIns="0" tIns="0" rIns="0" bIns="0" rtlCol="0" anchor="t"/>
          <a:lstStyle/>
          <a:p>
            <a:pPr indent="0" marL="0">
              <a:buNone/>
            </a:pPr>
            <a:r>
              <a:rPr lang="en-US" sz="3000" b="1" dirty="0">
                <a:solidFill>
                  <a:schemeClr val="accent1"/>
                </a:solidFill>
              </a:rPr>
              <a:t>3</a:t>
            </a:r>
            <a:endParaRPr lang="en-US" sz="3000" dirty="0"/>
          </a:p>
        </p:txBody>
      </p:sp>
      <p:sp>
        <p:nvSpPr>
          <p:cNvPr id="12" name="stat-l-2"/>
          <p:cNvSpPr txBox="1"/>
          <p:nvPr/>
        </p:nvSpPr>
        <p:spPr>
          <a:xfrm>
            <a:off x="6391656" y="2331720"/>
            <a:ext cx="2286000" cy="320040"/>
          </a:xfrm>
          <a:prstGeom prst="rect">
            <a:avLst/>
          </a:prstGeom>
          <a:noFill/>
          <a:ln/>
        </p:spPr>
        <p:txBody>
          <a:bodyPr wrap="square" lIns="0" tIns="0" rIns="0" bIns="0" rtlCol="0" anchor="t"/>
          <a:lstStyle/>
          <a:p>
            <a:pPr indent="0" marL="0">
              <a:buNone/>
            </a:pPr>
            <a:r>
              <a:rPr lang="en-US" sz="1200" dirty="0">
                <a:solidFill>
                  <a:schemeClr val="tx2"/>
                </a:solidFill>
              </a:rPr>
              <a:t>모델 (ATSS · YOLOX-S · Tiny)</a:t>
            </a:r>
            <a:endParaRPr lang="en-US" sz="1200" dirty="0"/>
          </a:p>
        </p:txBody>
      </p:sp>
      <p:sp>
        <p:nvSpPr>
          <p:cNvPr id="13" name="stat-3"/>
          <p:cNvSpPr/>
          <p:nvPr/>
        </p:nvSpPr>
        <p:spPr>
          <a:xfrm>
            <a:off x="8970264" y="1645920"/>
            <a:ext cx="2624328" cy="1143000"/>
          </a:xfrm>
          <a:prstGeom prst="roundRect">
            <a:avLst>
              <a:gd name="adj" fmla="val 6400"/>
            </a:avLst>
          </a:prstGeom>
          <a:solidFill>
            <a:schemeClr val="bg2"/>
          </a:solidFill>
          <a:ln/>
        </p:spPr>
      </p:sp>
      <p:sp>
        <p:nvSpPr>
          <p:cNvPr id="14" name="stat-n-3"/>
          <p:cNvSpPr txBox="1"/>
          <p:nvPr/>
        </p:nvSpPr>
        <p:spPr>
          <a:xfrm>
            <a:off x="9198864" y="1755648"/>
            <a:ext cx="2286000" cy="548640"/>
          </a:xfrm>
          <a:prstGeom prst="rect">
            <a:avLst/>
          </a:prstGeom>
          <a:noFill/>
          <a:ln/>
        </p:spPr>
        <p:txBody>
          <a:bodyPr wrap="square" lIns="0" tIns="0" rIns="0" bIns="0" rtlCol="0" anchor="t"/>
          <a:lstStyle/>
          <a:p>
            <a:pPr indent="0" marL="0">
              <a:buNone/>
            </a:pPr>
            <a:r>
              <a:rPr lang="en-US" sz="3000" b="1" dirty="0">
                <a:solidFill>
                  <a:schemeClr val="accent1"/>
                </a:solidFill>
              </a:rPr>
              <a:t>131</a:t>
            </a:r>
            <a:endParaRPr lang="en-US" sz="3000" dirty="0"/>
          </a:p>
        </p:txBody>
      </p:sp>
      <p:sp>
        <p:nvSpPr>
          <p:cNvPr id="15" name="stat-l-3"/>
          <p:cNvSpPr txBox="1"/>
          <p:nvPr/>
        </p:nvSpPr>
        <p:spPr>
          <a:xfrm>
            <a:off x="9198864" y="2331720"/>
            <a:ext cx="2286000" cy="320040"/>
          </a:xfrm>
          <a:prstGeom prst="rect">
            <a:avLst/>
          </a:prstGeom>
          <a:noFill/>
          <a:ln/>
        </p:spPr>
        <p:txBody>
          <a:bodyPr wrap="square" lIns="0" tIns="0" rIns="0" bIns="0" rtlCol="0" anchor="t"/>
          <a:lstStyle/>
          <a:p>
            <a:pPr indent="0" marL="0">
              <a:buNone/>
            </a:pPr>
            <a:r>
              <a:rPr lang="en-US" sz="1200" dirty="0">
                <a:solidFill>
                  <a:schemeClr val="tx2"/>
                </a:solidFill>
              </a:rPr>
              <a:t>테스트 사진 (Geti에 올리지 않음)</a:t>
            </a:r>
            <a:endParaRPr lang="en-US" sz="1200" dirty="0"/>
          </a:p>
        </p:txBody>
      </p:sp>
      <p:sp>
        <p:nvSpPr>
          <p:cNvPr id="16" name="pipeline-card"/>
          <p:cNvSpPr/>
          <p:nvPr/>
        </p:nvSpPr>
        <p:spPr>
          <a:xfrm>
            <a:off x="548640" y="3017520"/>
            <a:ext cx="5394960" cy="3063240"/>
          </a:xfrm>
          <a:prstGeom prst="roundRect">
            <a:avLst>
              <a:gd name="adj" fmla="val 2388"/>
            </a:avLst>
          </a:prstGeom>
          <a:solidFill>
            <a:schemeClr val="bg2"/>
          </a:solidFill>
          <a:ln/>
        </p:spPr>
      </p:sp>
      <p:sp>
        <p:nvSpPr>
          <p:cNvPr id="17" name="pipe-h"/>
          <p:cNvSpPr txBox="1"/>
          <p:nvPr/>
        </p:nvSpPr>
        <p:spPr>
          <a:xfrm>
            <a:off x="822960" y="3154680"/>
            <a:ext cx="4572000" cy="320040"/>
          </a:xfrm>
          <a:prstGeom prst="rect">
            <a:avLst/>
          </a:prstGeom>
          <a:noFill/>
          <a:ln/>
        </p:spPr>
        <p:txBody>
          <a:bodyPr wrap="square" lIns="0" tIns="0" rIns="0" bIns="0" rtlCol="0" anchor="t"/>
          <a:lstStyle/>
          <a:p>
            <a:pPr indent="0" marL="0">
              <a:buNone/>
            </a:pPr>
            <a:r>
              <a:rPr lang="en-US" sz="1600" b="1" dirty="0">
                <a:solidFill>
                  <a:schemeClr val="tx1"/>
                </a:solidFill>
              </a:rPr>
              <a:t>파이프라인</a:t>
            </a:r>
            <a:endParaRPr lang="en-US" sz="1600" dirty="0"/>
          </a:p>
        </p:txBody>
      </p:sp>
      <p:sp>
        <p:nvSpPr>
          <p:cNvPr id="18" name="step-c-0"/>
          <p:cNvSpPr/>
          <p:nvPr/>
        </p:nvSpPr>
        <p:spPr>
          <a:xfrm>
            <a:off x="822960" y="3611880"/>
            <a:ext cx="292608" cy="292608"/>
          </a:xfrm>
          <a:prstGeom prst="ellipse">
            <a:avLst/>
          </a:prstGeom>
          <a:solidFill>
            <a:schemeClr val="accent1"/>
          </a:solidFill>
          <a:ln/>
        </p:spPr>
      </p:sp>
      <p:sp>
        <p:nvSpPr>
          <p:cNvPr id="19" name="step-n-0"/>
          <p:cNvSpPr txBox="1"/>
          <p:nvPr/>
        </p:nvSpPr>
        <p:spPr>
          <a:xfrm>
            <a:off x="822960" y="3611880"/>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1</a:t>
            </a:r>
            <a:endParaRPr lang="en-US" sz="1200" dirty="0"/>
          </a:p>
        </p:txBody>
      </p:sp>
      <p:sp>
        <p:nvSpPr>
          <p:cNvPr id="20" name="step-t-0"/>
          <p:cNvSpPr txBox="1"/>
          <p:nvPr/>
        </p:nvSpPr>
        <p:spPr>
          <a:xfrm>
            <a:off x="1280160" y="3593592"/>
            <a:ext cx="4480560" cy="329184"/>
          </a:xfrm>
          <a:prstGeom prst="rect">
            <a:avLst/>
          </a:prstGeom>
          <a:noFill/>
          <a:ln/>
        </p:spPr>
        <p:txBody>
          <a:bodyPr wrap="square" lIns="0" tIns="0" rIns="0" bIns="0" rtlCol="0" anchor="ctr"/>
          <a:lstStyle/>
          <a:p>
            <a:pPr indent="0" marL="0">
              <a:buNone/>
            </a:pPr>
            <a:r>
              <a:rPr lang="en-US" sz="1400" dirty="0">
                <a:solidFill>
                  <a:schemeClr val="tx1"/>
                </a:solidFill>
              </a:rPr>
              <a:t>Roboflow 공개 데이터셋 (CC BY 4.0)</a:t>
            </a:r>
            <a:endParaRPr lang="en-US" sz="1400" dirty="0"/>
          </a:p>
        </p:txBody>
      </p:sp>
      <p:sp>
        <p:nvSpPr>
          <p:cNvPr id="21" name="step-c-1"/>
          <p:cNvSpPr/>
          <p:nvPr/>
        </p:nvSpPr>
        <p:spPr>
          <a:xfrm>
            <a:off x="822960" y="4041648"/>
            <a:ext cx="292608" cy="292608"/>
          </a:xfrm>
          <a:prstGeom prst="ellipse">
            <a:avLst/>
          </a:prstGeom>
          <a:solidFill>
            <a:schemeClr val="accent1"/>
          </a:solidFill>
          <a:ln/>
        </p:spPr>
      </p:sp>
      <p:sp>
        <p:nvSpPr>
          <p:cNvPr id="22" name="step-n-1"/>
          <p:cNvSpPr txBox="1"/>
          <p:nvPr/>
        </p:nvSpPr>
        <p:spPr>
          <a:xfrm>
            <a:off x="822960" y="4041648"/>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2</a:t>
            </a:r>
            <a:endParaRPr lang="en-US" sz="1200" dirty="0"/>
          </a:p>
        </p:txBody>
      </p:sp>
      <p:sp>
        <p:nvSpPr>
          <p:cNvPr id="23" name="step-t-1"/>
          <p:cNvSpPr txBox="1"/>
          <p:nvPr/>
        </p:nvSpPr>
        <p:spPr>
          <a:xfrm>
            <a:off x="1280160" y="4023360"/>
            <a:ext cx="4480560" cy="329184"/>
          </a:xfrm>
          <a:prstGeom prst="rect">
            <a:avLst/>
          </a:prstGeom>
          <a:noFill/>
          <a:ln/>
        </p:spPr>
        <p:txBody>
          <a:bodyPr wrap="square" lIns="0" tIns="0" rIns="0" bIns="0" rtlCol="0" anchor="ctr"/>
          <a:lstStyle/>
          <a:p>
            <a:pPr indent="0" marL="0">
              <a:buNone/>
            </a:pPr>
            <a:r>
              <a:rPr lang="en-US" sz="1400" dirty="0">
                <a:solidFill>
                  <a:schemeClr val="tx1"/>
                </a:solidFill>
              </a:rPr>
              <a:t>Intel Geti 학습 · 모델 3종</a:t>
            </a:r>
            <a:endParaRPr lang="en-US" sz="1400" dirty="0"/>
          </a:p>
        </p:txBody>
      </p:sp>
      <p:sp>
        <p:nvSpPr>
          <p:cNvPr id="24" name="step-c-2"/>
          <p:cNvSpPr/>
          <p:nvPr/>
        </p:nvSpPr>
        <p:spPr>
          <a:xfrm>
            <a:off x="822960" y="4471416"/>
            <a:ext cx="292608" cy="292608"/>
          </a:xfrm>
          <a:prstGeom prst="ellipse">
            <a:avLst/>
          </a:prstGeom>
          <a:solidFill>
            <a:schemeClr val="accent1"/>
          </a:solidFill>
          <a:ln/>
        </p:spPr>
      </p:sp>
      <p:sp>
        <p:nvSpPr>
          <p:cNvPr id="25" name="step-n-2"/>
          <p:cNvSpPr txBox="1"/>
          <p:nvPr/>
        </p:nvSpPr>
        <p:spPr>
          <a:xfrm>
            <a:off x="822960" y="4471416"/>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3</a:t>
            </a:r>
            <a:endParaRPr lang="en-US" sz="1200" dirty="0"/>
          </a:p>
        </p:txBody>
      </p:sp>
      <p:sp>
        <p:nvSpPr>
          <p:cNvPr id="26" name="step-t-2"/>
          <p:cNvSpPr txBox="1"/>
          <p:nvPr/>
        </p:nvSpPr>
        <p:spPr>
          <a:xfrm>
            <a:off x="1280160" y="4453128"/>
            <a:ext cx="4480560" cy="329184"/>
          </a:xfrm>
          <a:prstGeom prst="rect">
            <a:avLst/>
          </a:prstGeom>
          <a:noFill/>
          <a:ln/>
        </p:spPr>
        <p:txBody>
          <a:bodyPr wrap="square" lIns="0" tIns="0" rIns="0" bIns="0" rtlCol="0" anchor="ctr"/>
          <a:lstStyle/>
          <a:p>
            <a:pPr indent="0" marL="0">
              <a:buNone/>
            </a:pPr>
            <a:r>
              <a:rPr lang="en-US" sz="1400" dirty="0">
                <a:solidFill>
                  <a:schemeClr val="tx1"/>
                </a:solidFill>
              </a:rPr>
              <a:t>OpenVINO 내보내기 · FP16 / INT8</a:t>
            </a:r>
            <a:endParaRPr lang="en-US" sz="1400" dirty="0"/>
          </a:p>
        </p:txBody>
      </p:sp>
      <p:sp>
        <p:nvSpPr>
          <p:cNvPr id="27" name="step-c-3"/>
          <p:cNvSpPr/>
          <p:nvPr/>
        </p:nvSpPr>
        <p:spPr>
          <a:xfrm>
            <a:off x="822960" y="4901184"/>
            <a:ext cx="292608" cy="292608"/>
          </a:xfrm>
          <a:prstGeom prst="ellipse">
            <a:avLst/>
          </a:prstGeom>
          <a:solidFill>
            <a:schemeClr val="accent1"/>
          </a:solidFill>
          <a:ln/>
        </p:spPr>
      </p:sp>
      <p:sp>
        <p:nvSpPr>
          <p:cNvPr id="28" name="step-n-3"/>
          <p:cNvSpPr txBox="1"/>
          <p:nvPr/>
        </p:nvSpPr>
        <p:spPr>
          <a:xfrm>
            <a:off x="822960" y="4901184"/>
            <a:ext cx="292608" cy="292608"/>
          </a:xfrm>
          <a:prstGeom prst="rect">
            <a:avLst/>
          </a:prstGeom>
          <a:noFill/>
          <a:ln/>
        </p:spPr>
        <p:txBody>
          <a:bodyPr wrap="square" lIns="0" tIns="0" rIns="0" bIns="0" rtlCol="0" anchor="ctr"/>
          <a:lstStyle/>
          <a:p>
            <a:pPr algn="ctr" indent="0" marL="0">
              <a:buNone/>
            </a:pPr>
            <a:r>
              <a:rPr lang="en-US" sz="1200" b="1" dirty="0">
                <a:solidFill>
                  <a:schemeClr val="bg1"/>
                </a:solidFill>
              </a:rPr>
              <a:t>4</a:t>
            </a:r>
            <a:endParaRPr lang="en-US" sz="1200" dirty="0"/>
          </a:p>
        </p:txBody>
      </p:sp>
      <p:sp>
        <p:nvSpPr>
          <p:cNvPr id="29" name="step-t-3"/>
          <p:cNvSpPr txBox="1"/>
          <p:nvPr/>
        </p:nvSpPr>
        <p:spPr>
          <a:xfrm>
            <a:off x="1280160" y="4882896"/>
            <a:ext cx="4480560" cy="329184"/>
          </a:xfrm>
          <a:prstGeom prst="rect">
            <a:avLst/>
          </a:prstGeom>
          <a:noFill/>
          <a:ln/>
        </p:spPr>
        <p:txBody>
          <a:bodyPr wrap="square" lIns="0" tIns="0" rIns="0" bIns="0" rtlCol="0" anchor="ctr"/>
          <a:lstStyle/>
          <a:p>
            <a:pPr indent="0" marL="0">
              <a:buNone/>
            </a:pPr>
            <a:r>
              <a:rPr lang="en-US" sz="1400" dirty="0">
                <a:solidFill>
                  <a:schemeClr val="tx1"/>
                </a:solidFill>
              </a:rPr>
              <a:t>CPU 추론 → 판정</a:t>
            </a:r>
            <a:endParaRPr lang="en-US" sz="1400" dirty="0"/>
          </a:p>
        </p:txBody>
      </p:sp>
      <p:sp>
        <p:nvSpPr>
          <p:cNvPr id="30" name="pol-REJECT"/>
          <p:cNvSpPr/>
          <p:nvPr/>
        </p:nvSpPr>
        <p:spPr>
          <a:xfrm>
            <a:off x="822960" y="5349240"/>
            <a:ext cx="1508760" cy="566928"/>
          </a:xfrm>
          <a:prstGeom prst="roundRect">
            <a:avLst>
              <a:gd name="adj" fmla="val 9677"/>
            </a:avLst>
          </a:prstGeom>
          <a:solidFill>
            <a:schemeClr val="accent2">
              <a:alpha val="20000"/>
            </a:schemeClr>
          </a:solidFill>
          <a:ln w="12700">
            <a:solidFill>
              <a:schemeClr val="accent2"/>
            </a:solidFill>
            <a:prstDash val="solid"/>
          </a:ln>
        </p:spPr>
      </p:sp>
      <p:sp>
        <p:nvSpPr>
          <p:cNvPr id="31" name="pol-t-REJECT"/>
          <p:cNvSpPr txBox="1"/>
          <p:nvPr/>
        </p:nvSpPr>
        <p:spPr>
          <a:xfrm>
            <a:off x="822960" y="5376672"/>
            <a:ext cx="1508760" cy="512064"/>
          </a:xfrm>
          <a:prstGeom prst="rect">
            <a:avLst/>
          </a:prstGeom>
          <a:noFill/>
          <a:ln/>
        </p:spPr>
        <p:txBody>
          <a:bodyPr wrap="square" lIns="0" tIns="0" rIns="0" bIns="0" rtlCol="0" anchor="ctr"/>
          <a:lstStyle/>
          <a:p>
            <a:pPr algn="ctr" indent="0" marL="0">
              <a:buNone/>
            </a:pPr>
            <a:r>
              <a:rPr lang="en-US" sz="1300" b="1" dirty="0">
                <a:solidFill>
                  <a:schemeClr val="accent2"/>
                </a:solidFill>
              </a:rPr>
              <a:t>REJECT</a:t>
            </a:r>
            <a:endParaRPr lang="en-US" sz="1300" dirty="0"/>
          </a:p>
          <a:p>
            <a:pPr algn="ctr" indent="0" marL="0">
              <a:buNone/>
            </a:pPr>
            <a:r>
              <a:rPr lang="en-US" sz="1100" dirty="0">
                <a:solidFill>
                  <a:schemeClr val="tx1"/>
                </a:solidFill>
              </a:rPr>
              <a:t>≥ 0.60</a:t>
            </a:r>
            <a:endParaRPr lang="en-US" sz="1300" dirty="0"/>
          </a:p>
        </p:txBody>
      </p:sp>
      <p:sp>
        <p:nvSpPr>
          <p:cNvPr id="32" name="pol-REVIEW"/>
          <p:cNvSpPr/>
          <p:nvPr/>
        </p:nvSpPr>
        <p:spPr>
          <a:xfrm>
            <a:off x="2468880" y="5349240"/>
            <a:ext cx="1508760" cy="566928"/>
          </a:xfrm>
          <a:prstGeom prst="roundRect">
            <a:avLst>
              <a:gd name="adj" fmla="val 9677"/>
            </a:avLst>
          </a:prstGeom>
          <a:solidFill>
            <a:schemeClr val="accent3">
              <a:alpha val="20000"/>
            </a:schemeClr>
          </a:solidFill>
          <a:ln w="12700">
            <a:solidFill>
              <a:schemeClr val="accent3"/>
            </a:solidFill>
            <a:prstDash val="solid"/>
          </a:ln>
        </p:spPr>
      </p:sp>
      <p:sp>
        <p:nvSpPr>
          <p:cNvPr id="33" name="pol-t-REVIEW"/>
          <p:cNvSpPr txBox="1"/>
          <p:nvPr/>
        </p:nvSpPr>
        <p:spPr>
          <a:xfrm>
            <a:off x="2468880" y="5376672"/>
            <a:ext cx="1508760" cy="512064"/>
          </a:xfrm>
          <a:prstGeom prst="rect">
            <a:avLst/>
          </a:prstGeom>
          <a:noFill/>
          <a:ln/>
        </p:spPr>
        <p:txBody>
          <a:bodyPr wrap="square" lIns="0" tIns="0" rIns="0" bIns="0" rtlCol="0" anchor="ctr"/>
          <a:lstStyle/>
          <a:p>
            <a:pPr algn="ctr" indent="0" marL="0">
              <a:buNone/>
            </a:pPr>
            <a:r>
              <a:rPr lang="en-US" sz="1300" b="1" dirty="0">
                <a:solidFill>
                  <a:schemeClr val="accent3"/>
                </a:solidFill>
              </a:rPr>
              <a:t>REVIEW</a:t>
            </a:r>
            <a:endParaRPr lang="en-US" sz="1300" dirty="0"/>
          </a:p>
          <a:p>
            <a:pPr algn="ctr" indent="0" marL="0">
              <a:buNone/>
            </a:pPr>
            <a:r>
              <a:rPr lang="en-US" sz="1100" dirty="0">
                <a:solidFill>
                  <a:schemeClr val="tx1"/>
                </a:solidFill>
              </a:rPr>
              <a:t>0.30 – 0.60</a:t>
            </a:r>
            <a:endParaRPr lang="en-US" sz="1300" dirty="0"/>
          </a:p>
        </p:txBody>
      </p:sp>
      <p:sp>
        <p:nvSpPr>
          <p:cNvPr id="34" name="pol-PASS"/>
          <p:cNvSpPr/>
          <p:nvPr/>
        </p:nvSpPr>
        <p:spPr>
          <a:xfrm>
            <a:off x="4114800" y="5349240"/>
            <a:ext cx="1508760" cy="566928"/>
          </a:xfrm>
          <a:prstGeom prst="roundRect">
            <a:avLst>
              <a:gd name="adj" fmla="val 9677"/>
            </a:avLst>
          </a:prstGeom>
          <a:solidFill>
            <a:schemeClr val="accent6">
              <a:alpha val="20000"/>
            </a:schemeClr>
          </a:solidFill>
          <a:ln w="12700">
            <a:solidFill>
              <a:schemeClr val="accent6"/>
            </a:solidFill>
            <a:prstDash val="solid"/>
          </a:ln>
        </p:spPr>
      </p:sp>
      <p:sp>
        <p:nvSpPr>
          <p:cNvPr id="35" name="pol-t-PASS"/>
          <p:cNvSpPr txBox="1"/>
          <p:nvPr/>
        </p:nvSpPr>
        <p:spPr>
          <a:xfrm>
            <a:off x="4114800" y="5376672"/>
            <a:ext cx="1508760" cy="512064"/>
          </a:xfrm>
          <a:prstGeom prst="rect">
            <a:avLst/>
          </a:prstGeom>
          <a:noFill/>
          <a:ln/>
        </p:spPr>
        <p:txBody>
          <a:bodyPr wrap="square" lIns="0" tIns="0" rIns="0" bIns="0" rtlCol="0" anchor="ctr"/>
          <a:lstStyle/>
          <a:p>
            <a:pPr algn="ctr" indent="0" marL="0">
              <a:buNone/>
            </a:pPr>
            <a:r>
              <a:rPr lang="en-US" sz="1300" b="1" dirty="0">
                <a:solidFill>
                  <a:schemeClr val="accent6"/>
                </a:solidFill>
              </a:rPr>
              <a:t>PASS</a:t>
            </a:r>
            <a:endParaRPr lang="en-US" sz="1300" dirty="0"/>
          </a:p>
          <a:p>
            <a:pPr algn="ctr" indent="0" marL="0">
              <a:buNone/>
            </a:pPr>
            <a:r>
              <a:rPr lang="en-US" sz="1100" dirty="0">
                <a:solidFill>
                  <a:schemeClr val="tx1"/>
                </a:solidFill>
              </a:rPr>
              <a:t>&lt; 0.30</a:t>
            </a:r>
            <a:endParaRPr lang="en-US" sz="1300" dirty="0"/>
          </a:p>
        </p:txBody>
      </p:sp>
      <p:sp>
        <p:nvSpPr>
          <p:cNvPr id="36" name="limit-card"/>
          <p:cNvSpPr/>
          <p:nvPr/>
        </p:nvSpPr>
        <p:spPr>
          <a:xfrm>
            <a:off x="6172200" y="3017520"/>
            <a:ext cx="5468112" cy="3063240"/>
          </a:xfrm>
          <a:prstGeom prst="roundRect">
            <a:avLst>
              <a:gd name="adj" fmla="val 2388"/>
            </a:avLst>
          </a:prstGeom>
          <a:solidFill>
            <a:schemeClr val="bg2"/>
          </a:solidFill>
          <a:ln/>
        </p:spPr>
      </p:sp>
      <p:sp>
        <p:nvSpPr>
          <p:cNvPr id="37" name="limit-h"/>
          <p:cNvSpPr txBox="1"/>
          <p:nvPr/>
        </p:nvSpPr>
        <p:spPr>
          <a:xfrm>
            <a:off x="6446520" y="3154680"/>
            <a:ext cx="4937760" cy="320040"/>
          </a:xfrm>
          <a:prstGeom prst="rect">
            <a:avLst/>
          </a:prstGeom>
          <a:noFill/>
          <a:ln/>
        </p:spPr>
        <p:txBody>
          <a:bodyPr wrap="square" lIns="0" tIns="0" rIns="0" bIns="0" rtlCol="0" anchor="t"/>
          <a:lstStyle/>
          <a:p>
            <a:pPr indent="0" marL="0">
              <a:buNone/>
            </a:pPr>
            <a:r>
              <a:rPr lang="en-US" sz="1600" b="1" dirty="0">
                <a:solidFill>
                  <a:schemeClr val="accent3"/>
                </a:solidFill>
              </a:rPr>
              <a:t>데이터셋 한계</a:t>
            </a:r>
            <a:endParaRPr lang="en-US" sz="1600" dirty="0"/>
          </a:p>
        </p:txBody>
      </p:sp>
      <p:pic>
        <p:nvPicPr>
          <p:cNvPr id="38" name="bg-0" descr="C:\Users\user\_se4nchoi\batteryvision\docs\submission\build\img\bg_green.jpg">    </p:cNvPr>
          <p:cNvPicPr>
            <a:picLocks noChangeAspect="1"/>
          </p:cNvPicPr>
          <p:nvPr/>
        </p:nvPicPr>
        <p:blipFill>
          <a:blip r:embed="rId1"/>
          <a:stretch>
            <a:fillRect/>
          </a:stretch>
        </p:blipFill>
        <p:spPr>
          <a:xfrm>
            <a:off x="6446520" y="3584448"/>
            <a:ext cx="1554480" cy="1554480"/>
          </a:xfrm>
          <a:prstGeom prst="rect">
            <a:avLst/>
          </a:prstGeom>
        </p:spPr>
      </p:pic>
      <p:sp>
        <p:nvSpPr>
          <p:cNvPr id="39" name="bg-l-0"/>
          <p:cNvSpPr txBox="1"/>
          <p:nvPr/>
        </p:nvSpPr>
        <p:spPr>
          <a:xfrm>
            <a:off x="6446520" y="5193792"/>
            <a:ext cx="1554480" cy="274320"/>
          </a:xfrm>
          <a:prstGeom prst="rect">
            <a:avLst/>
          </a:prstGeom>
          <a:noFill/>
          <a:ln/>
        </p:spPr>
        <p:txBody>
          <a:bodyPr wrap="square" lIns="0" tIns="0" rIns="0" bIns="0" rtlCol="0" anchor="t"/>
          <a:lstStyle/>
          <a:p>
            <a:pPr indent="0" marL="0">
              <a:buNone/>
            </a:pPr>
            <a:r>
              <a:rPr lang="en-US" sz="1200" dirty="0">
                <a:solidFill>
                  <a:schemeClr val="tx2"/>
                </a:solidFill>
              </a:rPr>
              <a:t>초록 매트 39</a:t>
            </a:r>
            <a:endParaRPr lang="en-US" sz="1200" dirty="0"/>
          </a:p>
        </p:txBody>
      </p:sp>
      <p:pic>
        <p:nvPicPr>
          <p:cNvPr id="40" name="bg-1" descr="C:\Users\user\_se4nchoi\batteryvision\docs\submission\build\img\bg_grey.jpg">    </p:cNvPr>
          <p:cNvPicPr>
            <a:picLocks noChangeAspect="1"/>
          </p:cNvPicPr>
          <p:nvPr/>
        </p:nvPicPr>
        <p:blipFill>
          <a:blip r:embed="rId2"/>
          <a:stretch>
            <a:fillRect/>
          </a:stretch>
        </p:blipFill>
        <p:spPr>
          <a:xfrm>
            <a:off x="8138160" y="3584448"/>
            <a:ext cx="1554480" cy="1554480"/>
          </a:xfrm>
          <a:prstGeom prst="rect">
            <a:avLst/>
          </a:prstGeom>
        </p:spPr>
      </p:pic>
      <p:sp>
        <p:nvSpPr>
          <p:cNvPr id="41" name="bg-l-1"/>
          <p:cNvSpPr txBox="1"/>
          <p:nvPr/>
        </p:nvSpPr>
        <p:spPr>
          <a:xfrm>
            <a:off x="8138160" y="5193792"/>
            <a:ext cx="1554480" cy="274320"/>
          </a:xfrm>
          <a:prstGeom prst="rect">
            <a:avLst/>
          </a:prstGeom>
          <a:noFill/>
          <a:ln/>
        </p:spPr>
        <p:txBody>
          <a:bodyPr wrap="square" lIns="0" tIns="0" rIns="0" bIns="0" rtlCol="0" anchor="t"/>
          <a:lstStyle/>
          <a:p>
            <a:pPr indent="0" marL="0">
              <a:buNone/>
            </a:pPr>
            <a:r>
              <a:rPr lang="en-US" sz="1200" dirty="0">
                <a:solidFill>
                  <a:schemeClr val="tx2"/>
                </a:solidFill>
              </a:rPr>
              <a:t>회색 54</a:t>
            </a:r>
            <a:endParaRPr lang="en-US" sz="1200" dirty="0"/>
          </a:p>
        </p:txBody>
      </p:sp>
      <p:pic>
        <p:nvPicPr>
          <p:cNvPr id="42" name="bg-2" descr="C:\Users\user\_se4nchoi\batteryvision\docs\submission\build\img\bg_wood.jpg">    </p:cNvPr>
          <p:cNvPicPr>
            <a:picLocks noChangeAspect="1"/>
          </p:cNvPicPr>
          <p:nvPr/>
        </p:nvPicPr>
        <p:blipFill>
          <a:blip r:embed="rId3"/>
          <a:stretch>
            <a:fillRect/>
          </a:stretch>
        </p:blipFill>
        <p:spPr>
          <a:xfrm>
            <a:off x="9829800" y="3584448"/>
            <a:ext cx="1554480" cy="1554480"/>
          </a:xfrm>
          <a:prstGeom prst="rect">
            <a:avLst/>
          </a:prstGeom>
        </p:spPr>
      </p:pic>
      <p:sp>
        <p:nvSpPr>
          <p:cNvPr id="43" name="bg-l-2"/>
          <p:cNvSpPr txBox="1"/>
          <p:nvPr/>
        </p:nvSpPr>
        <p:spPr>
          <a:xfrm>
            <a:off x="9829800" y="5193792"/>
            <a:ext cx="1554480" cy="274320"/>
          </a:xfrm>
          <a:prstGeom prst="rect">
            <a:avLst/>
          </a:prstGeom>
          <a:noFill/>
          <a:ln/>
        </p:spPr>
        <p:txBody>
          <a:bodyPr wrap="square" lIns="0" tIns="0" rIns="0" bIns="0" rtlCol="0" anchor="t"/>
          <a:lstStyle/>
          <a:p>
            <a:pPr indent="0" marL="0">
              <a:buNone/>
            </a:pPr>
            <a:r>
              <a:rPr lang="en-US" sz="1200" dirty="0">
                <a:solidFill>
                  <a:schemeClr val="tx2"/>
                </a:solidFill>
              </a:rPr>
              <a:t>나무 탁상 38</a:t>
            </a:r>
            <a:endParaRPr lang="en-US" sz="1200" dirty="0"/>
          </a:p>
        </p:txBody>
      </p:sp>
      <p:sp>
        <p:nvSpPr>
          <p:cNvPr id="44" name="limit-t"/>
          <p:cNvSpPr txBox="1"/>
          <p:nvPr/>
        </p:nvSpPr>
        <p:spPr>
          <a:xfrm>
            <a:off x="6446520" y="5577840"/>
            <a:ext cx="5029200" cy="457200"/>
          </a:xfrm>
          <a:prstGeom prst="rect">
            <a:avLst/>
          </a:prstGeom>
          <a:noFill/>
          <a:ln/>
        </p:spPr>
        <p:txBody>
          <a:bodyPr wrap="square" lIns="0" tIns="0" rIns="0" bIns="0" rtlCol="0" anchor="t"/>
          <a:lstStyle/>
          <a:p>
            <a:pPr indent="0" marL="0">
              <a:buNone/>
            </a:pPr>
            <a:r>
              <a:rPr lang="en-US" sz="1400" b="1" dirty="0">
                <a:solidFill>
                  <a:schemeClr val="tx1"/>
                </a:solidFill>
              </a:rPr>
              <a:t>탁상 촬영 · 셀당 사진 1장 → 이 촬영 환경에 맞춘 모델</a:t>
            </a:r>
            <a:endParaRPr lang="en-US" sz="1400" dirty="0"/>
          </a:p>
        </p:txBody>
      </p:sp>
      <p:sp>
        <p:nvSpPr>
          <p:cNvPr id="45" name="credit"/>
          <p:cNvSpPr txBox="1"/>
          <p:nvPr/>
        </p:nvSpPr>
        <p:spPr>
          <a:xfrm>
            <a:off x="548640" y="6163056"/>
            <a:ext cx="8229600" cy="201168"/>
          </a:xfrm>
          <a:prstGeom prst="rect">
            <a:avLst/>
          </a:prstGeom>
          <a:noFill/>
          <a:ln/>
        </p:spPr>
        <p:txBody>
          <a:bodyPr wrap="square" lIns="0" tIns="0" rIns="0" bIns="0" rtlCol="0" anchor="t"/>
          <a:lstStyle/>
          <a:p>
            <a:pPr indent="0" marL="0">
              <a:buNone/>
            </a:pPr>
            <a:r>
              <a:rPr lang="en-US" sz="900" dirty="0">
                <a:solidFill>
                  <a:schemeClr val="tx2"/>
                </a:solidFill>
              </a:rPr>
              <a:t>데이터: Battery Defect Inspection (Roboflow Universe), CC BY 4.0 · 배경 수는 테스트 131장 기준 추정</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높은 결과에 숨은 함정</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목표는 점수가 아니라, 모델 + 데이터셋 조합으로 동작하는 Vision AI</a:t>
            </a:r>
            <a:endParaRPr lang="en-US" sz="1500" dirty="0"/>
          </a:p>
        </p:txBody>
      </p:sp>
      <p:pic>
        <p:nvPicPr>
          <p:cNvPr id="4" name="dup-0" descr="C:\Users\user\_se4nchoi\batteryvision\docs\submission\build\img\dup_test.jpg">    </p:cNvPr>
          <p:cNvPicPr>
            <a:picLocks noChangeAspect="1"/>
          </p:cNvPicPr>
          <p:nvPr/>
        </p:nvPicPr>
        <p:blipFill>
          <a:blip r:embed="rId1"/>
          <a:stretch>
            <a:fillRect/>
          </a:stretch>
        </p:blipFill>
        <p:spPr>
          <a:xfrm>
            <a:off x="548640" y="1645920"/>
            <a:ext cx="2377440" cy="2377440"/>
          </a:xfrm>
          <a:prstGeom prst="rect">
            <a:avLst/>
          </a:prstGeom>
        </p:spPr>
      </p:pic>
      <p:sp>
        <p:nvSpPr>
          <p:cNvPr id="5" name="dup-l-0"/>
          <p:cNvSpPr txBox="1"/>
          <p:nvPr/>
        </p:nvSpPr>
        <p:spPr>
          <a:xfrm>
            <a:off x="548640" y="4096512"/>
            <a:ext cx="2377440" cy="274320"/>
          </a:xfrm>
          <a:prstGeom prst="rect">
            <a:avLst/>
          </a:prstGeom>
          <a:noFill/>
          <a:ln/>
        </p:spPr>
        <p:txBody>
          <a:bodyPr wrap="square" lIns="0" tIns="0" rIns="0" bIns="0" rtlCol="0" anchor="t"/>
          <a:lstStyle/>
          <a:p>
            <a:pPr indent="0" marL="0">
              <a:buNone/>
            </a:pPr>
            <a:r>
              <a:rPr lang="en-US" sz="1400" b="1" dirty="0">
                <a:solidFill>
                  <a:schemeClr val="tx1"/>
                </a:solidFill>
              </a:rPr>
              <a:t>테스트 사진</a:t>
            </a:r>
            <a:endParaRPr lang="en-US" sz="1400" dirty="0"/>
          </a:p>
        </p:txBody>
      </p:sp>
      <p:pic>
        <p:nvPicPr>
          <p:cNvPr id="6" name="dup-1" descr="C:\Users\user\_se4nchoi\batteryvision\docs\submission\build\img\dup_train.jpg">    </p:cNvPr>
          <p:cNvPicPr>
            <a:picLocks noChangeAspect="1"/>
          </p:cNvPicPr>
          <p:nvPr/>
        </p:nvPicPr>
        <p:blipFill>
          <a:blip r:embed="rId2"/>
          <a:stretch>
            <a:fillRect/>
          </a:stretch>
        </p:blipFill>
        <p:spPr>
          <a:xfrm>
            <a:off x="3154680" y="1645920"/>
            <a:ext cx="2377440" cy="2377440"/>
          </a:xfrm>
          <a:prstGeom prst="rect">
            <a:avLst/>
          </a:prstGeom>
        </p:spPr>
      </p:pic>
      <p:sp>
        <p:nvSpPr>
          <p:cNvPr id="7" name="dup-l-1"/>
          <p:cNvSpPr txBox="1"/>
          <p:nvPr/>
        </p:nvSpPr>
        <p:spPr>
          <a:xfrm>
            <a:off x="3154680" y="4096512"/>
            <a:ext cx="2377440" cy="274320"/>
          </a:xfrm>
          <a:prstGeom prst="rect">
            <a:avLst/>
          </a:prstGeom>
          <a:noFill/>
          <a:ln/>
        </p:spPr>
        <p:txBody>
          <a:bodyPr wrap="square" lIns="0" tIns="0" rIns="0" bIns="0" rtlCol="0" anchor="t"/>
          <a:lstStyle/>
          <a:p>
            <a:pPr indent="0" marL="0">
              <a:buNone/>
            </a:pPr>
            <a:r>
              <a:rPr lang="en-US" sz="1400" b="1" dirty="0">
                <a:solidFill>
                  <a:schemeClr val="tx1"/>
                </a:solidFill>
              </a:rPr>
              <a:t>학습 사진</a:t>
            </a:r>
            <a:endParaRPr lang="en-US" sz="1400" dirty="0"/>
          </a:p>
        </p:txBody>
      </p:sp>
      <p:sp>
        <p:nvSpPr>
          <p:cNvPr id="8" name="dup-cap"/>
          <p:cNvSpPr txBox="1"/>
          <p:nvPr/>
        </p:nvSpPr>
        <p:spPr>
          <a:xfrm>
            <a:off x="548640" y="4407408"/>
            <a:ext cx="5029200" cy="274320"/>
          </a:xfrm>
          <a:prstGeom prst="rect">
            <a:avLst/>
          </a:prstGeom>
          <a:noFill/>
          <a:ln/>
        </p:spPr>
        <p:txBody>
          <a:bodyPr wrap="square" lIns="0" tIns="0" rIns="0" bIns="0" rtlCol="0" anchor="t"/>
          <a:lstStyle/>
          <a:p>
            <a:pPr indent="0" marL="0">
              <a:buNone/>
            </a:pPr>
            <a:r>
              <a:rPr lang="en-US" sz="1200" dirty="0">
                <a:solidFill>
                  <a:schemeClr val="tx2"/>
                </a:solidFill>
              </a:rPr>
              <a:t>dHash 거리 4 / 256비트: 사실상 같은 사진</a:t>
            </a:r>
            <a:endParaRPr lang="en-US" sz="1200" dirty="0"/>
          </a:p>
        </p:txBody>
      </p:sp>
      <p:sp>
        <p:nvSpPr>
          <p:cNvPr id="9" name="nd-card"/>
          <p:cNvSpPr/>
          <p:nvPr/>
        </p:nvSpPr>
        <p:spPr>
          <a:xfrm>
            <a:off x="5989320" y="1645920"/>
            <a:ext cx="5650992" cy="1280160"/>
          </a:xfrm>
          <a:prstGeom prst="roundRect">
            <a:avLst>
              <a:gd name="adj" fmla="val 5714"/>
            </a:avLst>
          </a:prstGeom>
          <a:solidFill>
            <a:schemeClr val="bg2"/>
          </a:solidFill>
          <a:ln/>
        </p:spPr>
      </p:sp>
      <p:sp>
        <p:nvSpPr>
          <p:cNvPr id="10" name="nd-n"/>
          <p:cNvSpPr txBox="1"/>
          <p:nvPr/>
        </p:nvSpPr>
        <p:spPr>
          <a:xfrm>
            <a:off x="6263640" y="1783080"/>
            <a:ext cx="1828800" cy="640080"/>
          </a:xfrm>
          <a:prstGeom prst="rect">
            <a:avLst/>
          </a:prstGeom>
          <a:noFill/>
          <a:ln/>
        </p:spPr>
        <p:txBody>
          <a:bodyPr wrap="square" lIns="0" tIns="0" rIns="0" bIns="0" rtlCol="0" anchor="t"/>
          <a:lstStyle/>
          <a:p>
            <a:pPr indent="0" marL="0">
              <a:buNone/>
            </a:pPr>
            <a:r>
              <a:rPr lang="en-US" sz="3600" b="1" dirty="0">
                <a:solidFill>
                  <a:schemeClr val="accent3"/>
                </a:solidFill>
              </a:rPr>
              <a:t>22장</a:t>
            </a:r>
            <a:endParaRPr lang="en-US" sz="3600" dirty="0"/>
          </a:p>
        </p:txBody>
      </p:sp>
      <p:sp>
        <p:nvSpPr>
          <p:cNvPr id="11" name="nd-l"/>
          <p:cNvSpPr txBox="1"/>
          <p:nvPr/>
        </p:nvSpPr>
        <p:spPr>
          <a:xfrm>
            <a:off x="6263640" y="2468880"/>
            <a:ext cx="5212080" cy="320040"/>
          </a:xfrm>
          <a:prstGeom prst="rect">
            <a:avLst/>
          </a:prstGeom>
          <a:noFill/>
          <a:ln/>
        </p:spPr>
        <p:txBody>
          <a:bodyPr wrap="square" lIns="0" tIns="0" rIns="0" bIns="0" rtlCol="0" anchor="t"/>
          <a:lstStyle/>
          <a:p>
            <a:pPr indent="0" marL="0">
              <a:buNone/>
            </a:pPr>
            <a:r>
              <a:rPr lang="en-US" sz="1400" dirty="0">
                <a:solidFill>
                  <a:schemeClr val="tx2"/>
                </a:solidFill>
              </a:rPr>
              <a:t>테스트 153장 중 학습 사진과 거의 같은 사진</a:t>
            </a:r>
            <a:endParaRPr lang="en-US" sz="1400" dirty="0"/>
          </a:p>
        </p:txBody>
      </p:sp>
      <p:sp>
        <p:nvSpPr>
          <p:cNvPr id="12" name="map-card"/>
          <p:cNvSpPr/>
          <p:nvPr/>
        </p:nvSpPr>
        <p:spPr>
          <a:xfrm>
            <a:off x="5989320" y="3090672"/>
            <a:ext cx="5650992" cy="1280160"/>
          </a:xfrm>
          <a:prstGeom prst="roundRect">
            <a:avLst>
              <a:gd name="adj" fmla="val 5714"/>
            </a:avLst>
          </a:prstGeom>
          <a:solidFill>
            <a:schemeClr val="bg2"/>
          </a:solidFill>
          <a:ln/>
        </p:spPr>
      </p:sp>
      <p:sp>
        <p:nvSpPr>
          <p:cNvPr id="13" name="map-n"/>
          <p:cNvSpPr txBox="1"/>
          <p:nvPr/>
        </p:nvSpPr>
        <p:spPr>
          <a:xfrm>
            <a:off x="6263640" y="3227832"/>
            <a:ext cx="5212080" cy="640080"/>
          </a:xfrm>
          <a:prstGeom prst="rect">
            <a:avLst/>
          </a:prstGeom>
          <a:noFill/>
          <a:ln/>
        </p:spPr>
        <p:txBody>
          <a:bodyPr wrap="square" lIns="0" tIns="0" rIns="0" bIns="0" rtlCol="0" anchor="t"/>
          <a:lstStyle/>
          <a:p>
            <a:pPr indent="0" marL="0">
              <a:buNone/>
            </a:pPr>
            <a:r>
              <a:rPr lang="en-US" sz="3600" b="1" dirty="0">
                <a:solidFill>
                  <a:schemeClr val="tx2"/>
                </a:solidFill>
              </a:rPr>
              <a:t>93.3%</a:t>
            </a:r>
            <a:pPr indent="0" marL="0">
              <a:buNone/>
            </a:pPr>
            <a:r>
              <a:rPr lang="en-US" sz="3600" b="1" dirty="0">
                <a:solidFill>
                  <a:schemeClr val="tx2"/>
                </a:solidFill>
              </a:rPr>
              <a:t>  →  </a:t>
            </a:r>
            <a:pPr indent="0" marL="0">
              <a:buNone/>
            </a:pPr>
            <a:r>
              <a:rPr lang="en-US" sz="3600" b="1" dirty="0">
                <a:solidFill>
                  <a:schemeClr val="accent1"/>
                </a:solidFill>
              </a:rPr>
              <a:t>92.9%</a:t>
            </a:r>
            <a:endParaRPr lang="en-US" sz="3600" dirty="0"/>
          </a:p>
        </p:txBody>
      </p:sp>
      <p:sp>
        <p:nvSpPr>
          <p:cNvPr id="14" name="map-l"/>
          <p:cNvSpPr txBox="1"/>
          <p:nvPr/>
        </p:nvSpPr>
        <p:spPr>
          <a:xfrm>
            <a:off x="6263640" y="3913632"/>
            <a:ext cx="5212080" cy="320040"/>
          </a:xfrm>
          <a:prstGeom prst="rect">
            <a:avLst/>
          </a:prstGeom>
          <a:noFill/>
          <a:ln/>
        </p:spPr>
        <p:txBody>
          <a:bodyPr wrap="square" lIns="0" tIns="0" rIns="0" bIns="0" rtlCol="0" anchor="t"/>
          <a:lstStyle/>
          <a:p>
            <a:pPr indent="0" marL="0">
              <a:buNone/>
            </a:pPr>
            <a:r>
              <a:rPr lang="en-US" sz="1400" dirty="0">
                <a:solidFill>
                  <a:schemeClr val="tx2"/>
                </a:solidFill>
              </a:rPr>
              <a:t>22장 제거 후 mAP@50 (ATSS): 점수는 그대로, 평가는 정직하게</a:t>
            </a:r>
            <a:endParaRPr lang="en-US" sz="1400" dirty="0"/>
          </a:p>
        </p:txBody>
      </p:sp>
      <p:sp>
        <p:nvSpPr>
          <p:cNvPr id="15" name="lesson-card"/>
          <p:cNvSpPr/>
          <p:nvPr/>
        </p:nvSpPr>
        <p:spPr>
          <a:xfrm>
            <a:off x="548640" y="4846320"/>
            <a:ext cx="11094415" cy="1371600"/>
          </a:xfrm>
          <a:prstGeom prst="roundRect">
            <a:avLst>
              <a:gd name="adj" fmla="val 5333"/>
            </a:avLst>
          </a:prstGeom>
          <a:solidFill>
            <a:schemeClr val="bg2"/>
          </a:solidFill>
          <a:ln/>
        </p:spPr>
      </p:sp>
      <p:sp>
        <p:nvSpPr>
          <p:cNvPr id="16" name="lesson-h"/>
          <p:cNvSpPr txBox="1"/>
          <p:nvPr/>
        </p:nvSpPr>
        <p:spPr>
          <a:xfrm>
            <a:off x="822960" y="4983480"/>
            <a:ext cx="5486400" cy="320040"/>
          </a:xfrm>
          <a:prstGeom prst="rect">
            <a:avLst/>
          </a:prstGeom>
          <a:noFill/>
          <a:ln/>
        </p:spPr>
        <p:txBody>
          <a:bodyPr wrap="square" lIns="0" tIns="0" rIns="0" bIns="0" rtlCol="0" anchor="t"/>
          <a:lstStyle/>
          <a:p>
            <a:pPr indent="0" marL="0">
              <a:buNone/>
            </a:pPr>
            <a:r>
              <a:rPr lang="en-US" sz="1600" b="1" dirty="0">
                <a:solidFill>
                  <a:schemeClr val="tx1"/>
                </a:solidFill>
              </a:rPr>
              <a:t>직접 만든 데이터셋이 아니었다</a:t>
            </a:r>
            <a:endParaRPr lang="en-US" sz="1600" dirty="0"/>
          </a:p>
        </p:txBody>
      </p:sp>
      <p:sp>
        <p:nvSpPr>
          <p:cNvPr id="17" name="lesson-b"/>
          <p:cNvSpPr txBox="1"/>
          <p:nvPr/>
        </p:nvSpPr>
        <p:spPr>
          <a:xfrm>
            <a:off x="822960" y="5376672"/>
            <a:ext cx="6766560" cy="73152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2"/>
                </a:solidFill>
              </a:rPr>
              <a:t>같은 촬영 세션이 학습과 테스트에 섞여 있음 (테스트 153장 중 152장)</a:t>
            </a:r>
            <a:endParaRPr lang="en-US" sz="1400" dirty="0"/>
          </a:p>
          <a:p>
            <a:pPr marL="342900" indent="-342900">
              <a:spcAft>
                <a:spcPts val="400"/>
              </a:spcAft>
              <a:buSzPct val="100000"/>
              <a:buChar char="•"/>
            </a:pPr>
            <a:r>
              <a:rPr lang="en-US" sz="1400" dirty="0">
                <a:solidFill>
                  <a:schemeClr val="tx2"/>
                </a:solidFill>
              </a:rPr>
              <a:t>학습셋은 Roboflow 증강(×3)이 들어간 상태로 배포됨</a:t>
            </a:r>
            <a:endParaRPr lang="en-US" sz="1400" dirty="0"/>
          </a:p>
        </p:txBody>
      </p:sp>
      <p:sp>
        <p:nvSpPr>
          <p:cNvPr id="18" name="lesson-t"/>
          <p:cNvSpPr txBox="1"/>
          <p:nvPr/>
        </p:nvSpPr>
        <p:spPr>
          <a:xfrm>
            <a:off x="7589520" y="5376672"/>
            <a:ext cx="3840480" cy="731520"/>
          </a:xfrm>
          <a:prstGeom prst="rect">
            <a:avLst/>
          </a:prstGeom>
          <a:noFill/>
          <a:ln/>
        </p:spPr>
        <p:txBody>
          <a:bodyPr wrap="square" lIns="0" tIns="0" rIns="0" bIns="0" rtlCol="0" anchor="ctr"/>
          <a:lstStyle/>
          <a:p>
            <a:pPr indent="0" marL="0">
              <a:buNone/>
            </a:pPr>
            <a:r>
              <a:rPr lang="en-US" sz="1600" b="1" dirty="0">
                <a:solidFill>
                  <a:schemeClr val="accent1"/>
                </a:solidFill>
              </a:rPr>
              <a:t>교훈: 받은 데이터는 학습 전에 먼저 검증한다</a:t>
            </a:r>
            <a:endParaRPr lang="en-US" sz="16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작은 모델이 더 맵다</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가장 작은 ATSS가 가장 정확했다</a:t>
            </a:r>
            <a:endParaRPr lang="en-US" sz="1500" dirty="0"/>
          </a:p>
        </p:txBody>
      </p:sp>
      <p:sp>
        <p:nvSpPr>
          <p:cNvPr id="4" name="model-0"/>
          <p:cNvSpPr/>
          <p:nvPr/>
        </p:nvSpPr>
        <p:spPr>
          <a:xfrm>
            <a:off x="548640" y="1645920"/>
            <a:ext cx="3566160" cy="1920240"/>
          </a:xfrm>
          <a:prstGeom prst="roundRect">
            <a:avLst>
              <a:gd name="adj" fmla="val 3810"/>
            </a:avLst>
          </a:prstGeom>
          <a:solidFill>
            <a:schemeClr val="bg2"/>
          </a:solidFill>
          <a:ln/>
        </p:spPr>
      </p:sp>
      <p:sp>
        <p:nvSpPr>
          <p:cNvPr id="5" name="model-dot-0"/>
          <p:cNvSpPr/>
          <p:nvPr/>
        </p:nvSpPr>
        <p:spPr>
          <a:xfrm>
            <a:off x="822960" y="1865376"/>
            <a:ext cx="146304" cy="146304"/>
          </a:xfrm>
          <a:prstGeom prst="ellipse">
            <a:avLst/>
          </a:prstGeom>
          <a:solidFill>
            <a:schemeClr val="accent4"/>
          </a:solidFill>
          <a:ln/>
        </p:spPr>
      </p:sp>
      <p:sp>
        <p:nvSpPr>
          <p:cNvPr id="6" name="model-n-0"/>
          <p:cNvSpPr txBox="1"/>
          <p:nvPr/>
        </p:nvSpPr>
        <p:spPr>
          <a:xfrm>
            <a:off x="1060704" y="1783080"/>
            <a:ext cx="2194560" cy="320040"/>
          </a:xfrm>
          <a:prstGeom prst="rect">
            <a:avLst/>
          </a:prstGeom>
          <a:noFill/>
          <a:ln/>
        </p:spPr>
        <p:txBody>
          <a:bodyPr wrap="square" lIns="0" tIns="0" rIns="0" bIns="0" rtlCol="0" anchor="t"/>
          <a:lstStyle/>
          <a:p>
            <a:pPr indent="0" marL="0">
              <a:buNone/>
            </a:pPr>
            <a:r>
              <a:rPr lang="en-US" sz="1600" b="1" dirty="0">
                <a:solidFill>
                  <a:schemeClr val="tx1"/>
                </a:solidFill>
              </a:rPr>
              <a:t>ATSS-MobileNetV2</a:t>
            </a:r>
            <a:endParaRPr lang="en-US" sz="1600" dirty="0"/>
          </a:p>
        </p:txBody>
      </p:sp>
      <p:sp>
        <p:nvSpPr>
          <p:cNvPr id="7" name="best-badge"/>
          <p:cNvSpPr/>
          <p:nvPr/>
        </p:nvSpPr>
        <p:spPr>
          <a:xfrm>
            <a:off x="3246120" y="1801368"/>
            <a:ext cx="640080" cy="274320"/>
          </a:xfrm>
          <a:prstGeom prst="roundRect">
            <a:avLst>
              <a:gd name="adj" fmla="val 16667"/>
            </a:avLst>
          </a:prstGeom>
          <a:solidFill>
            <a:schemeClr val="accent1"/>
          </a:solidFill>
          <a:ln/>
        </p:spPr>
      </p:sp>
      <p:sp>
        <p:nvSpPr>
          <p:cNvPr id="8" name="best-t"/>
          <p:cNvSpPr txBox="1"/>
          <p:nvPr/>
        </p:nvSpPr>
        <p:spPr>
          <a:xfrm>
            <a:off x="3246120" y="1801368"/>
            <a:ext cx="640080" cy="274320"/>
          </a:xfrm>
          <a:prstGeom prst="rect">
            <a:avLst/>
          </a:prstGeom>
          <a:noFill/>
          <a:ln/>
        </p:spPr>
        <p:txBody>
          <a:bodyPr wrap="square" lIns="0" tIns="0" rIns="0" bIns="0" rtlCol="0" anchor="ctr"/>
          <a:lstStyle/>
          <a:p>
            <a:pPr algn="ctr" indent="0" marL="0">
              <a:buNone/>
            </a:pPr>
            <a:r>
              <a:rPr lang="en-US" sz="1100" b="1" dirty="0">
                <a:solidFill>
                  <a:schemeClr val="bg1"/>
                </a:solidFill>
              </a:rPr>
              <a:t>최고</a:t>
            </a:r>
            <a:endParaRPr lang="en-US" sz="1100" dirty="0"/>
          </a:p>
        </p:txBody>
      </p:sp>
      <p:sp>
        <p:nvSpPr>
          <p:cNvPr id="9" name="model-s-0"/>
          <p:cNvSpPr txBox="1"/>
          <p:nvPr/>
        </p:nvSpPr>
        <p:spPr>
          <a:xfrm>
            <a:off x="822960" y="2148840"/>
            <a:ext cx="3108960" cy="274320"/>
          </a:xfrm>
          <a:prstGeom prst="rect">
            <a:avLst/>
          </a:prstGeom>
          <a:noFill/>
          <a:ln/>
        </p:spPr>
        <p:txBody>
          <a:bodyPr wrap="square" lIns="0" tIns="0" rIns="0" bIns="0" rtlCol="0" anchor="t"/>
          <a:lstStyle/>
          <a:p>
            <a:pPr indent="0" marL="0">
              <a:buNone/>
            </a:pPr>
            <a:r>
              <a:rPr lang="en-US" sz="1200" dirty="0">
                <a:solidFill>
                  <a:schemeClr val="tx2"/>
                </a:solidFill>
              </a:rPr>
              <a:t>3.9M · 20.6 GFLOPs</a:t>
            </a:r>
            <a:endParaRPr lang="en-US" sz="1200" dirty="0"/>
          </a:p>
        </p:txBody>
      </p:sp>
      <p:sp>
        <p:nvSpPr>
          <p:cNvPr id="10" name="model-m-0"/>
          <p:cNvSpPr txBox="1"/>
          <p:nvPr/>
        </p:nvSpPr>
        <p:spPr>
          <a:xfrm>
            <a:off x="822960" y="2468880"/>
            <a:ext cx="3108960" cy="640080"/>
          </a:xfrm>
          <a:prstGeom prst="rect">
            <a:avLst/>
          </a:prstGeom>
          <a:noFill/>
          <a:ln/>
        </p:spPr>
        <p:txBody>
          <a:bodyPr wrap="square" lIns="0" tIns="0" rIns="0" bIns="0" rtlCol="0" anchor="t"/>
          <a:lstStyle/>
          <a:p>
            <a:pPr indent="0" marL="0">
              <a:buNone/>
            </a:pPr>
            <a:r>
              <a:rPr lang="en-US" sz="3600" b="1" dirty="0">
                <a:solidFill>
                  <a:schemeClr val="accent4"/>
                </a:solidFill>
              </a:rPr>
              <a:t>92.9%</a:t>
            </a:r>
            <a:endParaRPr lang="en-US" sz="3600" dirty="0"/>
          </a:p>
        </p:txBody>
      </p:sp>
      <p:sp>
        <p:nvSpPr>
          <p:cNvPr id="11" name="model-a-0"/>
          <p:cNvSpPr txBox="1"/>
          <p:nvPr/>
        </p:nvSpPr>
        <p:spPr>
          <a:xfrm>
            <a:off x="822960" y="3127248"/>
            <a:ext cx="3108960" cy="274320"/>
          </a:xfrm>
          <a:prstGeom prst="rect">
            <a:avLst/>
          </a:prstGeom>
          <a:noFill/>
          <a:ln/>
        </p:spPr>
        <p:txBody>
          <a:bodyPr wrap="square" lIns="0" tIns="0" rIns="0" bIns="0" rtlCol="0" anchor="t"/>
          <a:lstStyle/>
          <a:p>
            <a:pPr indent="0" marL="0">
              <a:buNone/>
            </a:pPr>
            <a:r>
              <a:rPr lang="en-US" sz="1200" dirty="0">
                <a:solidFill>
                  <a:schemeClr val="tx2"/>
                </a:solidFill>
              </a:rPr>
              <a:t>mAP@50 · scratch AP 0.86</a:t>
            </a:r>
            <a:endParaRPr lang="en-US" sz="1200" dirty="0"/>
          </a:p>
        </p:txBody>
      </p:sp>
      <p:sp>
        <p:nvSpPr>
          <p:cNvPr id="12" name="model-1"/>
          <p:cNvSpPr/>
          <p:nvPr/>
        </p:nvSpPr>
        <p:spPr>
          <a:xfrm>
            <a:off x="4297680" y="1645920"/>
            <a:ext cx="3566160" cy="1920240"/>
          </a:xfrm>
          <a:prstGeom prst="roundRect">
            <a:avLst>
              <a:gd name="adj" fmla="val 3810"/>
            </a:avLst>
          </a:prstGeom>
          <a:solidFill>
            <a:schemeClr val="bg2"/>
          </a:solidFill>
          <a:ln/>
        </p:spPr>
      </p:sp>
      <p:sp>
        <p:nvSpPr>
          <p:cNvPr id="13" name="model-dot-1"/>
          <p:cNvSpPr/>
          <p:nvPr/>
        </p:nvSpPr>
        <p:spPr>
          <a:xfrm>
            <a:off x="4572000" y="1865376"/>
            <a:ext cx="146304" cy="146304"/>
          </a:xfrm>
          <a:prstGeom prst="ellipse">
            <a:avLst/>
          </a:prstGeom>
          <a:solidFill>
            <a:schemeClr val="accent5"/>
          </a:solidFill>
          <a:ln/>
        </p:spPr>
      </p:sp>
      <p:sp>
        <p:nvSpPr>
          <p:cNvPr id="14" name="model-n-1"/>
          <p:cNvSpPr txBox="1"/>
          <p:nvPr/>
        </p:nvSpPr>
        <p:spPr>
          <a:xfrm>
            <a:off x="4809744" y="1783080"/>
            <a:ext cx="2194560" cy="320040"/>
          </a:xfrm>
          <a:prstGeom prst="rect">
            <a:avLst/>
          </a:prstGeom>
          <a:noFill/>
          <a:ln/>
        </p:spPr>
        <p:txBody>
          <a:bodyPr wrap="square" lIns="0" tIns="0" rIns="0" bIns="0" rtlCol="0" anchor="t"/>
          <a:lstStyle/>
          <a:p>
            <a:pPr indent="0" marL="0">
              <a:buNone/>
            </a:pPr>
            <a:r>
              <a:rPr lang="en-US" sz="1600" b="1" dirty="0">
                <a:solidFill>
                  <a:schemeClr val="tx1"/>
                </a:solidFill>
              </a:rPr>
              <a:t>YOLOX-S</a:t>
            </a:r>
            <a:endParaRPr lang="en-US" sz="1600" dirty="0"/>
          </a:p>
        </p:txBody>
      </p:sp>
      <p:sp>
        <p:nvSpPr>
          <p:cNvPr id="15" name="model-s-1"/>
          <p:cNvSpPr txBox="1"/>
          <p:nvPr/>
        </p:nvSpPr>
        <p:spPr>
          <a:xfrm>
            <a:off x="4572000" y="2148840"/>
            <a:ext cx="3108960" cy="274320"/>
          </a:xfrm>
          <a:prstGeom prst="rect">
            <a:avLst/>
          </a:prstGeom>
          <a:noFill/>
          <a:ln/>
        </p:spPr>
        <p:txBody>
          <a:bodyPr wrap="square" lIns="0" tIns="0" rIns="0" bIns="0" rtlCol="0" anchor="t"/>
          <a:lstStyle/>
          <a:p>
            <a:pPr indent="0" marL="0">
              <a:buNone/>
            </a:pPr>
            <a:r>
              <a:rPr lang="en-US" sz="1200" dirty="0">
                <a:solidFill>
                  <a:schemeClr val="tx2"/>
                </a:solidFill>
              </a:rPr>
              <a:t>9M · 26.8 GFLOPs</a:t>
            </a:r>
            <a:endParaRPr lang="en-US" sz="1200" dirty="0"/>
          </a:p>
        </p:txBody>
      </p:sp>
      <p:sp>
        <p:nvSpPr>
          <p:cNvPr id="16" name="model-m-1"/>
          <p:cNvSpPr txBox="1"/>
          <p:nvPr/>
        </p:nvSpPr>
        <p:spPr>
          <a:xfrm>
            <a:off x="4572000" y="2468880"/>
            <a:ext cx="3108960" cy="640080"/>
          </a:xfrm>
          <a:prstGeom prst="rect">
            <a:avLst/>
          </a:prstGeom>
          <a:noFill/>
          <a:ln/>
        </p:spPr>
        <p:txBody>
          <a:bodyPr wrap="square" lIns="0" tIns="0" rIns="0" bIns="0" rtlCol="0" anchor="t"/>
          <a:lstStyle/>
          <a:p>
            <a:pPr indent="0" marL="0">
              <a:buNone/>
            </a:pPr>
            <a:r>
              <a:rPr lang="en-US" sz="3600" b="1" dirty="0">
                <a:solidFill>
                  <a:schemeClr val="accent5"/>
                </a:solidFill>
              </a:rPr>
              <a:t>89.2%</a:t>
            </a:r>
            <a:endParaRPr lang="en-US" sz="3600" dirty="0"/>
          </a:p>
        </p:txBody>
      </p:sp>
      <p:sp>
        <p:nvSpPr>
          <p:cNvPr id="17" name="model-a-1"/>
          <p:cNvSpPr txBox="1"/>
          <p:nvPr/>
        </p:nvSpPr>
        <p:spPr>
          <a:xfrm>
            <a:off x="4572000" y="3127248"/>
            <a:ext cx="3108960" cy="274320"/>
          </a:xfrm>
          <a:prstGeom prst="rect">
            <a:avLst/>
          </a:prstGeom>
          <a:noFill/>
          <a:ln/>
        </p:spPr>
        <p:txBody>
          <a:bodyPr wrap="square" lIns="0" tIns="0" rIns="0" bIns="0" rtlCol="0" anchor="t"/>
          <a:lstStyle/>
          <a:p>
            <a:pPr indent="0" marL="0">
              <a:buNone/>
            </a:pPr>
            <a:r>
              <a:rPr lang="en-US" sz="1200" dirty="0">
                <a:solidFill>
                  <a:schemeClr val="tx2"/>
                </a:solidFill>
              </a:rPr>
              <a:t>mAP@50 · scratch AP 0.78</a:t>
            </a:r>
            <a:endParaRPr lang="en-US" sz="1200" dirty="0"/>
          </a:p>
        </p:txBody>
      </p:sp>
      <p:sp>
        <p:nvSpPr>
          <p:cNvPr id="18" name="model-2"/>
          <p:cNvSpPr/>
          <p:nvPr/>
        </p:nvSpPr>
        <p:spPr>
          <a:xfrm>
            <a:off x="8046720" y="1645920"/>
            <a:ext cx="3566160" cy="1920240"/>
          </a:xfrm>
          <a:prstGeom prst="roundRect">
            <a:avLst>
              <a:gd name="adj" fmla="val 3810"/>
            </a:avLst>
          </a:prstGeom>
          <a:solidFill>
            <a:schemeClr val="bg2"/>
          </a:solidFill>
          <a:ln/>
        </p:spPr>
      </p:sp>
      <p:sp>
        <p:nvSpPr>
          <p:cNvPr id="19" name="model-dot-2"/>
          <p:cNvSpPr/>
          <p:nvPr/>
        </p:nvSpPr>
        <p:spPr>
          <a:xfrm>
            <a:off x="8321040" y="1865376"/>
            <a:ext cx="146304" cy="146304"/>
          </a:xfrm>
          <a:prstGeom prst="ellipse">
            <a:avLst/>
          </a:prstGeom>
          <a:solidFill>
            <a:schemeClr val="accent6"/>
          </a:solidFill>
          <a:ln/>
        </p:spPr>
      </p:sp>
      <p:sp>
        <p:nvSpPr>
          <p:cNvPr id="20" name="model-n-2"/>
          <p:cNvSpPr txBox="1"/>
          <p:nvPr/>
        </p:nvSpPr>
        <p:spPr>
          <a:xfrm>
            <a:off x="8558784" y="1783080"/>
            <a:ext cx="2194560" cy="320040"/>
          </a:xfrm>
          <a:prstGeom prst="rect">
            <a:avLst/>
          </a:prstGeom>
          <a:noFill/>
          <a:ln/>
        </p:spPr>
        <p:txBody>
          <a:bodyPr wrap="square" lIns="0" tIns="0" rIns="0" bIns="0" rtlCol="0" anchor="t"/>
          <a:lstStyle/>
          <a:p>
            <a:pPr indent="0" marL="0">
              <a:buNone/>
            </a:pPr>
            <a:r>
              <a:rPr lang="en-US" sz="1600" b="1" dirty="0">
                <a:solidFill>
                  <a:schemeClr val="tx1"/>
                </a:solidFill>
              </a:rPr>
              <a:t>YOLOX-Tiny</a:t>
            </a:r>
            <a:endParaRPr lang="en-US" sz="1600" dirty="0"/>
          </a:p>
        </p:txBody>
      </p:sp>
      <p:sp>
        <p:nvSpPr>
          <p:cNvPr id="21" name="model-s-2"/>
          <p:cNvSpPr txBox="1"/>
          <p:nvPr/>
        </p:nvSpPr>
        <p:spPr>
          <a:xfrm>
            <a:off x="8321040" y="2148840"/>
            <a:ext cx="3108960" cy="274320"/>
          </a:xfrm>
          <a:prstGeom prst="rect">
            <a:avLst/>
          </a:prstGeom>
          <a:noFill/>
          <a:ln/>
        </p:spPr>
        <p:txBody>
          <a:bodyPr wrap="square" lIns="0" tIns="0" rIns="0" bIns="0" rtlCol="0" anchor="t"/>
          <a:lstStyle/>
          <a:p>
            <a:pPr indent="0" marL="0">
              <a:buNone/>
            </a:pPr>
            <a:r>
              <a:rPr lang="en-US" sz="1200" dirty="0">
                <a:solidFill>
                  <a:schemeClr val="tx2"/>
                </a:solidFill>
              </a:rPr>
              <a:t>5.06M · 6.45 GFLOPs</a:t>
            </a:r>
            <a:endParaRPr lang="en-US" sz="1200" dirty="0"/>
          </a:p>
        </p:txBody>
      </p:sp>
      <p:sp>
        <p:nvSpPr>
          <p:cNvPr id="22" name="model-m-2"/>
          <p:cNvSpPr txBox="1"/>
          <p:nvPr/>
        </p:nvSpPr>
        <p:spPr>
          <a:xfrm>
            <a:off x="8321040" y="2468880"/>
            <a:ext cx="3108960" cy="640080"/>
          </a:xfrm>
          <a:prstGeom prst="rect">
            <a:avLst/>
          </a:prstGeom>
          <a:noFill/>
          <a:ln/>
        </p:spPr>
        <p:txBody>
          <a:bodyPr wrap="square" lIns="0" tIns="0" rIns="0" bIns="0" rtlCol="0" anchor="t"/>
          <a:lstStyle/>
          <a:p>
            <a:pPr indent="0" marL="0">
              <a:buNone/>
            </a:pPr>
            <a:r>
              <a:rPr lang="en-US" sz="3600" b="1" dirty="0">
                <a:solidFill>
                  <a:schemeClr val="accent6"/>
                </a:solidFill>
              </a:rPr>
              <a:t>83.2%</a:t>
            </a:r>
            <a:endParaRPr lang="en-US" sz="3600" dirty="0"/>
          </a:p>
        </p:txBody>
      </p:sp>
      <p:sp>
        <p:nvSpPr>
          <p:cNvPr id="23" name="model-a-2"/>
          <p:cNvSpPr txBox="1"/>
          <p:nvPr/>
        </p:nvSpPr>
        <p:spPr>
          <a:xfrm>
            <a:off x="8321040" y="3127248"/>
            <a:ext cx="3108960" cy="274320"/>
          </a:xfrm>
          <a:prstGeom prst="rect">
            <a:avLst/>
          </a:prstGeom>
          <a:noFill/>
          <a:ln/>
        </p:spPr>
        <p:txBody>
          <a:bodyPr wrap="square" lIns="0" tIns="0" rIns="0" bIns="0" rtlCol="0" anchor="t"/>
          <a:lstStyle/>
          <a:p>
            <a:pPr indent="0" marL="0">
              <a:buNone/>
            </a:pPr>
            <a:r>
              <a:rPr lang="en-US" sz="1200" dirty="0">
                <a:solidFill>
                  <a:schemeClr val="tx2"/>
                </a:solidFill>
              </a:rPr>
              <a:t>mAP@50 · scratch AP 0.66</a:t>
            </a:r>
            <a:endParaRPr lang="en-US" sz="1200" dirty="0"/>
          </a:p>
        </p:txBody>
      </p:sp>
      <p:graphicFrame>
        <p:nvGraphicFramePr>
          <p:cNvPr id="24" name="size-chart" descr=""/>
          <p:cNvGraphicFramePr/>
          <p:nvPr/>
        </p:nvGraphicFramePr>
        <p:xfrm>
          <a:off x="548640" y="3749040"/>
          <a:ext cx="6400800" cy="2331720"/>
        </p:xfrm>
        <a:graphic xmlns:a="http://schemas.openxmlformats.org/drawingml/2006/main">
          <a:graphicData uri="http://schemas.openxmlformats.org/drawingml/2006/chart">
            <c:chart xmlns:c="http://schemas.openxmlformats.org/drawingml/2006/chart" r:id="rId1"/>
          </a:graphicData>
        </a:graphic>
      </p:graphicFrame>
      <p:sp>
        <p:nvSpPr>
          <p:cNvPr id="25" name="read-card"/>
          <p:cNvSpPr/>
          <p:nvPr/>
        </p:nvSpPr>
        <p:spPr>
          <a:xfrm>
            <a:off x="7178040" y="3749040"/>
            <a:ext cx="4462272" cy="2331720"/>
          </a:xfrm>
          <a:prstGeom prst="roundRect">
            <a:avLst>
              <a:gd name="adj" fmla="val 3137"/>
            </a:avLst>
          </a:prstGeom>
          <a:solidFill>
            <a:schemeClr val="bg2"/>
          </a:solidFill>
          <a:ln/>
        </p:spPr>
      </p:sp>
      <p:sp>
        <p:nvSpPr>
          <p:cNvPr id="26" name="read-b"/>
          <p:cNvSpPr txBox="1"/>
          <p:nvPr/>
        </p:nvSpPr>
        <p:spPr>
          <a:xfrm>
            <a:off x="7406640" y="3886200"/>
            <a:ext cx="4069080" cy="21031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Geti 검증셋에서도 같은 순서 (mAP@50 0.88 · 0.84 · 0.80)</a:t>
            </a:r>
            <a:endParaRPr lang="en-US" sz="1400" dirty="0"/>
          </a:p>
          <a:p>
            <a:pPr marL="342900" indent="-342900">
              <a:spcAft>
                <a:spcPts val="600"/>
              </a:spcAft>
              <a:buSzPct val="100000"/>
              <a:buChar char="•"/>
            </a:pPr>
            <a:r>
              <a:rPr lang="en-US" sz="1400" dirty="0">
                <a:solidFill>
                  <a:schemeClr val="tx1"/>
                </a:solidFill>
              </a:rPr>
              <a:t>작은 물체는 ATSS ≈ YOLOX-S, Tiny만 크게 낮음</a:t>
            </a:r>
            <a:endParaRPr lang="en-US" sz="1400" dirty="0"/>
          </a:p>
          <a:p>
            <a:pPr marL="342900" indent="-342900">
              <a:spcAft>
                <a:spcPts val="600"/>
              </a:spcAft>
              <a:buSzPct val="100000"/>
              <a:buChar char="•"/>
            </a:pPr>
            <a:r>
              <a:rPr lang="en-US" sz="1400" dirty="0">
                <a:solidFill>
                  <a:schemeClr val="tx1"/>
                </a:solidFill>
              </a:rPr>
              <a:t>ATSS의 우위는 중간·큰 결함에서 나옴</a:t>
            </a:r>
            <a:endParaRPr lang="en-US" sz="1400" dirty="0"/>
          </a:p>
          <a:p>
            <a:pPr marL="342900" indent="-342900">
              <a:spcAft>
                <a:spcPts val="600"/>
              </a:spcAft>
              <a:buSzPct val="100000"/>
              <a:buChar char="•"/>
            </a:pPr>
            <a:r>
              <a:rPr lang="en-US" sz="1400" dirty="0">
                <a:solidFill>
                  <a:schemeClr val="tx2"/>
                </a:solidFill>
              </a:rPr>
              <a:t>가설: 입력 해상도 992×800 vs 640×640 (미검증)</a:t>
            </a:r>
            <a:endParaRPr lang="en-US" sz="1400" dirty="0"/>
          </a:p>
        </p:txBody>
      </p:sp>
      <p:sp>
        <p:nvSpPr>
          <p:cNvPr id="27" name="size-note"/>
          <p:cNvSpPr txBox="1"/>
          <p:nvPr/>
        </p:nvSpPr>
        <p:spPr>
          <a:xfrm>
            <a:off x="548640" y="6163056"/>
            <a:ext cx="7315200" cy="201168"/>
          </a:xfrm>
          <a:prstGeom prst="rect">
            <a:avLst/>
          </a:prstGeom>
          <a:noFill/>
          <a:ln/>
        </p:spPr>
        <p:txBody>
          <a:bodyPr wrap="square" lIns="0" tIns="0" rIns="0" bIns="0" rtlCol="0" anchor="t"/>
          <a:lstStyle/>
          <a:p>
            <a:pPr indent="0" marL="0">
              <a:buNone/>
            </a:pPr>
            <a:r>
              <a:rPr lang="en-US" sz="900" dirty="0">
                <a:solidFill>
                  <a:schemeClr val="tx2"/>
                </a:solidFill>
              </a:rPr>
              <a:t>모델 크기·연산량은 Geti 표기, mAP@50은 테스트 131장 측정값</a:t>
            </a:r>
            <a:endParaRPr lang="en-US" sz="9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오류 분석</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ATSS · 검토 기준 0.30</a:t>
            </a:r>
            <a:endParaRPr lang="en-US" sz="1500" dirty="0"/>
          </a:p>
        </p:txBody>
      </p:sp>
      <p:graphicFrame>
        <p:nvGraphicFramePr>
          <p:cNvPr id="7" name="confusion"/>
          <p:cNvGraphicFramePr>
            <a:graphicFrameLocks noGrp="1"/>
          </p:cNvGraphicFramePr>
          <p:nvPr>
            <p:extLst>
              <p:ext uri="{D42A27DB-BD31-4B8C-83A1-F6EECF244321}">
                <p14:modId xmlns:p14="http://schemas.microsoft.com/office/powerpoint/2010/main" val="1579011935"/>
              </p:ext>
            </p:extLst>
          </p:nvPr>
        </p:nvGraphicFramePr>
        <p:xfrm>
          <a:off x="548640" y="1645920"/>
          <a:ext cx="5120640" cy="914400"/>
        </p:xfrm>
        <a:graphic>
          <a:graphicData uri="http://schemas.openxmlformats.org/drawingml/2006/table">
            <a:tbl>
              <a:tblPr/>
              <a:tblGrid>
                <a:gridCol w="1554480"/>
                <a:gridCol w="1188720"/>
                <a:gridCol w="1188720"/>
                <a:gridCol w="1188720"/>
              </a:tblGrid>
              <a:tr h="438912">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정답 ↓  예측 →</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crack</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ctr" indent="0" marL="0">
                        <a:buNone/>
                      </a:pPr>
                      <a:r>
                        <a:rPr lang="en-US" sz="1400" b="1" dirty="0">
                          <a:solidFill>
                            <a:schemeClr val="tx2"/>
                          </a:solidFill>
                          <a:latin typeface="Malgun Gothic" pitchFamily="34" charset="0"/>
                          <a:ea typeface="Malgun Gothic" pitchFamily="34" charset="-122"/>
                          <a:cs typeface="Malgun Gothic" pitchFamily="34" charset="-120"/>
                        </a:rPr>
                        <a:t>놓침</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438912">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crack</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45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38912">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scratch</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0</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59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19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438912">
                <a:tc>
                  <a:txBody>
                    <a:bodyPr/>
                    <a:lstStyle/>
                    <a:p>
                      <a:pPr algn="l" indent="0" marL="0">
                        <a:buNone/>
                      </a:pPr>
                      <a:r>
                        <a:rPr lang="en-US" sz="1400" b="1" dirty="0">
                          <a:solidFill>
                            <a:schemeClr val="tx1"/>
                          </a:solidFill>
                          <a:latin typeface="Malgun Gothic" pitchFamily="34" charset="0"/>
                          <a:ea typeface="Malgun Gothic" pitchFamily="34" charset="-122"/>
                          <a:cs typeface="Malgun Gothic" pitchFamily="34" charset="-120"/>
                        </a:rPr>
                        <a:t>배경 (오검출)</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accent3"/>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13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dirty="0">
                          <a:solidFill>
                            <a:schemeClr val="tx2"/>
                          </a:solidFill>
                          <a:latin typeface="Malgun Gothic" pitchFamily="34" charset="0"/>
                          <a:ea typeface="Malgun Gothic" pitchFamily="34" charset="-122"/>
                          <a:cs typeface="Malgun Gothic" pitchFamily="34" charset="-120"/>
                        </a:rPr>
                        <a:t>–</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5" name="conf-cap"/>
          <p:cNvSpPr txBox="1"/>
          <p:nvPr/>
        </p:nvSpPr>
        <p:spPr>
          <a:xfrm>
            <a:off x="548640" y="3520440"/>
            <a:ext cx="5120640" cy="502920"/>
          </a:xfrm>
          <a:prstGeom prst="rect">
            <a:avLst/>
          </a:prstGeom>
          <a:noFill/>
          <a:ln/>
        </p:spPr>
        <p:txBody>
          <a:bodyPr wrap="square" lIns="0" tIns="0" rIns="0" bIns="0" rtlCol="0" anchor="t"/>
          <a:lstStyle/>
          <a:p>
            <a:pPr indent="0" marL="0">
              <a:buNone/>
            </a:pPr>
            <a:r>
              <a:rPr lang="en-US" sz="1400" dirty="0">
                <a:solidFill>
                  <a:schemeClr val="tx1"/>
                </a:solidFill>
              </a:rPr>
              <a:t>crack ↔ scratch 혼동 0건. 오류는 놓친 scratch 19개와 배경 오검출 16개</a:t>
            </a:r>
            <a:endParaRPr lang="en-US" sz="1400" dirty="0"/>
          </a:p>
        </p:txBody>
      </p:sp>
      <p:sp>
        <p:nvSpPr>
          <p:cNvPr id="6" name="bg-recall-card"/>
          <p:cNvSpPr/>
          <p:nvPr/>
        </p:nvSpPr>
        <p:spPr>
          <a:xfrm>
            <a:off x="548640" y="4206240"/>
            <a:ext cx="5120640" cy="2011680"/>
          </a:xfrm>
          <a:prstGeom prst="roundRect">
            <a:avLst>
              <a:gd name="adj" fmla="val 3636"/>
            </a:avLst>
          </a:prstGeom>
          <a:solidFill>
            <a:schemeClr val="bg2"/>
          </a:solidFill>
          <a:ln/>
        </p:spPr>
      </p:sp>
      <p:sp>
        <p:nvSpPr>
          <p:cNvPr id="7" name="bgr-h"/>
          <p:cNvSpPr txBox="1"/>
          <p:nvPr/>
        </p:nvSpPr>
        <p:spPr>
          <a:xfrm>
            <a:off x="822960" y="4343400"/>
            <a:ext cx="4572000" cy="292608"/>
          </a:xfrm>
          <a:prstGeom prst="rect">
            <a:avLst/>
          </a:prstGeom>
          <a:noFill/>
          <a:ln/>
        </p:spPr>
        <p:txBody>
          <a:bodyPr wrap="square" lIns="0" tIns="0" rIns="0" bIns="0" rtlCol="0" anchor="t"/>
          <a:lstStyle/>
          <a:p>
            <a:pPr indent="0" marL="0">
              <a:buNone/>
            </a:pPr>
            <a:r>
              <a:rPr lang="en-US" sz="1400" b="1" dirty="0">
                <a:solidFill>
                  <a:schemeClr val="tx1"/>
                </a:solidFill>
              </a:rPr>
              <a:t>배경별 박스 재현율 (불합격 기준 0.60)</a:t>
            </a:r>
            <a:endParaRPr lang="en-US" sz="1400" dirty="0"/>
          </a:p>
        </p:txBody>
      </p:sp>
      <p:sp>
        <p:nvSpPr>
          <p:cNvPr id="8" name="bgr-l-0"/>
          <p:cNvSpPr txBox="1"/>
          <p:nvPr/>
        </p:nvSpPr>
        <p:spPr>
          <a:xfrm>
            <a:off x="822960" y="4800600"/>
            <a:ext cx="1188720" cy="292608"/>
          </a:xfrm>
          <a:prstGeom prst="rect">
            <a:avLst/>
          </a:prstGeom>
          <a:noFill/>
          <a:ln/>
        </p:spPr>
        <p:txBody>
          <a:bodyPr wrap="square" lIns="0" tIns="0" rIns="0" bIns="0" rtlCol="0" anchor="ctr"/>
          <a:lstStyle/>
          <a:p>
            <a:pPr indent="0" marL="0">
              <a:buNone/>
            </a:pPr>
            <a:r>
              <a:rPr lang="en-US" sz="1300" dirty="0">
                <a:solidFill>
                  <a:schemeClr val="tx2"/>
                </a:solidFill>
              </a:rPr>
              <a:t>초록 매트</a:t>
            </a:r>
            <a:endParaRPr lang="en-US" sz="1300" dirty="0"/>
          </a:p>
        </p:txBody>
      </p:sp>
      <p:sp>
        <p:nvSpPr>
          <p:cNvPr id="9" name="bgr-track-0"/>
          <p:cNvSpPr/>
          <p:nvPr/>
        </p:nvSpPr>
        <p:spPr>
          <a:xfrm>
            <a:off x="2057400" y="4873752"/>
            <a:ext cx="2743200" cy="164592"/>
          </a:xfrm>
          <a:prstGeom prst="rect">
            <a:avLst/>
          </a:prstGeom>
          <a:solidFill>
            <a:srgbClr val="3A3F48"/>
          </a:solidFill>
          <a:ln/>
        </p:spPr>
      </p:sp>
      <p:sp>
        <p:nvSpPr>
          <p:cNvPr id="10" name="bgr-fill-0"/>
          <p:cNvSpPr/>
          <p:nvPr/>
        </p:nvSpPr>
        <p:spPr>
          <a:xfrm>
            <a:off x="2057400" y="4873752"/>
            <a:ext cx="1975104" cy="164592"/>
          </a:xfrm>
          <a:prstGeom prst="rect">
            <a:avLst/>
          </a:prstGeom>
          <a:solidFill>
            <a:schemeClr val="accent1"/>
          </a:solidFill>
          <a:ln/>
        </p:spPr>
      </p:sp>
      <p:sp>
        <p:nvSpPr>
          <p:cNvPr id="11" name="bgr-v-0"/>
          <p:cNvSpPr txBox="1"/>
          <p:nvPr/>
        </p:nvSpPr>
        <p:spPr>
          <a:xfrm>
            <a:off x="4892040" y="4800600"/>
            <a:ext cx="594360" cy="292608"/>
          </a:xfrm>
          <a:prstGeom prst="rect">
            <a:avLst/>
          </a:prstGeom>
          <a:noFill/>
          <a:ln/>
        </p:spPr>
        <p:txBody>
          <a:bodyPr wrap="square" lIns="0" tIns="0" rIns="0" bIns="0" rtlCol="0" anchor="ctr"/>
          <a:lstStyle/>
          <a:p>
            <a:pPr algn="r" indent="0" marL="0">
              <a:buNone/>
            </a:pPr>
            <a:r>
              <a:rPr lang="en-US" sz="1300" b="1" dirty="0">
                <a:solidFill>
                  <a:schemeClr val="tx1"/>
                </a:solidFill>
              </a:rPr>
              <a:t>72%</a:t>
            </a:r>
            <a:endParaRPr lang="en-US" sz="1300" dirty="0"/>
          </a:p>
        </p:txBody>
      </p:sp>
      <p:sp>
        <p:nvSpPr>
          <p:cNvPr id="12" name="bgr-l-1"/>
          <p:cNvSpPr txBox="1"/>
          <p:nvPr/>
        </p:nvSpPr>
        <p:spPr>
          <a:xfrm>
            <a:off x="822960" y="5230368"/>
            <a:ext cx="1188720" cy="292608"/>
          </a:xfrm>
          <a:prstGeom prst="rect">
            <a:avLst/>
          </a:prstGeom>
          <a:noFill/>
          <a:ln/>
        </p:spPr>
        <p:txBody>
          <a:bodyPr wrap="square" lIns="0" tIns="0" rIns="0" bIns="0" rtlCol="0" anchor="ctr"/>
          <a:lstStyle/>
          <a:p>
            <a:pPr indent="0" marL="0">
              <a:buNone/>
            </a:pPr>
            <a:r>
              <a:rPr lang="en-US" sz="1300" dirty="0">
                <a:solidFill>
                  <a:schemeClr val="tx2"/>
                </a:solidFill>
              </a:rPr>
              <a:t>회색</a:t>
            </a:r>
            <a:endParaRPr lang="en-US" sz="1300" dirty="0"/>
          </a:p>
        </p:txBody>
      </p:sp>
      <p:sp>
        <p:nvSpPr>
          <p:cNvPr id="13" name="bgr-track-1"/>
          <p:cNvSpPr/>
          <p:nvPr/>
        </p:nvSpPr>
        <p:spPr>
          <a:xfrm>
            <a:off x="2057400" y="5303520"/>
            <a:ext cx="2743200" cy="164592"/>
          </a:xfrm>
          <a:prstGeom prst="rect">
            <a:avLst/>
          </a:prstGeom>
          <a:solidFill>
            <a:srgbClr val="3A3F48"/>
          </a:solidFill>
          <a:ln/>
        </p:spPr>
      </p:sp>
      <p:sp>
        <p:nvSpPr>
          <p:cNvPr id="14" name="bgr-fill-1"/>
          <p:cNvSpPr/>
          <p:nvPr/>
        </p:nvSpPr>
        <p:spPr>
          <a:xfrm>
            <a:off x="2057400" y="5303520"/>
            <a:ext cx="2057400" cy="164592"/>
          </a:xfrm>
          <a:prstGeom prst="rect">
            <a:avLst/>
          </a:prstGeom>
          <a:solidFill>
            <a:schemeClr val="accent1"/>
          </a:solidFill>
          <a:ln/>
        </p:spPr>
      </p:sp>
      <p:sp>
        <p:nvSpPr>
          <p:cNvPr id="15" name="bgr-v-1"/>
          <p:cNvSpPr txBox="1"/>
          <p:nvPr/>
        </p:nvSpPr>
        <p:spPr>
          <a:xfrm>
            <a:off x="4892040" y="5230368"/>
            <a:ext cx="594360" cy="292608"/>
          </a:xfrm>
          <a:prstGeom prst="rect">
            <a:avLst/>
          </a:prstGeom>
          <a:noFill/>
          <a:ln/>
        </p:spPr>
        <p:txBody>
          <a:bodyPr wrap="square" lIns="0" tIns="0" rIns="0" bIns="0" rtlCol="0" anchor="ctr"/>
          <a:lstStyle/>
          <a:p>
            <a:pPr algn="r" indent="0" marL="0">
              <a:buNone/>
            </a:pPr>
            <a:r>
              <a:rPr lang="en-US" sz="1300" b="1" dirty="0">
                <a:solidFill>
                  <a:schemeClr val="tx1"/>
                </a:solidFill>
              </a:rPr>
              <a:t>75%</a:t>
            </a:r>
            <a:endParaRPr lang="en-US" sz="1300" dirty="0"/>
          </a:p>
        </p:txBody>
      </p:sp>
      <p:sp>
        <p:nvSpPr>
          <p:cNvPr id="16" name="bgr-l-2"/>
          <p:cNvSpPr txBox="1"/>
          <p:nvPr/>
        </p:nvSpPr>
        <p:spPr>
          <a:xfrm>
            <a:off x="822960" y="5660136"/>
            <a:ext cx="1188720" cy="292608"/>
          </a:xfrm>
          <a:prstGeom prst="rect">
            <a:avLst/>
          </a:prstGeom>
          <a:noFill/>
          <a:ln/>
        </p:spPr>
        <p:txBody>
          <a:bodyPr wrap="square" lIns="0" tIns="0" rIns="0" bIns="0" rtlCol="0" anchor="ctr"/>
          <a:lstStyle/>
          <a:p>
            <a:pPr indent="0" marL="0">
              <a:buNone/>
            </a:pPr>
            <a:r>
              <a:rPr lang="en-US" sz="1300" dirty="0">
                <a:solidFill>
                  <a:schemeClr val="tx2"/>
                </a:solidFill>
              </a:rPr>
              <a:t>나무 탁상</a:t>
            </a:r>
            <a:endParaRPr lang="en-US" sz="1300" dirty="0"/>
          </a:p>
        </p:txBody>
      </p:sp>
      <p:sp>
        <p:nvSpPr>
          <p:cNvPr id="17" name="bgr-track-2"/>
          <p:cNvSpPr/>
          <p:nvPr/>
        </p:nvSpPr>
        <p:spPr>
          <a:xfrm>
            <a:off x="2057400" y="5733288"/>
            <a:ext cx="2743200" cy="164592"/>
          </a:xfrm>
          <a:prstGeom prst="rect">
            <a:avLst/>
          </a:prstGeom>
          <a:solidFill>
            <a:srgbClr val="3A3F48"/>
          </a:solidFill>
          <a:ln/>
        </p:spPr>
      </p:sp>
      <p:sp>
        <p:nvSpPr>
          <p:cNvPr id="18" name="bgr-fill-2"/>
          <p:cNvSpPr/>
          <p:nvPr/>
        </p:nvSpPr>
        <p:spPr>
          <a:xfrm>
            <a:off x="2057400" y="5733288"/>
            <a:ext cx="905256" cy="164592"/>
          </a:xfrm>
          <a:prstGeom prst="rect">
            <a:avLst/>
          </a:prstGeom>
          <a:solidFill>
            <a:schemeClr val="accent2"/>
          </a:solidFill>
          <a:ln/>
        </p:spPr>
      </p:sp>
      <p:sp>
        <p:nvSpPr>
          <p:cNvPr id="19" name="bgr-v-2"/>
          <p:cNvSpPr txBox="1"/>
          <p:nvPr/>
        </p:nvSpPr>
        <p:spPr>
          <a:xfrm>
            <a:off x="4892040" y="5660136"/>
            <a:ext cx="594360" cy="292608"/>
          </a:xfrm>
          <a:prstGeom prst="rect">
            <a:avLst/>
          </a:prstGeom>
          <a:noFill/>
          <a:ln/>
        </p:spPr>
        <p:txBody>
          <a:bodyPr wrap="square" lIns="0" tIns="0" rIns="0" bIns="0" rtlCol="0" anchor="ctr"/>
          <a:lstStyle/>
          <a:p>
            <a:pPr algn="r" indent="0" marL="0">
              <a:buNone/>
            </a:pPr>
            <a:r>
              <a:rPr lang="en-US" sz="1300" b="1" dirty="0">
                <a:solidFill>
                  <a:schemeClr val="tx1"/>
                </a:solidFill>
              </a:rPr>
              <a:t>33%</a:t>
            </a:r>
            <a:endParaRPr lang="en-US" sz="1300" dirty="0"/>
          </a:p>
        </p:txBody>
      </p:sp>
      <p:pic>
        <p:nvPicPr>
          <p:cNvPr id="20" name="heat-0" descr="C:\Users\user\_se4nchoi\batteryvision\docs\submission\build\img\heat_atss.jpg">    </p:cNvPr>
          <p:cNvPicPr>
            <a:picLocks noChangeAspect="1"/>
          </p:cNvPicPr>
          <p:nvPr/>
        </p:nvPicPr>
        <p:blipFill>
          <a:blip r:embed="rId1"/>
          <a:stretch>
            <a:fillRect/>
          </a:stretch>
        </p:blipFill>
        <p:spPr>
          <a:xfrm>
            <a:off x="5989320" y="1645920"/>
            <a:ext cx="2697480" cy="2697480"/>
          </a:xfrm>
          <a:prstGeom prst="rect">
            <a:avLst/>
          </a:prstGeom>
        </p:spPr>
      </p:pic>
      <p:sp>
        <p:nvSpPr>
          <p:cNvPr id="21" name="heat-dot-0"/>
          <p:cNvSpPr/>
          <p:nvPr/>
        </p:nvSpPr>
        <p:spPr>
          <a:xfrm>
            <a:off x="5989320" y="4498848"/>
            <a:ext cx="146304" cy="146304"/>
          </a:xfrm>
          <a:prstGeom prst="ellipse">
            <a:avLst/>
          </a:prstGeom>
          <a:solidFill>
            <a:schemeClr val="accent4"/>
          </a:solidFill>
          <a:ln/>
        </p:spPr>
      </p:sp>
      <p:sp>
        <p:nvSpPr>
          <p:cNvPr id="22" name="heat-l-0"/>
          <p:cNvSpPr txBox="1"/>
          <p:nvPr/>
        </p:nvSpPr>
        <p:spPr>
          <a:xfrm>
            <a:off x="6227064" y="4425696"/>
            <a:ext cx="2468880" cy="292608"/>
          </a:xfrm>
          <a:prstGeom prst="rect">
            <a:avLst/>
          </a:prstGeom>
          <a:noFill/>
          <a:ln/>
        </p:spPr>
        <p:txBody>
          <a:bodyPr wrap="square" lIns="0" tIns="0" rIns="0" bIns="0" rtlCol="0" anchor="t"/>
          <a:lstStyle/>
          <a:p>
            <a:pPr indent="0" marL="0">
              <a:buNone/>
            </a:pPr>
            <a:r>
              <a:rPr lang="en-US" sz="1400" b="1" dirty="0">
                <a:solidFill>
                  <a:schemeClr val="tx1"/>
                </a:solidFill>
              </a:rPr>
              <a:t>ATSS  </a:t>
            </a:r>
            <a:pPr indent="0" marL="0">
              <a:buNone/>
            </a:pPr>
            <a:r>
              <a:rPr lang="en-US" sz="1400" dirty="0">
                <a:solidFill>
                  <a:schemeClr val="tx2"/>
                </a:solidFill>
              </a:rPr>
              <a:t>결함 적중 </a:t>
            </a:r>
            <a:pPr indent="0" marL="0">
              <a:buNone/>
            </a:pPr>
            <a:r>
              <a:rPr lang="en-US" sz="1400" b="1" dirty="0">
                <a:solidFill>
                  <a:schemeClr val="accent4"/>
                </a:solidFill>
              </a:rPr>
              <a:t>48%</a:t>
            </a:r>
            <a:endParaRPr lang="en-US" sz="1400" dirty="0"/>
          </a:p>
        </p:txBody>
      </p:sp>
      <p:pic>
        <p:nvPicPr>
          <p:cNvPr id="23" name="heat-1" descr="C:\Users\user\_se4nchoi\batteryvision\docs\submission\build\img\heat_yolox.jpg">    </p:cNvPr>
          <p:cNvPicPr>
            <a:picLocks noChangeAspect="1"/>
          </p:cNvPicPr>
          <p:nvPr/>
        </p:nvPicPr>
        <p:blipFill>
          <a:blip r:embed="rId2"/>
          <a:stretch>
            <a:fillRect/>
          </a:stretch>
        </p:blipFill>
        <p:spPr>
          <a:xfrm>
            <a:off x="8869680" y="1645920"/>
            <a:ext cx="2697480" cy="2697480"/>
          </a:xfrm>
          <a:prstGeom prst="rect">
            <a:avLst/>
          </a:prstGeom>
        </p:spPr>
      </p:pic>
      <p:sp>
        <p:nvSpPr>
          <p:cNvPr id="24" name="heat-dot-1"/>
          <p:cNvSpPr/>
          <p:nvPr/>
        </p:nvSpPr>
        <p:spPr>
          <a:xfrm>
            <a:off x="8869680" y="4498848"/>
            <a:ext cx="146304" cy="146304"/>
          </a:xfrm>
          <a:prstGeom prst="ellipse">
            <a:avLst/>
          </a:prstGeom>
          <a:solidFill>
            <a:schemeClr val="accent5"/>
          </a:solidFill>
          <a:ln/>
        </p:spPr>
      </p:sp>
      <p:sp>
        <p:nvSpPr>
          <p:cNvPr id="25" name="heat-l-1"/>
          <p:cNvSpPr txBox="1"/>
          <p:nvPr/>
        </p:nvSpPr>
        <p:spPr>
          <a:xfrm>
            <a:off x="9107424" y="4425696"/>
            <a:ext cx="2468880" cy="292608"/>
          </a:xfrm>
          <a:prstGeom prst="rect">
            <a:avLst/>
          </a:prstGeom>
          <a:noFill/>
          <a:ln/>
        </p:spPr>
        <p:txBody>
          <a:bodyPr wrap="square" lIns="0" tIns="0" rIns="0" bIns="0" rtlCol="0" anchor="t"/>
          <a:lstStyle/>
          <a:p>
            <a:pPr indent="0" marL="0">
              <a:buNone/>
            </a:pPr>
            <a:r>
              <a:rPr lang="en-US" sz="1400" b="1" dirty="0">
                <a:solidFill>
                  <a:schemeClr val="tx1"/>
                </a:solidFill>
              </a:rPr>
              <a:t>YOLOX-S  </a:t>
            </a:r>
            <a:pPr indent="0" marL="0">
              <a:buNone/>
            </a:pPr>
            <a:r>
              <a:rPr lang="en-US" sz="1400" dirty="0">
                <a:solidFill>
                  <a:schemeClr val="tx2"/>
                </a:solidFill>
              </a:rPr>
              <a:t>결함 적중 </a:t>
            </a:r>
            <a:pPr indent="0" marL="0">
              <a:buNone/>
            </a:pPr>
            <a:r>
              <a:rPr lang="en-US" sz="1400" b="1" dirty="0">
                <a:solidFill>
                  <a:schemeClr val="accent5"/>
                </a:solidFill>
              </a:rPr>
              <a:t>98%</a:t>
            </a:r>
            <a:endParaRPr lang="en-US" sz="1400" dirty="0"/>
          </a:p>
        </p:txBody>
      </p:sp>
      <p:sp>
        <p:nvSpPr>
          <p:cNvPr id="26" name="heat-cap"/>
          <p:cNvSpPr txBox="1"/>
          <p:nvPr/>
        </p:nvSpPr>
        <p:spPr>
          <a:xfrm>
            <a:off x="5989320" y="4892040"/>
            <a:ext cx="5577840" cy="822960"/>
          </a:xfrm>
          <a:prstGeom prst="rect">
            <a:avLst/>
          </a:prstGeom>
          <a:noFill/>
          <a:ln/>
        </p:spPr>
        <p:txBody>
          <a:bodyPr wrap="square" lIns="0" tIns="0" rIns="0" bIns="0" rtlCol="0" anchor="t"/>
          <a:lstStyle/>
          <a:p>
            <a:pPr indent="0" marL="0">
              <a:buNone/>
            </a:pPr>
            <a:r>
              <a:rPr lang="en-US" sz="1400" dirty="0">
                <a:solidFill>
                  <a:schemeClr val="tx2"/>
                </a:solidFill>
              </a:rPr>
              <a:t>heatmap 최고점이 정답 박스 안에 있는 비율 (결함 사진 116장)</a:t>
            </a:r>
            <a:endParaRPr lang="en-US" sz="1400" dirty="0"/>
          </a:p>
          <a:p>
            <a:pPr indent="0" marL="0">
              <a:buNone/>
            </a:pPr>
            <a:r>
              <a:rPr lang="en-US" sz="1400" b="1" dirty="0">
                <a:solidFill>
                  <a:schemeClr val="tx1"/>
                </a:solidFill>
              </a:rPr>
              <a:t>더 정확한 모델(ATSS)이 더 잘 설명하지는 않는다</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INT8 장단점</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수업에서 다룬 모델 최적화(양자화)를 직접 적용</a:t>
            </a:r>
            <a:endParaRPr lang="en-US" sz="1500" dirty="0"/>
          </a:p>
        </p:txBody>
      </p:sp>
      <p:graphicFrame>
        <p:nvGraphicFramePr>
          <p:cNvPr id="4" name="speed-chart" descr=""/>
          <p:cNvGraphicFramePr/>
          <p:nvPr/>
        </p:nvGraphicFramePr>
        <p:xfrm>
          <a:off x="548640" y="1600200"/>
          <a:ext cx="5852160" cy="4206240"/>
        </p:xfrm>
        <a:graphic xmlns:a="http://schemas.openxmlformats.org/drawingml/2006/main">
          <a:graphicData uri="http://schemas.openxmlformats.org/drawingml/2006/chart">
            <c:chart xmlns:c="http://schemas.openxmlformats.org/drawingml/2006/chart" r:id="rId1"/>
          </a:graphicData>
        </a:graphic>
      </p:graphicFrame>
      <p:sp>
        <p:nvSpPr>
          <p:cNvPr id="5" name="speed-note"/>
          <p:cNvSpPr txBox="1"/>
          <p:nvPr/>
        </p:nvSpPr>
        <p:spPr>
          <a:xfrm>
            <a:off x="548640" y="5897880"/>
            <a:ext cx="5852160" cy="274320"/>
          </a:xfrm>
          <a:prstGeom prst="rect">
            <a:avLst/>
          </a:prstGeom>
          <a:noFill/>
          <a:ln/>
        </p:spPr>
        <p:txBody>
          <a:bodyPr wrap="square" lIns="0" tIns="0" rIns="0" bIns="0" rtlCol="0" anchor="t"/>
          <a:lstStyle/>
          <a:p>
            <a:pPr indent="0" marL="0">
              <a:buNone/>
            </a:pPr>
            <a:r>
              <a:rPr lang="en-US" sz="1000" dirty="0">
                <a:solidFill>
                  <a:schemeClr val="tx2"/>
                </a:solidFill>
              </a:rPr>
              <a:t>Intel Core Ultra 7 265K CPU · 사진 1장씩 · 테스트 131장 평균 · 전처리·후처리 포함</a:t>
            </a:r>
            <a:endParaRPr lang="en-US" sz="1000" dirty="0"/>
          </a:p>
        </p:txBody>
      </p:sp>
      <p:sp>
        <p:nvSpPr>
          <p:cNvPr id="6" name="pro-card"/>
          <p:cNvSpPr/>
          <p:nvPr/>
        </p:nvSpPr>
        <p:spPr>
          <a:xfrm>
            <a:off x="6629400" y="1645920"/>
            <a:ext cx="5010912" cy="1783080"/>
          </a:xfrm>
          <a:prstGeom prst="roundRect">
            <a:avLst>
              <a:gd name="adj" fmla="val 4103"/>
            </a:avLst>
          </a:prstGeom>
          <a:solidFill>
            <a:schemeClr val="bg2"/>
          </a:solidFill>
          <a:ln/>
        </p:spPr>
      </p:sp>
      <p:sp>
        <p:nvSpPr>
          <p:cNvPr id="7" name="pro-h"/>
          <p:cNvSpPr txBox="1"/>
          <p:nvPr/>
        </p:nvSpPr>
        <p:spPr>
          <a:xfrm>
            <a:off x="6903720" y="1783080"/>
            <a:ext cx="2743200" cy="320040"/>
          </a:xfrm>
          <a:prstGeom prst="rect">
            <a:avLst/>
          </a:prstGeom>
          <a:noFill/>
          <a:ln/>
        </p:spPr>
        <p:txBody>
          <a:bodyPr wrap="square" lIns="0" tIns="0" rIns="0" bIns="0" rtlCol="0" anchor="t"/>
          <a:lstStyle/>
          <a:p>
            <a:pPr indent="0" marL="0">
              <a:buNone/>
            </a:pPr>
            <a:r>
              <a:rPr lang="en-US" sz="1600" b="1" dirty="0">
                <a:solidFill>
                  <a:schemeClr val="accent6"/>
                </a:solidFill>
              </a:rPr>
              <a:t>장점</a:t>
            </a:r>
            <a:endParaRPr lang="en-US" sz="1600" dirty="0"/>
          </a:p>
        </p:txBody>
      </p:sp>
      <p:sp>
        <p:nvSpPr>
          <p:cNvPr id="8" name="pro-b"/>
          <p:cNvSpPr txBox="1"/>
          <p:nvPr/>
        </p:nvSpPr>
        <p:spPr>
          <a:xfrm>
            <a:off x="6903720" y="2148840"/>
            <a:ext cx="4572000" cy="11887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CPU에서 2.0–4.0배 빠름 (Tiny INT8 8.3 ms)</a:t>
            </a:r>
            <a:endParaRPr lang="en-US" sz="1400" dirty="0"/>
          </a:p>
          <a:p>
            <a:pPr marL="342900" indent="-342900">
              <a:spcAft>
                <a:spcPts val="600"/>
              </a:spcAft>
              <a:buSzPct val="100000"/>
              <a:buChar char="•"/>
            </a:pPr>
            <a:r>
              <a:rPr lang="en-US" sz="1400" dirty="0">
                <a:solidFill>
                  <a:schemeClr val="tx1"/>
                </a:solidFill>
              </a:rPr>
              <a:t>파일 크기 약 절반 (ATSS 5.7 → 3.9 MB)</a:t>
            </a:r>
            <a:endParaRPr lang="en-US" sz="1400" dirty="0"/>
          </a:p>
          <a:p>
            <a:pPr marL="342900" indent="-342900">
              <a:spcAft>
                <a:spcPts val="600"/>
              </a:spcAft>
              <a:buSzPct val="100000"/>
              <a:buChar char="•"/>
            </a:pPr>
            <a:r>
              <a:rPr lang="en-US" sz="1400" dirty="0">
                <a:solidFill>
                  <a:schemeClr val="tx1"/>
                </a:solidFill>
              </a:rPr>
              <a:t>mAP@50 유지 (0.929 → 0.929)</a:t>
            </a:r>
            <a:endParaRPr lang="en-US" sz="1400" dirty="0"/>
          </a:p>
        </p:txBody>
      </p:sp>
      <p:sp>
        <p:nvSpPr>
          <p:cNvPr id="9" name="con-card"/>
          <p:cNvSpPr/>
          <p:nvPr/>
        </p:nvSpPr>
        <p:spPr>
          <a:xfrm>
            <a:off x="6629400" y="3611880"/>
            <a:ext cx="5010912" cy="2560320"/>
          </a:xfrm>
          <a:prstGeom prst="roundRect">
            <a:avLst>
              <a:gd name="adj" fmla="val 2857"/>
            </a:avLst>
          </a:prstGeom>
          <a:solidFill>
            <a:schemeClr val="bg2"/>
          </a:solidFill>
          <a:ln/>
        </p:spPr>
      </p:sp>
      <p:sp>
        <p:nvSpPr>
          <p:cNvPr id="10" name="con-h"/>
          <p:cNvSpPr txBox="1"/>
          <p:nvPr/>
        </p:nvSpPr>
        <p:spPr>
          <a:xfrm>
            <a:off x="6903720" y="3749040"/>
            <a:ext cx="2743200" cy="320040"/>
          </a:xfrm>
          <a:prstGeom prst="rect">
            <a:avLst/>
          </a:prstGeom>
          <a:noFill/>
          <a:ln/>
        </p:spPr>
        <p:txBody>
          <a:bodyPr wrap="square" lIns="0" tIns="0" rIns="0" bIns="0" rtlCol="0" anchor="t"/>
          <a:lstStyle/>
          <a:p>
            <a:pPr indent="0" marL="0">
              <a:buNone/>
            </a:pPr>
            <a:r>
              <a:rPr lang="en-US" sz="1600" b="1" dirty="0">
                <a:solidFill>
                  <a:schemeClr val="accent2"/>
                </a:solidFill>
              </a:rPr>
              <a:t>단점</a:t>
            </a:r>
            <a:endParaRPr lang="en-US" sz="1600" dirty="0"/>
          </a:p>
        </p:txBody>
      </p:sp>
      <p:sp>
        <p:nvSpPr>
          <p:cNvPr id="11" name="con-b"/>
          <p:cNvSpPr txBox="1"/>
          <p:nvPr/>
        </p:nvSpPr>
        <p:spPr>
          <a:xfrm>
            <a:off x="6903720" y="4160520"/>
            <a:ext cx="4572000" cy="18288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신뢰도 점수가 조금 낮아짐: ATSS 박스 재현율 57.7% → 52.0% (0.60 기준)</a:t>
            </a:r>
            <a:endParaRPr lang="en-US" sz="1400" dirty="0"/>
          </a:p>
          <a:p>
            <a:pPr marL="342900" indent="-342900">
              <a:spcAft>
                <a:spcPts val="600"/>
              </a:spcAft>
              <a:buSzPct val="100000"/>
              <a:buChar char="•"/>
            </a:pPr>
            <a:r>
              <a:rPr lang="en-US" sz="1400" dirty="0">
                <a:solidFill>
                  <a:schemeClr val="tx1"/>
                </a:solidFill>
              </a:rPr>
              <a:t>놓친 결함 셀 증가: ATSS 0 → 1, YOLOX-S 6 → 8</a:t>
            </a:r>
            <a:endParaRPr lang="en-US" sz="1400" dirty="0"/>
          </a:p>
          <a:p>
            <a:pPr marL="342900" indent="-342900">
              <a:spcAft>
                <a:spcPts val="600"/>
              </a:spcAft>
              <a:buSzPct val="100000"/>
              <a:buChar char="•"/>
            </a:pPr>
            <a:r>
              <a:rPr lang="en-US" sz="1400" b="1" dirty="0">
                <a:solidFill>
                  <a:schemeClr val="tx1"/>
                </a:solidFill>
              </a:rPr>
              <a:t>판정 기준값을 INT8 모델에 맞춰 다시 정해야 함</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2차 데이터셋</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나중에 촬영된 새 세션 45장 (결함 30 · 정상 15) · 학습에 쓰지 않음</a:t>
            </a:r>
            <a:endParaRPr lang="en-US" sz="1500" dirty="0"/>
          </a:p>
        </p:txBody>
      </p:sp>
      <p:sp>
        <p:nvSpPr>
          <p:cNvPr id="4" name="holdout-card"/>
          <p:cNvSpPr/>
          <p:nvPr/>
        </p:nvSpPr>
        <p:spPr>
          <a:xfrm>
            <a:off x="548640" y="1645920"/>
            <a:ext cx="6400800" cy="3246120"/>
          </a:xfrm>
          <a:prstGeom prst="roundRect">
            <a:avLst>
              <a:gd name="adj" fmla="val 2254"/>
            </a:avLst>
          </a:prstGeom>
          <a:solidFill>
            <a:schemeClr val="bg2"/>
          </a:solidFill>
          <a:ln/>
        </p:spPr>
      </p:sp>
      <p:sp>
        <p:nvSpPr>
          <p:cNvPr id="5" name="ho-h"/>
          <p:cNvSpPr txBox="1"/>
          <p:nvPr/>
        </p:nvSpPr>
        <p:spPr>
          <a:xfrm>
            <a:off x="822960" y="1783080"/>
            <a:ext cx="5852160" cy="320040"/>
          </a:xfrm>
          <a:prstGeom prst="rect">
            <a:avLst/>
          </a:prstGeom>
          <a:noFill/>
          <a:ln/>
        </p:spPr>
        <p:txBody>
          <a:bodyPr wrap="square" lIns="0" tIns="0" rIns="0" bIns="0" rtlCol="0" anchor="t"/>
          <a:lstStyle/>
          <a:p>
            <a:pPr indent="0" marL="0">
              <a:buNone/>
            </a:pPr>
            <a:r>
              <a:rPr lang="en-US" sz="1600" b="1" dirty="0">
                <a:solidFill>
                  <a:schemeClr val="tx1"/>
                </a:solidFill>
              </a:rPr>
              <a:t>결함 셀 검출률 (검토 또는 불합격)</a:t>
            </a:r>
            <a:endParaRPr lang="en-US" sz="1600" dirty="0"/>
          </a:p>
        </p:txBody>
      </p:sp>
      <p:sp>
        <p:nvSpPr>
          <p:cNvPr id="6" name="ho-c1"/>
          <p:cNvSpPr txBox="1"/>
          <p:nvPr/>
        </p:nvSpPr>
        <p:spPr>
          <a:xfrm>
            <a:off x="2926080" y="2240280"/>
            <a:ext cx="1645920" cy="274320"/>
          </a:xfrm>
          <a:prstGeom prst="rect">
            <a:avLst/>
          </a:prstGeom>
          <a:noFill/>
          <a:ln/>
        </p:spPr>
        <p:txBody>
          <a:bodyPr wrap="square" lIns="0" tIns="0" rIns="0" bIns="0" rtlCol="0" anchor="t"/>
          <a:lstStyle/>
          <a:p>
            <a:pPr algn="r" indent="0" marL="0">
              <a:buNone/>
            </a:pPr>
            <a:r>
              <a:rPr lang="en-US" sz="1200" dirty="0">
                <a:solidFill>
                  <a:schemeClr val="tx2"/>
                </a:solidFill>
              </a:rPr>
              <a:t>기존 테스트</a:t>
            </a:r>
            <a:endParaRPr lang="en-US" sz="1200" dirty="0"/>
          </a:p>
        </p:txBody>
      </p:sp>
      <p:sp>
        <p:nvSpPr>
          <p:cNvPr id="7" name="ho-c2"/>
          <p:cNvSpPr txBox="1"/>
          <p:nvPr/>
        </p:nvSpPr>
        <p:spPr>
          <a:xfrm>
            <a:off x="5029200" y="2240280"/>
            <a:ext cx="1645920" cy="274320"/>
          </a:xfrm>
          <a:prstGeom prst="rect">
            <a:avLst/>
          </a:prstGeom>
          <a:noFill/>
          <a:ln/>
        </p:spPr>
        <p:txBody>
          <a:bodyPr wrap="square" lIns="0" tIns="0" rIns="0" bIns="0" rtlCol="0" anchor="t"/>
          <a:lstStyle/>
          <a:p>
            <a:pPr algn="r" indent="0" marL="0">
              <a:buNone/>
            </a:pPr>
            <a:r>
              <a:rPr lang="en-US" sz="1200" dirty="0">
                <a:solidFill>
                  <a:schemeClr val="tx2"/>
                </a:solidFill>
              </a:rPr>
              <a:t>2차 세션</a:t>
            </a:r>
            <a:endParaRPr lang="en-US" sz="1200" dirty="0"/>
          </a:p>
        </p:txBody>
      </p:sp>
      <p:sp>
        <p:nvSpPr>
          <p:cNvPr id="8" name="ho-dot-0"/>
          <p:cNvSpPr/>
          <p:nvPr/>
        </p:nvSpPr>
        <p:spPr>
          <a:xfrm>
            <a:off x="822960" y="2788920"/>
            <a:ext cx="146304" cy="146304"/>
          </a:xfrm>
          <a:prstGeom prst="ellipse">
            <a:avLst/>
          </a:prstGeom>
          <a:solidFill>
            <a:schemeClr val="accent4"/>
          </a:solidFill>
          <a:ln/>
        </p:spPr>
      </p:sp>
      <p:sp>
        <p:nvSpPr>
          <p:cNvPr id="9" name="ho-n-0"/>
          <p:cNvSpPr txBox="1"/>
          <p:nvPr/>
        </p:nvSpPr>
        <p:spPr>
          <a:xfrm>
            <a:off x="1060704" y="2606040"/>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ATSS</a:t>
            </a:r>
            <a:endParaRPr lang="en-US" sz="1600" dirty="0"/>
          </a:p>
        </p:txBody>
      </p:sp>
      <p:sp>
        <p:nvSpPr>
          <p:cNvPr id="10" name="ho-a-0"/>
          <p:cNvSpPr txBox="1"/>
          <p:nvPr/>
        </p:nvSpPr>
        <p:spPr>
          <a:xfrm>
            <a:off x="2926080" y="2606040"/>
            <a:ext cx="1645920" cy="502920"/>
          </a:xfrm>
          <a:prstGeom prst="rect">
            <a:avLst/>
          </a:prstGeom>
          <a:noFill/>
          <a:ln/>
        </p:spPr>
        <p:txBody>
          <a:bodyPr wrap="square" lIns="0" tIns="0" rIns="0" bIns="0" rtlCol="0" anchor="ctr"/>
          <a:lstStyle/>
          <a:p>
            <a:pPr algn="r" indent="0" marL="0">
              <a:buNone/>
            </a:pPr>
            <a:r>
              <a:rPr lang="en-US" sz="2600" b="1" dirty="0">
                <a:solidFill>
                  <a:schemeClr val="tx2"/>
                </a:solidFill>
              </a:rPr>
              <a:t>100%</a:t>
            </a:r>
            <a:endParaRPr lang="en-US" sz="2600" dirty="0"/>
          </a:p>
        </p:txBody>
      </p:sp>
      <p:sp>
        <p:nvSpPr>
          <p:cNvPr id="11" name="ho-b-0"/>
          <p:cNvSpPr txBox="1"/>
          <p:nvPr/>
        </p:nvSpPr>
        <p:spPr>
          <a:xfrm>
            <a:off x="5029200" y="2606040"/>
            <a:ext cx="164592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sp>
        <p:nvSpPr>
          <p:cNvPr id="12" name="ho-dot-1"/>
          <p:cNvSpPr/>
          <p:nvPr/>
        </p:nvSpPr>
        <p:spPr>
          <a:xfrm>
            <a:off x="822960" y="3502152"/>
            <a:ext cx="146304" cy="146304"/>
          </a:xfrm>
          <a:prstGeom prst="ellipse">
            <a:avLst/>
          </a:prstGeom>
          <a:solidFill>
            <a:schemeClr val="accent5"/>
          </a:solidFill>
          <a:ln/>
        </p:spPr>
      </p:sp>
      <p:sp>
        <p:nvSpPr>
          <p:cNvPr id="13" name="ho-n-1"/>
          <p:cNvSpPr txBox="1"/>
          <p:nvPr/>
        </p:nvSpPr>
        <p:spPr>
          <a:xfrm>
            <a:off x="1060704" y="3319272"/>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YOLOX-S</a:t>
            </a:r>
            <a:endParaRPr lang="en-US" sz="1600" dirty="0"/>
          </a:p>
        </p:txBody>
      </p:sp>
      <p:sp>
        <p:nvSpPr>
          <p:cNvPr id="14" name="ho-a-1"/>
          <p:cNvSpPr txBox="1"/>
          <p:nvPr/>
        </p:nvSpPr>
        <p:spPr>
          <a:xfrm>
            <a:off x="2926080" y="3319272"/>
            <a:ext cx="1645920" cy="502920"/>
          </a:xfrm>
          <a:prstGeom prst="rect">
            <a:avLst/>
          </a:prstGeom>
          <a:noFill/>
          <a:ln/>
        </p:spPr>
        <p:txBody>
          <a:bodyPr wrap="square" lIns="0" tIns="0" rIns="0" bIns="0" rtlCol="0" anchor="ctr"/>
          <a:lstStyle/>
          <a:p>
            <a:pPr algn="r" indent="0" marL="0">
              <a:buNone/>
            </a:pPr>
            <a:r>
              <a:rPr lang="en-US" sz="2600" b="1" dirty="0">
                <a:solidFill>
                  <a:schemeClr val="tx2"/>
                </a:solidFill>
              </a:rPr>
              <a:t>94%</a:t>
            </a:r>
            <a:endParaRPr lang="en-US" sz="2600" dirty="0"/>
          </a:p>
        </p:txBody>
      </p:sp>
      <p:sp>
        <p:nvSpPr>
          <p:cNvPr id="15" name="ho-b-1"/>
          <p:cNvSpPr txBox="1"/>
          <p:nvPr/>
        </p:nvSpPr>
        <p:spPr>
          <a:xfrm>
            <a:off x="5029200" y="3319272"/>
            <a:ext cx="1645920" cy="502920"/>
          </a:xfrm>
          <a:prstGeom prst="rect">
            <a:avLst/>
          </a:prstGeom>
          <a:noFill/>
          <a:ln/>
        </p:spPr>
        <p:txBody>
          <a:bodyPr wrap="square" lIns="0" tIns="0" rIns="0" bIns="0" rtlCol="0" anchor="ctr"/>
          <a:lstStyle/>
          <a:p>
            <a:pPr algn="r" indent="0" marL="0">
              <a:buNone/>
            </a:pPr>
            <a:r>
              <a:rPr lang="en-US" sz="2600" b="1" dirty="0">
                <a:solidFill>
                  <a:schemeClr val="accent2"/>
                </a:solidFill>
              </a:rPr>
              <a:t>3%</a:t>
            </a:r>
            <a:endParaRPr lang="en-US" sz="2600" dirty="0"/>
          </a:p>
        </p:txBody>
      </p:sp>
      <p:sp>
        <p:nvSpPr>
          <p:cNvPr id="16" name="ho-dot-2"/>
          <p:cNvSpPr/>
          <p:nvPr/>
        </p:nvSpPr>
        <p:spPr>
          <a:xfrm>
            <a:off x="822960" y="4215384"/>
            <a:ext cx="146304" cy="146304"/>
          </a:xfrm>
          <a:prstGeom prst="ellipse">
            <a:avLst/>
          </a:prstGeom>
          <a:solidFill>
            <a:schemeClr val="accent6"/>
          </a:solidFill>
          <a:ln/>
        </p:spPr>
      </p:sp>
      <p:sp>
        <p:nvSpPr>
          <p:cNvPr id="17" name="ho-n-2"/>
          <p:cNvSpPr txBox="1"/>
          <p:nvPr/>
        </p:nvSpPr>
        <p:spPr>
          <a:xfrm>
            <a:off x="1060704" y="4032504"/>
            <a:ext cx="1828800" cy="502920"/>
          </a:xfrm>
          <a:prstGeom prst="rect">
            <a:avLst/>
          </a:prstGeom>
          <a:noFill/>
          <a:ln/>
        </p:spPr>
        <p:txBody>
          <a:bodyPr wrap="square" lIns="0" tIns="0" rIns="0" bIns="0" rtlCol="0" anchor="ctr"/>
          <a:lstStyle/>
          <a:p>
            <a:pPr indent="0" marL="0">
              <a:buNone/>
            </a:pPr>
            <a:r>
              <a:rPr lang="en-US" sz="1600" b="1" dirty="0">
                <a:solidFill>
                  <a:schemeClr val="tx1"/>
                </a:solidFill>
              </a:rPr>
              <a:t>YOLOX-Tiny</a:t>
            </a:r>
            <a:endParaRPr lang="en-US" sz="1600" dirty="0"/>
          </a:p>
        </p:txBody>
      </p:sp>
      <p:sp>
        <p:nvSpPr>
          <p:cNvPr id="18" name="ho-a-2"/>
          <p:cNvSpPr txBox="1"/>
          <p:nvPr/>
        </p:nvSpPr>
        <p:spPr>
          <a:xfrm>
            <a:off x="2926080" y="4032504"/>
            <a:ext cx="1645920" cy="502920"/>
          </a:xfrm>
          <a:prstGeom prst="rect">
            <a:avLst/>
          </a:prstGeom>
          <a:noFill/>
          <a:ln/>
        </p:spPr>
        <p:txBody>
          <a:bodyPr wrap="square" lIns="0" tIns="0" rIns="0" bIns="0" rtlCol="0" anchor="ctr"/>
          <a:lstStyle/>
          <a:p>
            <a:pPr algn="r" indent="0" marL="0">
              <a:buNone/>
            </a:pPr>
            <a:r>
              <a:rPr lang="en-US" sz="2600" b="1" dirty="0">
                <a:solidFill>
                  <a:schemeClr val="tx2"/>
                </a:solidFill>
              </a:rPr>
              <a:t>99%</a:t>
            </a:r>
            <a:endParaRPr lang="en-US" sz="2600" dirty="0"/>
          </a:p>
        </p:txBody>
      </p:sp>
      <p:sp>
        <p:nvSpPr>
          <p:cNvPr id="19" name="ho-b-2"/>
          <p:cNvSpPr txBox="1"/>
          <p:nvPr/>
        </p:nvSpPr>
        <p:spPr>
          <a:xfrm>
            <a:off x="5029200" y="4032504"/>
            <a:ext cx="1645920" cy="502920"/>
          </a:xfrm>
          <a:prstGeom prst="rect">
            <a:avLst/>
          </a:prstGeom>
          <a:noFill/>
          <a:ln/>
        </p:spPr>
        <p:txBody>
          <a:bodyPr wrap="square" lIns="0" tIns="0" rIns="0" bIns="0" rtlCol="0" anchor="ctr"/>
          <a:lstStyle/>
          <a:p>
            <a:pPr algn="r" indent="0" marL="0">
              <a:buNone/>
            </a:pPr>
            <a:r>
              <a:rPr lang="en-US" sz="2600" b="1" dirty="0">
                <a:solidFill>
                  <a:schemeClr val="accent2"/>
                </a:solidFill>
              </a:rPr>
              <a:t>47%</a:t>
            </a:r>
            <a:endParaRPr lang="en-US" sz="2600" dirty="0"/>
          </a:p>
        </p:txBody>
      </p:sp>
      <p:pic>
        <p:nvPicPr>
          <p:cNvPr id="20" name="miss-img" descr="C:\Users\user\_se4nchoi\batteryvision\docs\submission\build\img\holdout_miss.jpg">    </p:cNvPr>
          <p:cNvPicPr>
            <a:picLocks noChangeAspect="1"/>
          </p:cNvPicPr>
          <p:nvPr/>
        </p:nvPicPr>
        <p:blipFill>
          <a:blip r:embed="rId1"/>
          <a:stretch>
            <a:fillRect/>
          </a:stretch>
        </p:blipFill>
        <p:spPr>
          <a:xfrm>
            <a:off x="7589520" y="1645920"/>
            <a:ext cx="3657600" cy="3657600"/>
          </a:xfrm>
          <a:prstGeom prst="rect">
            <a:avLst/>
          </a:prstGeom>
        </p:spPr>
      </p:pic>
      <p:sp>
        <p:nvSpPr>
          <p:cNvPr id="21" name="miss-cap"/>
          <p:cNvSpPr txBox="1"/>
          <p:nvPr/>
        </p:nvSpPr>
        <p:spPr>
          <a:xfrm>
            <a:off x="7589520" y="5413248"/>
            <a:ext cx="4023360" cy="548640"/>
          </a:xfrm>
          <a:prstGeom prst="rect">
            <a:avLst/>
          </a:prstGeom>
          <a:noFill/>
          <a:ln/>
        </p:spPr>
        <p:txBody>
          <a:bodyPr wrap="square" lIns="0" tIns="0" rIns="0" bIns="0" rtlCol="0" anchor="t"/>
          <a:lstStyle/>
          <a:p>
            <a:pPr indent="0" marL="0">
              <a:buNone/>
            </a:pPr>
            <a:r>
              <a:rPr lang="en-US" sz="1300" b="1" dirty="0">
                <a:solidFill>
                  <a:schemeClr val="tx1"/>
                </a:solidFill>
              </a:rPr>
              <a:t>정답: scratch</a:t>
            </a:r>
            <a:endParaRPr lang="en-US" sz="1300" dirty="0"/>
          </a:p>
          <a:p>
            <a:pPr indent="0" marL="0">
              <a:buNone/>
            </a:pPr>
            <a:r>
              <a:rPr lang="en-US" sz="1300" dirty="0">
                <a:solidFill>
                  <a:schemeClr val="tx2"/>
                </a:solidFill>
              </a:rPr>
              <a:t>ATSS 최고 점수 0.21 → 검토 기준 미달로 통과</a:t>
            </a:r>
            <a:endParaRPr lang="en-US" sz="1300" dirty="0"/>
          </a:p>
        </p:txBody>
      </p:sp>
      <p:sp>
        <p:nvSpPr>
          <p:cNvPr id="22" name="finding-card"/>
          <p:cNvSpPr/>
          <p:nvPr/>
        </p:nvSpPr>
        <p:spPr>
          <a:xfrm>
            <a:off x="548640" y="5074920"/>
            <a:ext cx="6400800" cy="1143000"/>
          </a:xfrm>
          <a:prstGeom prst="roundRect">
            <a:avLst>
              <a:gd name="adj" fmla="val 6400"/>
            </a:avLst>
          </a:prstGeom>
          <a:solidFill>
            <a:schemeClr val="bg2"/>
          </a:solidFill>
          <a:ln/>
        </p:spPr>
      </p:sp>
      <p:sp>
        <p:nvSpPr>
          <p:cNvPr id="23" name="finding-b"/>
          <p:cNvSpPr txBox="1"/>
          <p:nvPr/>
        </p:nvSpPr>
        <p:spPr>
          <a:xfrm>
            <a:off x="822960" y="5212080"/>
            <a:ext cx="5943600" cy="91440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chemeClr val="tx1"/>
                </a:solidFill>
              </a:rPr>
              <a:t>결함을 잘못 분류한 게 아니라 점수가 낮아 놓침 · 정상 셀 자동 불합격 0건</a:t>
            </a:r>
            <a:endParaRPr lang="en-US" sz="1400" dirty="0"/>
          </a:p>
          <a:p>
            <a:pPr marL="342900" indent="-342900">
              <a:spcAft>
                <a:spcPts val="600"/>
              </a:spcAft>
              <a:buSzPct val="100000"/>
              <a:buChar char="•"/>
            </a:pPr>
            <a:r>
              <a:rPr lang="en-US" sz="1400" b="1" dirty="0">
                <a:solidFill>
                  <a:schemeClr val="accent3"/>
                </a:solidFill>
              </a:rPr>
              <a:t>3번 슬라이드의 한계(촬영 환경)가 그대로 드러남</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Logs and Lesson Learned</a:t>
            </a:r>
            <a:endParaRPr lang="en-US" sz="3200" dirty="0"/>
          </a:p>
        </p:txBody>
      </p:sp>
      <p:graphicFrame>
        <p:nvGraphicFramePr>
          <p:cNvPr id="10" name="log-table"/>
          <p:cNvGraphicFramePr>
            <a:graphicFrameLocks noGrp="1"/>
          </p:cNvGraphicFramePr>
          <p:nvPr>
            <p:extLst>
              <p:ext uri="{D42A27DB-BD31-4B8C-83A1-F6EECF244321}">
                <p14:modId xmlns:p14="http://schemas.microsoft.com/office/powerpoint/2010/main" val="1579011935"/>
              </p:ext>
            </p:extLst>
          </p:nvPr>
        </p:nvGraphicFramePr>
        <p:xfrm>
          <a:off x="548640" y="1371600"/>
          <a:ext cx="6858000" cy="914400"/>
        </p:xfrm>
        <a:graphic>
          <a:graphicData uri="http://schemas.openxmlformats.org/drawingml/2006/table">
            <a:tbl>
              <a:tblPr/>
              <a:tblGrid>
                <a:gridCol w="640080"/>
                <a:gridCol w="2240280"/>
                <a:gridCol w="1325880"/>
                <a:gridCol w="2651760"/>
              </a:tblGrid>
              <a:tr h="713232">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단계</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조건</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결과</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c>
                  <a:txBody>
                    <a:bodyPr/>
                    <a:lstStyle/>
                    <a:p>
                      <a:pPr algn="l" indent="0" marL="0">
                        <a:buNone/>
                      </a:pPr>
                      <a:r>
                        <a:rPr lang="en-US" sz="1400" b="1" dirty="0">
                          <a:solidFill>
                            <a:schemeClr val="tx2"/>
                          </a:solidFill>
                          <a:latin typeface="Malgun Gothic" pitchFamily="34" charset="0"/>
                          <a:ea typeface="Malgun Gothic" pitchFamily="34" charset="-122"/>
                          <a:cs typeface="Malgun Gothic" pitchFamily="34" charset="-120"/>
                        </a:rPr>
                        <a:t>배운 것</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16191E"/>
                    </a:solidFill>
                  </a:tcPr>
                </a:tc>
              </a:tr>
              <a:tr h="713232">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1</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ATSS · 테스트 153장</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93.3%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첫 숫자는 좋아 보인다</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713232">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복사본 22장 제거 · 131장</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92.9%</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점수는 그대로, 평가는 정직하게</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713232">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3</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YOLOX-S · YOLOX-Tiny 비교</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1"/>
                          </a:solidFill>
                          <a:latin typeface="Malgun Gothic" pitchFamily="34" charset="0"/>
                          <a:ea typeface="Malgun Gothic" pitchFamily="34" charset="-122"/>
                          <a:cs typeface="Malgun Gothic" pitchFamily="34" charset="-120"/>
                        </a:rPr>
                        <a:t>89.2 · 83.2%</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큰 모델이 이기지 않는다</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713232">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4</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INT8 양자화</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3"/>
                          </a:solidFill>
                          <a:latin typeface="Malgun Gothic" pitchFamily="34" charset="0"/>
                          <a:ea typeface="Malgun Gothic" pitchFamily="34" charset="-122"/>
                          <a:cs typeface="Malgun Gothic" pitchFamily="34" charset="-120"/>
                        </a:rPr>
                        <a:t>2–4배 빠름</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빠르지만 기준값 재조정 필요</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r h="713232">
                <a:tc>
                  <a:txBody>
                    <a:bodyPr/>
                    <a:lstStyle/>
                    <a:p>
                      <a:pPr algn="ctr" indent="0" marL="0">
                        <a:buNone/>
                      </a:pPr>
                      <a:r>
                        <a:rPr lang="en-US" sz="1400" dirty="0">
                          <a:solidFill>
                            <a:schemeClr val="tx1"/>
                          </a:solidFill>
                          <a:latin typeface="Malgun Gothic" pitchFamily="34" charset="0"/>
                          <a:ea typeface="Malgun Gothic" pitchFamily="34" charset="-122"/>
                          <a:cs typeface="Malgun Gothic" pitchFamily="34" charset="-120"/>
                        </a:rPr>
                        <a:t>5</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1"/>
                          </a:solidFill>
                          <a:latin typeface="Malgun Gothic" pitchFamily="34" charset="0"/>
                          <a:ea typeface="Malgun Gothic" pitchFamily="34" charset="-122"/>
                          <a:cs typeface="Malgun Gothic" pitchFamily="34" charset="-120"/>
                        </a:rPr>
                        <a:t>2차 세션 45장</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ctr" indent="0" marL="0">
                        <a:buNone/>
                      </a:pPr>
                      <a:r>
                        <a:rPr lang="en-US" sz="1400" b="1" dirty="0">
                          <a:solidFill>
                            <a:schemeClr val="accent2"/>
                          </a:solidFill>
                          <a:latin typeface="Malgun Gothic" pitchFamily="34" charset="0"/>
                          <a:ea typeface="Malgun Gothic" pitchFamily="34" charset="-122"/>
                          <a:cs typeface="Malgun Gothic" pitchFamily="34" charset="-120"/>
                        </a:rPr>
                        <a:t>검출 47%</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c>
                  <a:txBody>
                    <a:bodyPr/>
                    <a:lstStyle/>
                    <a:p>
                      <a:pPr algn="l" indent="0" marL="0">
                        <a:buNone/>
                      </a:pPr>
                      <a:r>
                        <a:rPr lang="en-US" sz="1400" dirty="0">
                          <a:solidFill>
                            <a:schemeClr val="tx2"/>
                          </a:solidFill>
                          <a:latin typeface="Malgun Gothic" pitchFamily="34" charset="0"/>
                          <a:ea typeface="Malgun Gothic" pitchFamily="34" charset="-122"/>
                          <a:cs typeface="Malgun Gothic" pitchFamily="34" charset="-120"/>
                        </a:rPr>
                        <a:t>환경이 바뀌면 다시 검증</a:t>
                      </a:r>
                      <a:endParaRPr lang="en-US" sz="1400" dirty="0">
                        <a:latin typeface="Malgun Gothic" charset="0"/>
                        <a:ea typeface="Malgun Gothic" charset="0"/>
                        <a:cs typeface="Malgun Gothic" charset="0"/>
                      </a:endParaRPr>
                    </a:p>
                  </a:txBody>
                  <a:tcPr marL="91440" marR="91440" marT="45720" marB="45720" anchor="ctr">
                    <a:lnL w="9525" cap="flat" cmpd="sng" algn="ctr">
                      <a:solidFill>
                        <a:srgbClr val="3A3F48"/>
                      </a:solidFill>
                      <a:prstDash val="solid"/>
                      <a:round/>
                      <a:headEnd type="none" w="med" len="med"/>
                      <a:tailEnd type="none" w="med" len="med"/>
                    </a:lnL>
                    <a:lnR w="9525" cap="flat" cmpd="sng" algn="ctr">
                      <a:solidFill>
                        <a:srgbClr val="3A3F48"/>
                      </a:solidFill>
                      <a:prstDash val="solid"/>
                      <a:round/>
                      <a:headEnd type="none" w="med" len="med"/>
                      <a:tailEnd type="none" w="med" len="med"/>
                    </a:lnR>
                    <a:lnT w="9525" cap="flat" cmpd="sng" algn="ctr">
                      <a:solidFill>
                        <a:srgbClr val="3A3F48"/>
                      </a:solidFill>
                      <a:prstDash val="solid"/>
                      <a:round/>
                      <a:headEnd type="none" w="med" len="med"/>
                      <a:tailEnd type="none" w="med" len="med"/>
                    </a:lnT>
                    <a:lnB w="9525" cap="flat" cmpd="sng" algn="ctr">
                      <a:solidFill>
                        <a:srgbClr val="3A3F48"/>
                      </a:solidFill>
                      <a:prstDash val="solid"/>
                      <a:round/>
                      <a:headEnd type="none" w="med" len="med"/>
                      <a:tailEnd type="none" w="med" len="med"/>
                    </a:lnB>
                    <a:solidFill>
                      <a:srgbClr val="23272F"/>
                    </a:solidFill>
                  </a:tcPr>
                </a:tc>
              </a:tr>
            </a:tbl>
          </a:graphicData>
        </a:graphic>
      </p:graphicFrame>
      <p:sp>
        <p:nvSpPr>
          <p:cNvPr id="4" name="log-note"/>
          <p:cNvSpPr txBox="1"/>
          <p:nvPr/>
        </p:nvSpPr>
        <p:spPr>
          <a:xfrm>
            <a:off x="548640" y="5806440"/>
            <a:ext cx="6858000" cy="274320"/>
          </a:xfrm>
          <a:prstGeom prst="rect">
            <a:avLst/>
          </a:prstGeom>
          <a:noFill/>
          <a:ln/>
        </p:spPr>
        <p:txBody>
          <a:bodyPr wrap="square" lIns="0" tIns="0" rIns="0" bIns="0" rtlCol="0" anchor="t"/>
          <a:lstStyle/>
          <a:p>
            <a:pPr indent="0" marL="0">
              <a:buNone/>
            </a:pPr>
            <a:r>
              <a:rPr lang="en-US" sz="1000" dirty="0">
                <a:solidFill>
                  <a:schemeClr val="tx2"/>
                </a:solidFill>
              </a:rPr>
              <a:t>결과: mAP@50 (1–3), CPU 속도 (4), 결함 셀 검출률 · ATSS (5)</a:t>
            </a:r>
            <a:endParaRPr lang="en-US" sz="1000" dirty="0"/>
          </a:p>
        </p:txBody>
      </p:sp>
      <p:sp>
        <p:nvSpPr>
          <p:cNvPr id="5" name="lesson-0"/>
          <p:cNvSpPr/>
          <p:nvPr/>
        </p:nvSpPr>
        <p:spPr>
          <a:xfrm>
            <a:off x="7680960" y="1371600"/>
            <a:ext cx="3959352" cy="1051560"/>
          </a:xfrm>
          <a:prstGeom prst="roundRect">
            <a:avLst>
              <a:gd name="adj" fmla="val 6957"/>
            </a:avLst>
          </a:prstGeom>
          <a:solidFill>
            <a:schemeClr val="bg2"/>
          </a:solidFill>
          <a:ln/>
        </p:spPr>
      </p:sp>
      <p:sp>
        <p:nvSpPr>
          <p:cNvPr id="6" name="lesson-n-0"/>
          <p:cNvSpPr txBox="1"/>
          <p:nvPr/>
        </p:nvSpPr>
        <p:spPr>
          <a:xfrm>
            <a:off x="7909560" y="1536192"/>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01</a:t>
            </a:r>
            <a:endParaRPr lang="en-US" sz="1800" dirty="0"/>
          </a:p>
        </p:txBody>
      </p:sp>
      <p:sp>
        <p:nvSpPr>
          <p:cNvPr id="7" name="lesson-h-0"/>
          <p:cNvSpPr txBox="1"/>
          <p:nvPr/>
        </p:nvSpPr>
        <p:spPr>
          <a:xfrm>
            <a:off x="8458200" y="1508760"/>
            <a:ext cx="3063240" cy="347472"/>
          </a:xfrm>
          <a:prstGeom prst="rect">
            <a:avLst/>
          </a:prstGeom>
          <a:noFill/>
          <a:ln/>
        </p:spPr>
        <p:txBody>
          <a:bodyPr wrap="square" lIns="0" tIns="0" rIns="0" bIns="0" rtlCol="0" anchor="t"/>
          <a:lstStyle/>
          <a:p>
            <a:pPr indent="0" marL="0">
              <a:buNone/>
            </a:pPr>
            <a:r>
              <a:rPr lang="en-US" sz="1500" b="1" dirty="0">
                <a:solidFill>
                  <a:schemeClr val="tx1"/>
                </a:solidFill>
              </a:rPr>
              <a:t>데이터부터 의심하기</a:t>
            </a:r>
            <a:endParaRPr lang="en-US" sz="1500" dirty="0"/>
          </a:p>
        </p:txBody>
      </p:sp>
      <p:sp>
        <p:nvSpPr>
          <p:cNvPr id="8" name="lesson-d-0"/>
          <p:cNvSpPr txBox="1"/>
          <p:nvPr/>
        </p:nvSpPr>
        <p:spPr>
          <a:xfrm>
            <a:off x="8458200" y="1901952"/>
            <a:ext cx="3063240" cy="365760"/>
          </a:xfrm>
          <a:prstGeom prst="rect">
            <a:avLst/>
          </a:prstGeom>
          <a:noFill/>
          <a:ln/>
        </p:spPr>
        <p:txBody>
          <a:bodyPr wrap="square" lIns="0" tIns="0" rIns="0" bIns="0" rtlCol="0" anchor="t"/>
          <a:lstStyle/>
          <a:p>
            <a:pPr indent="0" marL="0">
              <a:buNone/>
            </a:pPr>
            <a:r>
              <a:rPr lang="en-US" sz="1200" dirty="0">
                <a:solidFill>
                  <a:schemeClr val="tx2"/>
                </a:solidFill>
              </a:rPr>
              <a:t>받은 데이터셋의 중복·세션을 먼저 확인</a:t>
            </a:r>
            <a:endParaRPr lang="en-US" sz="1200" dirty="0"/>
          </a:p>
        </p:txBody>
      </p:sp>
      <p:sp>
        <p:nvSpPr>
          <p:cNvPr id="9" name="lesson-1"/>
          <p:cNvSpPr/>
          <p:nvPr/>
        </p:nvSpPr>
        <p:spPr>
          <a:xfrm>
            <a:off x="7680960" y="2560320"/>
            <a:ext cx="3959352" cy="1051560"/>
          </a:xfrm>
          <a:prstGeom prst="roundRect">
            <a:avLst>
              <a:gd name="adj" fmla="val 6957"/>
            </a:avLst>
          </a:prstGeom>
          <a:solidFill>
            <a:schemeClr val="bg2"/>
          </a:solidFill>
          <a:ln/>
        </p:spPr>
      </p:sp>
      <p:sp>
        <p:nvSpPr>
          <p:cNvPr id="10" name="lesson-n-1"/>
          <p:cNvSpPr txBox="1"/>
          <p:nvPr/>
        </p:nvSpPr>
        <p:spPr>
          <a:xfrm>
            <a:off x="7909560" y="2724912"/>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02</a:t>
            </a:r>
            <a:endParaRPr lang="en-US" sz="1800" dirty="0"/>
          </a:p>
        </p:txBody>
      </p:sp>
      <p:sp>
        <p:nvSpPr>
          <p:cNvPr id="11" name="lesson-h-1"/>
          <p:cNvSpPr txBox="1"/>
          <p:nvPr/>
        </p:nvSpPr>
        <p:spPr>
          <a:xfrm>
            <a:off x="8458200" y="2697480"/>
            <a:ext cx="3063240" cy="347472"/>
          </a:xfrm>
          <a:prstGeom prst="rect">
            <a:avLst/>
          </a:prstGeom>
          <a:noFill/>
          <a:ln/>
        </p:spPr>
        <p:txBody>
          <a:bodyPr wrap="square" lIns="0" tIns="0" rIns="0" bIns="0" rtlCol="0" anchor="t"/>
          <a:lstStyle/>
          <a:p>
            <a:pPr indent="0" marL="0">
              <a:buNone/>
            </a:pPr>
            <a:r>
              <a:rPr lang="en-US" sz="1500" b="1" dirty="0">
                <a:solidFill>
                  <a:schemeClr val="tx1"/>
                </a:solidFill>
              </a:rPr>
              <a:t>큰 모델 ≠ 좋은 모델</a:t>
            </a:r>
            <a:endParaRPr lang="en-US" sz="1500" dirty="0"/>
          </a:p>
        </p:txBody>
      </p:sp>
      <p:sp>
        <p:nvSpPr>
          <p:cNvPr id="12" name="lesson-d-1"/>
          <p:cNvSpPr txBox="1"/>
          <p:nvPr/>
        </p:nvSpPr>
        <p:spPr>
          <a:xfrm>
            <a:off x="8458200" y="3090672"/>
            <a:ext cx="3063240" cy="365760"/>
          </a:xfrm>
          <a:prstGeom prst="rect">
            <a:avLst/>
          </a:prstGeom>
          <a:noFill/>
          <a:ln/>
        </p:spPr>
        <p:txBody>
          <a:bodyPr wrap="square" lIns="0" tIns="0" rIns="0" bIns="0" rtlCol="0" anchor="t"/>
          <a:lstStyle/>
          <a:p>
            <a:pPr indent="0" marL="0">
              <a:buNone/>
            </a:pPr>
            <a:r>
              <a:rPr lang="en-US" sz="1200" dirty="0">
                <a:solidFill>
                  <a:schemeClr val="tx2"/>
                </a:solidFill>
              </a:rPr>
              <a:t>데이터와 결함 크기에 맞는 모델 선택</a:t>
            </a:r>
            <a:endParaRPr lang="en-US" sz="1200" dirty="0"/>
          </a:p>
        </p:txBody>
      </p:sp>
      <p:sp>
        <p:nvSpPr>
          <p:cNvPr id="13" name="lesson-2"/>
          <p:cNvSpPr/>
          <p:nvPr/>
        </p:nvSpPr>
        <p:spPr>
          <a:xfrm>
            <a:off x="7680960" y="3749040"/>
            <a:ext cx="3959352" cy="1051560"/>
          </a:xfrm>
          <a:prstGeom prst="roundRect">
            <a:avLst>
              <a:gd name="adj" fmla="val 6957"/>
            </a:avLst>
          </a:prstGeom>
          <a:solidFill>
            <a:schemeClr val="bg2"/>
          </a:solidFill>
          <a:ln/>
        </p:spPr>
      </p:sp>
      <p:sp>
        <p:nvSpPr>
          <p:cNvPr id="14" name="lesson-n-2"/>
          <p:cNvSpPr txBox="1"/>
          <p:nvPr/>
        </p:nvSpPr>
        <p:spPr>
          <a:xfrm>
            <a:off x="7909560" y="3913632"/>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03</a:t>
            </a:r>
            <a:endParaRPr lang="en-US" sz="1800" dirty="0"/>
          </a:p>
        </p:txBody>
      </p:sp>
      <p:sp>
        <p:nvSpPr>
          <p:cNvPr id="15" name="lesson-h-2"/>
          <p:cNvSpPr txBox="1"/>
          <p:nvPr/>
        </p:nvSpPr>
        <p:spPr>
          <a:xfrm>
            <a:off x="8458200" y="3886200"/>
            <a:ext cx="3063240" cy="347472"/>
          </a:xfrm>
          <a:prstGeom prst="rect">
            <a:avLst/>
          </a:prstGeom>
          <a:noFill/>
          <a:ln/>
        </p:spPr>
        <p:txBody>
          <a:bodyPr wrap="square" lIns="0" tIns="0" rIns="0" bIns="0" rtlCol="0" anchor="t"/>
          <a:lstStyle/>
          <a:p>
            <a:pPr indent="0" marL="0">
              <a:buNone/>
            </a:pPr>
            <a:r>
              <a:rPr lang="en-US" sz="1500" b="1" dirty="0">
                <a:solidFill>
                  <a:schemeClr val="tx1"/>
                </a:solidFill>
              </a:rPr>
              <a:t>최적화는 기준값과 함께</a:t>
            </a:r>
            <a:endParaRPr lang="en-US" sz="1500" dirty="0"/>
          </a:p>
        </p:txBody>
      </p:sp>
      <p:sp>
        <p:nvSpPr>
          <p:cNvPr id="16" name="lesson-d-2"/>
          <p:cNvSpPr txBox="1"/>
          <p:nvPr/>
        </p:nvSpPr>
        <p:spPr>
          <a:xfrm>
            <a:off x="8458200" y="4279392"/>
            <a:ext cx="3063240" cy="365760"/>
          </a:xfrm>
          <a:prstGeom prst="rect">
            <a:avLst/>
          </a:prstGeom>
          <a:noFill/>
          <a:ln/>
        </p:spPr>
        <p:txBody>
          <a:bodyPr wrap="square" lIns="0" tIns="0" rIns="0" bIns="0" rtlCol="0" anchor="t"/>
          <a:lstStyle/>
          <a:p>
            <a:pPr indent="0" marL="0">
              <a:buNone/>
            </a:pPr>
            <a:r>
              <a:rPr lang="en-US" sz="1200" dirty="0">
                <a:solidFill>
                  <a:schemeClr val="tx2"/>
                </a:solidFill>
              </a:rPr>
              <a:t>INT8은 빠르지만 판정 기준을 다시 맞춰야</a:t>
            </a:r>
            <a:endParaRPr lang="en-US" sz="1200" dirty="0"/>
          </a:p>
        </p:txBody>
      </p:sp>
      <p:sp>
        <p:nvSpPr>
          <p:cNvPr id="17" name="lesson-3"/>
          <p:cNvSpPr/>
          <p:nvPr/>
        </p:nvSpPr>
        <p:spPr>
          <a:xfrm>
            <a:off x="7680960" y="4937760"/>
            <a:ext cx="3959352" cy="1051560"/>
          </a:xfrm>
          <a:prstGeom prst="roundRect">
            <a:avLst>
              <a:gd name="adj" fmla="val 6957"/>
            </a:avLst>
          </a:prstGeom>
          <a:solidFill>
            <a:schemeClr val="bg2"/>
          </a:solidFill>
          <a:ln/>
        </p:spPr>
      </p:sp>
      <p:sp>
        <p:nvSpPr>
          <p:cNvPr id="18" name="lesson-n-3"/>
          <p:cNvSpPr txBox="1"/>
          <p:nvPr/>
        </p:nvSpPr>
        <p:spPr>
          <a:xfrm>
            <a:off x="7909560" y="5102352"/>
            <a:ext cx="548640" cy="365760"/>
          </a:xfrm>
          <a:prstGeom prst="rect">
            <a:avLst/>
          </a:prstGeom>
          <a:noFill/>
          <a:ln/>
        </p:spPr>
        <p:txBody>
          <a:bodyPr wrap="square" lIns="0" tIns="0" rIns="0" bIns="0" rtlCol="0" anchor="t"/>
          <a:lstStyle/>
          <a:p>
            <a:pPr indent="0" marL="0">
              <a:buNone/>
            </a:pPr>
            <a:r>
              <a:rPr lang="en-US" sz="1800" b="1" dirty="0">
                <a:solidFill>
                  <a:schemeClr val="accent1"/>
                </a:solidFill>
              </a:rPr>
              <a:t>04</a:t>
            </a:r>
            <a:endParaRPr lang="en-US" sz="1800" dirty="0"/>
          </a:p>
        </p:txBody>
      </p:sp>
      <p:sp>
        <p:nvSpPr>
          <p:cNvPr id="19" name="lesson-h-3"/>
          <p:cNvSpPr txBox="1"/>
          <p:nvPr/>
        </p:nvSpPr>
        <p:spPr>
          <a:xfrm>
            <a:off x="8458200" y="5074920"/>
            <a:ext cx="3063240" cy="347472"/>
          </a:xfrm>
          <a:prstGeom prst="rect">
            <a:avLst/>
          </a:prstGeom>
          <a:noFill/>
          <a:ln/>
        </p:spPr>
        <p:txBody>
          <a:bodyPr wrap="square" lIns="0" tIns="0" rIns="0" bIns="0" rtlCol="0" anchor="t"/>
          <a:lstStyle/>
          <a:p>
            <a:pPr indent="0" marL="0">
              <a:buNone/>
            </a:pPr>
            <a:r>
              <a:rPr lang="en-US" sz="1500" b="1" dirty="0">
                <a:solidFill>
                  <a:schemeClr val="tx1"/>
                </a:solidFill>
              </a:rPr>
              <a:t>점수 ≠ 현장 성능</a:t>
            </a:r>
            <a:endParaRPr lang="en-US" sz="1500" dirty="0"/>
          </a:p>
        </p:txBody>
      </p:sp>
      <p:sp>
        <p:nvSpPr>
          <p:cNvPr id="20" name="lesson-d-3"/>
          <p:cNvSpPr txBox="1"/>
          <p:nvPr/>
        </p:nvSpPr>
        <p:spPr>
          <a:xfrm>
            <a:off x="8458200" y="5468112"/>
            <a:ext cx="3063240" cy="365760"/>
          </a:xfrm>
          <a:prstGeom prst="rect">
            <a:avLst/>
          </a:prstGeom>
          <a:noFill/>
          <a:ln/>
        </p:spPr>
        <p:txBody>
          <a:bodyPr wrap="square" lIns="0" tIns="0" rIns="0" bIns="0" rtlCol="0" anchor="t"/>
          <a:lstStyle/>
          <a:p>
            <a:pPr indent="0" marL="0">
              <a:buNone/>
            </a:pPr>
            <a:r>
              <a:rPr lang="en-US" sz="1200" dirty="0">
                <a:solidFill>
                  <a:schemeClr val="tx2"/>
                </a:solidFill>
              </a:rPr>
              <a:t>새 촬영 환경마다 재검증</a:t>
            </a:r>
            <a:endParaRPr lang="en-US" sz="1200" dirty="0"/>
          </a:p>
        </p:txBody>
      </p:sp>
      <p:sp>
        <p:nvSpPr>
          <p:cNvPr id="22"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endParaRPr lang="en-US" sz="15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47472"/>
            <a:ext cx="11094415" cy="685800"/>
          </a:xfrm>
          <a:prstGeom prst="rect">
            <a:avLst/>
          </a:prstGeom>
          <a:noFill/>
          <a:ln/>
        </p:spPr>
        <p:txBody>
          <a:bodyPr wrap="square" lIns="0" tIns="0" rIns="0" bIns="0" rtlCol="0" anchor="ctr"/>
          <a:lstStyle/>
          <a:p>
            <a:pPr algn="l" indent="0" marL="0">
              <a:buNone/>
            </a:pPr>
            <a:r>
              <a:rPr lang="en-US" sz="3200" b="1" dirty="0">
                <a:solidFill>
                  <a:schemeClr val="tx1"/>
                </a:solidFill>
              </a:rPr>
              <a:t>데모</a:t>
            </a:r>
            <a:endParaRPr lang="en-US" sz="3200" dirty="0"/>
          </a:p>
        </p:txBody>
      </p:sp>
      <p:sp>
        <p:nvSpPr>
          <p:cNvPr id="3" name="Text 0"/>
          <p:cNvSpPr/>
          <p:nvPr>
            <p:ph idx="101" type="body" hasCustomPrompt="1"/>
          </p:nvPr>
        </p:nvSpPr>
        <p:spPr>
          <a:xfrm>
            <a:off x="548640" y="1005840"/>
            <a:ext cx="11094415" cy="411480"/>
          </a:xfrm>
          <a:prstGeom prst="rect">
            <a:avLst/>
          </a:prstGeom>
          <a:noFill/>
          <a:ln/>
        </p:spPr>
        <p:txBody>
          <a:bodyPr wrap="square" lIns="0" tIns="0" rIns="0" bIns="0" rtlCol="0" anchor="ctr"/>
          <a:lstStyle/>
          <a:p>
            <a:pPr algn="l" indent="0" marL="0">
              <a:buNone/>
            </a:pPr>
            <a:r>
              <a:rPr lang="en-US" sz="1500" dirty="0">
                <a:solidFill>
                  <a:schemeClr val="tx2"/>
                </a:solidFill>
              </a:rPr>
              <a:t>가상 검사 라인 · 실제 모델(ATSS)로 판정</a:t>
            </a:r>
            <a:endParaRPr lang="en-US" sz="1500" dirty="0"/>
          </a:p>
        </p:txBody>
      </p:sp>
      <p:pic>
        <p:nvPicPr>
          <p:cNvPr id="4" name="dashboard" descr="C:\Users\user\_se4nchoi\batteryvision\docs\submission\build\img\dashboard.jpg">    </p:cNvPr>
          <p:cNvPicPr>
            <a:picLocks noChangeAspect="1"/>
          </p:cNvPicPr>
          <p:nvPr/>
        </p:nvPicPr>
        <p:blipFill>
          <a:blip r:embed="rId1"/>
          <a:stretch>
            <a:fillRect/>
          </a:stretch>
        </p:blipFill>
        <p:spPr>
          <a:xfrm>
            <a:off x="548640" y="1645920"/>
            <a:ext cx="7680960" cy="3816301"/>
          </a:xfrm>
          <a:prstGeom prst="rect">
            <a:avLst/>
          </a:prstGeom>
        </p:spPr>
      </p:pic>
      <p:sp>
        <p:nvSpPr>
          <p:cNvPr id="5" name="demo-card"/>
          <p:cNvSpPr/>
          <p:nvPr/>
        </p:nvSpPr>
        <p:spPr>
          <a:xfrm>
            <a:off x="8458200" y="1645920"/>
            <a:ext cx="3182112" cy="3816301"/>
          </a:xfrm>
          <a:prstGeom prst="roundRect">
            <a:avLst>
              <a:gd name="adj" fmla="val 2299"/>
            </a:avLst>
          </a:prstGeom>
          <a:solidFill>
            <a:schemeClr val="bg2"/>
          </a:solidFill>
          <a:ln/>
        </p:spPr>
      </p:sp>
      <p:sp>
        <p:nvSpPr>
          <p:cNvPr id="6" name="demo-b"/>
          <p:cNvSpPr txBox="1"/>
          <p:nvPr/>
        </p:nvSpPr>
        <p:spPr>
          <a:xfrm>
            <a:off x="8686800" y="1874520"/>
            <a:ext cx="2788920" cy="3383280"/>
          </a:xfrm>
          <a:prstGeom prst="rect">
            <a:avLst/>
          </a:prstGeom>
          <a:noFill/>
          <a:ln/>
        </p:spPr>
        <p:txBody>
          <a:bodyPr wrap="square" lIns="0" tIns="0" rIns="0" bIns="0" rtlCol="0" anchor="t"/>
          <a:lstStyle/>
          <a:p>
            <a:pPr marL="342900" indent="-342900">
              <a:spcAft>
                <a:spcPts val="1000"/>
              </a:spcAft>
              <a:buSzPct val="100000"/>
              <a:buChar char="•"/>
            </a:pPr>
            <a:r>
              <a:rPr lang="en-US" sz="1400" dirty="0">
                <a:solidFill>
                  <a:schemeClr val="tx1"/>
                </a:solidFill>
              </a:rPr>
              <a:t>카메라 → 모델 → PASS · REVIEW · REJECT 분류</a:t>
            </a:r>
            <a:endParaRPr lang="en-US" sz="1400" dirty="0"/>
          </a:p>
          <a:p>
            <a:pPr marL="342900" indent="-342900">
              <a:spcAft>
                <a:spcPts val="1000"/>
              </a:spcAft>
              <a:buSzPct val="100000"/>
              <a:buChar char="•"/>
            </a:pPr>
            <a:r>
              <a:rPr lang="en-US" sz="1400" dirty="0">
                <a:solidFill>
                  <a:schemeClr val="tx1"/>
                </a:solidFill>
              </a:rPr>
              <a:t>결함 위치 heatmap과 모델 해시를 기록</a:t>
            </a:r>
            <a:endParaRPr lang="en-US" sz="1400" dirty="0"/>
          </a:p>
          <a:p>
            <a:pPr marL="342900" indent="-342900">
              <a:spcAft>
                <a:spcPts val="1000"/>
              </a:spcAft>
              <a:buSzPct val="100000"/>
              <a:buChar char="•"/>
            </a:pPr>
            <a:r>
              <a:rPr lang="en-US" sz="1400" dirty="0">
                <a:solidFill>
                  <a:schemeClr val="tx1"/>
                </a:solidFill>
              </a:rPr>
              <a:t>로트별 결함 추적 (Batches)</a:t>
            </a:r>
            <a:endParaRPr lang="en-US" sz="1400" dirty="0"/>
          </a:p>
          <a:p>
            <a:pPr marL="342900" indent="-342900">
              <a:spcAft>
                <a:spcPts val="1000"/>
              </a:spcAft>
              <a:buSzPct val="100000"/>
              <a:buChar char="•"/>
            </a:pPr>
            <a:r>
              <a:rPr lang="en-US" sz="1400" dirty="0">
                <a:solidFill>
                  <a:schemeClr val="tx2"/>
                </a:solidFill>
              </a:rPr>
              <a:t>가상 라인이며 실제 장비와 연결되지 않음</a:t>
            </a:r>
            <a:endParaRPr lang="en-US" sz="1400" dirty="0"/>
          </a:p>
        </p:txBody>
      </p:sp>
      <p:sp>
        <p:nvSpPr>
          <p:cNvPr id="25" name="Slide Number Placeholder 0"/>
          <p:cNvSpPr>
            <a:spLocks noGrp="1"/>
          </p:cNvSpPr>
          <p:nvPr>
            <p:ph type="sldNum" sz="quarter" idx="4294967295"/>
          </p:nvPr>
        </p:nvSpPr>
        <p:spPr>
          <a:xfrm>
            <a:off x="11094415" y="6419088"/>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algn="r"/>
            <a:fld id="{F7021451-1387-4CA6-816F-3879F97B5CBC}" type="slidenum">
              <a:rPr b="0" lang="en-US"/>
              <a:t>10</a:t>
            </a:fld>
            <a:endParaRPr lang="en-US"/>
          </a:p>
        </p:txBody>
      </p:sp>
    </p:spTree>
  </p:cSld>
  <p:clrMapOvr>
    <a:masterClrMapping/>
  </p:clrMapOvr>
</p:sld>
</file>

<file path=ppt/theme/theme1.xml><?xml version="1.0" encoding="utf-8"?>
<a:theme xmlns:a="http://schemas.openxmlformats.org/drawingml/2006/main" name="BatteryVision Dark">
  <a:themeElements>
    <a:clrScheme name="BatteryVision Dark">
      <a:dk1>
        <a:srgbClr val="EEF1F5"/>
      </a:dk1>
      <a:lt1>
        <a:srgbClr val="16191E"/>
      </a:lt1>
      <a:dk2>
        <a:srgbClr val="9AA4B2"/>
      </a:dk2>
      <a:lt2>
        <a:srgbClr val="23272F"/>
      </a:lt2>
      <a:accent1>
        <a:srgbClr val="4FD1C5"/>
      </a:accent1>
      <a:accent2>
        <a:srgbClr val="E5534B"/>
      </a:accent2>
      <a:accent3>
        <a:srgbClr val="F2B33D"/>
      </a:accent3>
      <a:accent4>
        <a:srgbClr val="3B8BEB"/>
      </a:accent4>
      <a:accent5>
        <a:srgbClr val="EB6834"/>
      </a:accent5>
      <a:accent6>
        <a:srgbClr val="1BAF7A"/>
      </a:accent6>
      <a:hlink>
        <a:srgbClr val="4FD1C5"/>
      </a:hlink>
      <a:folHlink>
        <a:srgbClr val="9AA4B2"/>
      </a:folHlink>
    </a:clrScheme>
    <a:fontScheme name="BatteryVision Dark">
      <a:majorFont>
        <a:latin typeface="Malgun Goth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배터리 표면 식별 Vision AI</dc:title>
  <dc:subject>PptxGenJS Presentation</dc:subject>
  <dc:creator>PptxGenJS</dc:creator>
  <cp:lastModifiedBy>PptxGenJS</cp:lastModifiedBy>
  <cp:revision>1</cp:revision>
  <dcterms:created xsi:type="dcterms:W3CDTF">2026-10-21T01:07:36Z</dcterms:created>
  <dcterms:modified xsi:type="dcterms:W3CDTF">2026-10-21T01:07:36Z</dcterms:modified>
</cp:coreProperties>
</file>