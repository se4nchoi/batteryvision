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05a3184a-83d5-6ee7-5b5a-75d762406ad0}">
          <p14:sldIdLst>
            <p14:sldId id="256"/>
            <p14:sldId id="257"/>
          </p14:sldIdLst>
        </p14:section>
        <p14:section name="실험" id="{c75d7b2c-b3ca-e551-0f3d-20a1422e5b5a}">
          <p14:sldIdLst>
            <p14:sldId id="258"/>
            <p14:sldId id="259"/>
            <p14:sldId id="260"/>
            <p14:sldId id="261"/>
            <p14:sldId id="262"/>
            <p14:sldId id="263"/>
          </p14:sldIdLst>
        </p14:section>
        <p14:section name="최적화" id="{4418b4e2-95b9-bc88-21c9-31e48a91f65e}">
          <p14:sldIdLst>
            <p14:sldId id="264"/>
          </p14:sldIdLst>
        </p14:section>
        <p14:section name="검증" id="{88b3e689-2d9b-2601-c4e9-a25e890eec97}">
          <p14:sldIdLst>
            <p14:sldId id="265"/>
            <p14:sldId id="266"/>
          </p14:sldIdLst>
        </p14:section>
        <p14:section name="정리" id="{6f429778-5dd0-498f-1482-c2bb7826bedf}">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EF1F5"/>
                </a:solidFill>
                <a:latin typeface="+mn-lt"/>
              </a:defRPr>
            </a:pPr>
            <a:r>
              <a:rPr sz="1400" b="0" i="0" u="none" strike="noStrike">
                <a:solidFill>
                  <a:srgbClr val="EEF1F5"/>
                </a:solidFill>
                <a:latin typeface="+mn-lt"/>
              </a:rPr>
              <a:t>AP@50 (1차 테스트)</a:t>
            </a:r>
          </a:p>
        </c:rich>
      </c:tx>
      <c:layout/>
      <c:overlay val="0"/>
    </c:title>
    <c:autoTitleDeleted val="0"/>
    <c:plotArea>
      <c:layout/>
      <c:barChart>
        <c:barDir val="col"/>
        <c:grouping val="clustered"/>
        <c:varyColors val="0"/>
        <c:ser>
          <c:idx val="0"/>
          <c:order val="0"/>
          <c:tx>
            <c:strRef>
              <c:f>Sheet1!$B$1</c:f>
              <c:strCache>
                <c:ptCount val="1"/>
                <c:pt idx="0">
                  <c:v>crack</c:v>
                </c:pt>
              </c:strCache>
            </c:strRef>
          </c:tx>
          <c:spPr>
            <a:solidFill>
              <a:srgbClr val="E5534B"/>
            </a:solidFill>
            <a:effectLst/>
          </c:spPr>
          <c:invertIfNegative val="0"/>
          <c:dLbls>
            <c:numFmt formatCode="0.00" sourceLinked="0"/>
            <c:txPr>
              <a:bodyPr/>
              <a:lstStyle/>
              <a:p>
                <a:pPr>
                  <a:defRPr b="0" i="0" strike="noStrike" sz="1100" u="none">
                    <a:solidFill>
                      <a:srgbClr val="EEF1F5"/>
                    </a:solidFill>
                    <a:latin typeface="+mn-lt"/>
                  </a:defRPr>
                </a:pPr>
              </a:p>
            </c:txPr>
            <c:showLegendKey val="0"/>
            <c:showVal val="1"/>
            <c:showCatName val="0"/>
            <c:showSerName val="0"/>
            <c:showPercent val="0"/>
            <c:showBubbleSize val="0"/>
            <c:showLeaderLines val="0"/>
          </c:dLbls>
          <c:cat>
            <c:multiLvlStrRef>
              <c:f>Sheet1!$A$2:$A$4</c:f>
              <c:multiLvlStrCache>
                <c:ptCount val="3"/>
                <c:lvl>
                  <c:pt idx="0">
                    <c:v>ATSS</c:v>
                  </c:pt>
                  <c:pt idx="1">
                    <c:v>YOLOX-S</c:v>
                  </c:pt>
                  <c:pt idx="2">
                    <c:v>YOLOX-Tiny</c:v>
                  </c:pt>
                </c:lvl>
              </c:multiLvlStrCache>
            </c:multiLvlStrRef>
          </c:cat>
          <c:val>
            <c:numRef>
              <c:f>Sheet1!$B$2:$B$4</c:f>
              <c:numCache>
                <c:formatCode>General</c:formatCode>
                <c:ptCount val="3"/>
                <c:pt idx="0">
                  <c:v>1</c:v>
                </c:pt>
                <c:pt idx="1">
                  <c:v>1</c:v>
                </c:pt>
                <c:pt idx="2">
                  <c:v>1</c:v>
                </c:pt>
              </c:numCache>
            </c:numRef>
          </c:val>
        </c:ser>
        <c:ser>
          <c:idx val="1"/>
          <c:order val="1"/>
          <c:tx>
            <c:strRef>
              <c:f>Sheet1!$C$1</c:f>
              <c:strCache>
                <c:ptCount val="1"/>
                <c:pt idx="0">
                  <c:v>scratch</c:v>
                </c:pt>
              </c:strCache>
            </c:strRef>
          </c:tx>
          <c:spPr>
            <a:solidFill>
              <a:srgbClr val="F2B33D"/>
            </a:solidFill>
            <a:effectLst/>
          </c:spPr>
          <c:invertIfNegative val="0"/>
          <c:dLbls>
            <c:numFmt formatCode="0.00" sourceLinked="0"/>
            <c:txPr>
              <a:bodyPr/>
              <a:lstStyle/>
              <a:p>
                <a:pPr>
                  <a:defRPr b="0" i="0" strike="noStrike" sz="1100" u="none">
                    <a:solidFill>
                      <a:srgbClr val="EEF1F5"/>
                    </a:solidFill>
                    <a:latin typeface="+mn-lt"/>
                  </a:defRPr>
                </a:pPr>
              </a:p>
            </c:txPr>
            <c:showLegendKey val="0"/>
            <c:showVal val="1"/>
            <c:showCatName val="0"/>
            <c:showSerName val="0"/>
            <c:showPercent val="0"/>
            <c:showBubbleSize val="0"/>
            <c:showLeaderLines val="0"/>
          </c:dLbls>
          <c:cat>
            <c:multiLvlStrRef>
              <c:f>Sheet1!$A$2:$A$4</c:f>
              <c:multiLvlStrCache>
                <c:ptCount val="3"/>
                <c:lvl>
                  <c:pt idx="0">
                    <c:v>ATSS</c:v>
                  </c:pt>
                  <c:pt idx="1">
                    <c:v>YOLOX-S</c:v>
                  </c:pt>
                  <c:pt idx="2">
                    <c:v>YOLOX-Tiny</c:v>
                  </c:pt>
                </c:lvl>
              </c:multiLvlStrCache>
            </c:multiLvlStrRef>
          </c:cat>
          <c:val>
            <c:numRef>
              <c:f>Sheet1!$C$2:$C$4</c:f>
              <c:numCache>
                <c:formatCode>General</c:formatCode>
                <c:ptCount val="3"/>
                <c:pt idx="0">
                  <c:v>0.858</c:v>
                </c:pt>
                <c:pt idx="1">
                  <c:v>0.784</c:v>
                </c:pt>
                <c:pt idx="2">
                  <c:v>0.664</c:v>
                </c:pt>
              </c:numCache>
            </c:numRef>
          </c:val>
        </c:ser>
        <c:dLbls>
          <c:numFmt formatCode="0.00" sourceLinked="0"/>
          <c:txPr>
            <a:bodyPr/>
            <a:lstStyle/>
            <a:p>
              <a:pPr>
                <a:defRPr b="0" i="0" strike="noStrike" sz="1100" u="none">
                  <a:solidFill>
                    <a:srgbClr val="EEF1F5"/>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EEF1F5"/>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3A3F48"/>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9AA4B2"/>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EEF1F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EF1F5"/>
                </a:solidFill>
                <a:latin typeface="+mn-lt"/>
              </a:defRPr>
            </a:pPr>
            <a:r>
              <a:rPr sz="1400" b="0" i="0" u="none" strike="noStrike">
                <a:solidFill>
                  <a:srgbClr val="EEF1F5"/>
                </a:solidFill>
                <a:latin typeface="+mn-lt"/>
              </a:rPr>
              <a:t>CPU ms / 사진</a:t>
            </a:r>
          </a:p>
        </c:rich>
      </c:tx>
      <c:layout/>
      <c:overlay val="0"/>
    </c:title>
    <c:autoTitleDeleted val="0"/>
    <c:plotArea>
      <c:layout/>
      <c:barChart>
        <c:barDir val="col"/>
        <c:grouping val="clustered"/>
        <c:varyColors val="0"/>
        <c:ser>
          <c:idx val="0"/>
          <c:order val="0"/>
          <c:tx>
            <c:strRef>
              <c:f>Sheet1!$B$1</c:f>
              <c:strCache>
                <c:ptCount val="1"/>
                <c:pt idx="0">
                  <c:v>FP16</c:v>
                </c:pt>
              </c:strCache>
            </c:strRef>
          </c:tx>
          <c:spPr>
            <a:solidFill>
              <a:srgbClr val="6B7480"/>
            </a:solidFill>
            <a:effectLst/>
          </c:spPr>
          <c:invertIfNegative val="0"/>
          <c:dLbls>
            <c:numFmt formatCode="0.0" sourceLinked="0"/>
            <c:txPr>
              <a:bodyPr/>
              <a:lstStyle/>
              <a:p>
                <a:pPr>
                  <a:defRPr b="0" i="0" strike="noStrike" sz="1100" u="none">
                    <a:solidFill>
                      <a:srgbClr val="EEF1F5"/>
                    </a:solidFill>
                    <a:latin typeface="+mn-lt"/>
                  </a:defRPr>
                </a:pPr>
              </a:p>
            </c:txPr>
            <c:showLegendKey val="0"/>
            <c:showVal val="1"/>
            <c:showCatName val="0"/>
            <c:showSerName val="0"/>
            <c:showPercent val="0"/>
            <c:showBubbleSize val="0"/>
            <c:showLeaderLines val="0"/>
          </c:dLbls>
          <c:cat>
            <c:multiLvlStrRef>
              <c:f>Sheet1!$A$2:$A$4</c:f>
              <c:multiLvlStrCache>
                <c:ptCount val="3"/>
                <c:lvl>
                  <c:pt idx="0">
                    <c:v>ATSS</c:v>
                  </c:pt>
                  <c:pt idx="1">
                    <c:v>YOLOX-S</c:v>
                  </c:pt>
                  <c:pt idx="2">
                    <c:v>YOLOX-Tiny</c:v>
                  </c:pt>
                </c:lvl>
              </c:multiLvlStrCache>
            </c:multiLvlStrRef>
          </c:cat>
          <c:val>
            <c:numRef>
              <c:f>Sheet1!$B$2:$B$4</c:f>
              <c:numCache>
                <c:formatCode>General</c:formatCode>
                <c:ptCount val="3"/>
                <c:pt idx="0">
                  <c:v>43.9</c:v>
                </c:pt>
                <c:pt idx="1">
                  <c:v>48.9</c:v>
                </c:pt>
                <c:pt idx="2">
                  <c:v>33.5</c:v>
                </c:pt>
              </c:numCache>
            </c:numRef>
          </c:val>
        </c:ser>
        <c:ser>
          <c:idx val="1"/>
          <c:order val="1"/>
          <c:tx>
            <c:strRef>
              <c:f>Sheet1!$C$1</c:f>
              <c:strCache>
                <c:ptCount val="1"/>
                <c:pt idx="0">
                  <c:v>INT8</c:v>
                </c:pt>
              </c:strCache>
            </c:strRef>
          </c:tx>
          <c:spPr>
            <a:solidFill>
              <a:srgbClr val="4FD1C5"/>
            </a:solidFill>
            <a:effectLst/>
          </c:spPr>
          <c:invertIfNegative val="0"/>
          <c:dLbls>
            <c:numFmt formatCode="0.0" sourceLinked="0"/>
            <c:txPr>
              <a:bodyPr/>
              <a:lstStyle/>
              <a:p>
                <a:pPr>
                  <a:defRPr b="0" i="0" strike="noStrike" sz="1100" u="none">
                    <a:solidFill>
                      <a:srgbClr val="EEF1F5"/>
                    </a:solidFill>
                    <a:latin typeface="+mn-lt"/>
                  </a:defRPr>
                </a:pPr>
              </a:p>
            </c:txPr>
            <c:showLegendKey val="0"/>
            <c:showVal val="1"/>
            <c:showCatName val="0"/>
            <c:showSerName val="0"/>
            <c:showPercent val="0"/>
            <c:showBubbleSize val="0"/>
            <c:showLeaderLines val="0"/>
          </c:dLbls>
          <c:cat>
            <c:multiLvlStrRef>
              <c:f>Sheet1!$A$2:$A$4</c:f>
              <c:multiLvlStrCache>
                <c:ptCount val="3"/>
                <c:lvl>
                  <c:pt idx="0">
                    <c:v>ATSS</c:v>
                  </c:pt>
                  <c:pt idx="1">
                    <c:v>YOLOX-S</c:v>
                  </c:pt>
                  <c:pt idx="2">
                    <c:v>YOLOX-Tiny</c:v>
                  </c:pt>
                </c:lvl>
              </c:multiLvlStrCache>
            </c:multiLvlStrRef>
          </c:cat>
          <c:val>
            <c:numRef>
              <c:f>Sheet1!$C$2:$C$4</c:f>
              <c:numCache>
                <c:formatCode>General</c:formatCode>
                <c:ptCount val="3"/>
                <c:pt idx="0">
                  <c:v>20</c:v>
                </c:pt>
                <c:pt idx="1">
                  <c:v>24.9</c:v>
                </c:pt>
                <c:pt idx="2">
                  <c:v>8.3</c:v>
                </c:pt>
              </c:numCache>
            </c:numRef>
          </c:val>
        </c:ser>
        <c:dLbls>
          <c:numFmt formatCode="0.0" sourceLinked="0"/>
          <c:txPr>
            <a:bodyPr/>
            <a:lstStyle/>
            <a:p>
              <a:pPr>
                <a:defRPr b="0" i="0" strike="noStrike" sz="1100" u="none">
                  <a:solidFill>
                    <a:srgbClr val="EEF1F5"/>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EEF1F5"/>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3A3F48"/>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AA4B2"/>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EEF1F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배터리 셀 표면의 crack과 scratch를 찾는 Vision AI입니다. Intel Geti로 ATSS, YOLOX-S, YOLOX-Tiny 세 모델을 학습해 비교하고, INT8로 경량화했을 때 무엇이 달라지는지 분석했습니다.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crack은 세 모델 모두 AP 1.0이지만, scratch는 0.66에서 0.86입니다. 박스 크기는 640픽셀 사진에서 둘 다 약 44×38픽셀로 같습니다. 차이는 대비입니다. crack은 어둡고 뚜렷하고, scratch는 반사나 나무결과 비슷한 흐릿한 선입니다. 이후 나오는 오류도 대부분 scratch입니다. 실제로 배경을 결함으로 잘못 본 16건 중 13건이 scratch였습니다. 모델이 배경의 결이나 반사를 scratch로 착각한다는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라벨이 이미 달린 Roboflow 공개 데이터셋을 그대로 Geti에 가져왔습니다. 목적은 모델별 성능 차이와 INT8 경량화의 효과를 보는 것입니다. 모델은 ATSS, YOLOX-S, YOLOX-Tiny 세 가지를 각각 기본 FP16, heatmap을 출력하는 FP16 XAI, 그리고 INT8로 내보내 총 9개를 비교했습니다. 한계는 분명합니다. 사진이 전부 초록 매트, 회색, 나무 탁상 위에서 찍은 탁상 사진이고, 셀당 사진은 한 장, 촬영 세션도 반복됩니다.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Geti 화면입니다. 세 모델 모두 같은 2,800장으로 학습했고, Geti 점수는 ATSS 86%, 나머지 81%입니다. 다만 Roboflow가 원본마다 증강 사본 3장을 만들어 두었고 Geti가 이를 무작위로 나눴기 때문에, 같은 원본의 사본이 Geti 학습과 테스트에 함께 들어갔을 가능성이 높아 Geti 점수도 낙관적입니다. 오른쪽은 직접 만든 벤치마크로 잰 값인데 순서가 같습니다. 파라미터가 가장 적은 ATSS가 가장 정확했고, 학습에 안 쓴 2차 세트에서도 ATSS가 YOLOX-S보다 훨씬 많이 잡았습니다. 다만 '작다'는 파라미터 기준이고, 연산량은 Tiny가 가장 적습니다. 왜 ATSS가 이겼는지는 가설 단계입니다. ATSS는 992×800으로 학습해 결함을 1.5배 크게 보고, 데이터가 2,800장으로 적어 작은 모델이 덜 과적합했을 수 있습니다. 모델마다 한 번씩만 학습해서 확정할 수는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결과는 mAP 93%로 좋아 보였습니다. 하지만 데이터를 다시 보니 문제가 있었습니다. Roboflow 데이터셋을 통째로 Geti에 올리면서 테스트 153장도 함께 들어갔고, Geti가 이를 다시 나눠 학습했습니다. 그래서 1차 테스트 사진 중 일부는 모델이 학습 때 본 사진일 수 있습니다. 게다가 22장은 학습 사진과 사실상 같은 사진이었습니다. 직접 만든 데이터셋이 아니라서 놓친 부분입니다. 그래서 1차 점수는 모델끼리 비교하는 데만 쓰고, 처음 보는 사진에서의 성능은 2차 세트로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결론부터 말하면, crack과 scratch를 서로 헷갈린 경우는 한 번도 없고, 오류는 전부 놓친 scratch나 배경 오검출입니다. 특히 나무 탁상 배경에서 재현율이 33%로 가장 약합니다. 나무결이 scratch처럼 가는 선 모양이라 놓치기도 하고 잘못 보기도 합니다. 세 모델 모두 같은 패턴입니다. YOLOX-S는 scratch를 28개, Tiny는 30개 놓쳐서 ATSS보다 더 많이 놓칩니다.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XAI 버전으로 내보낸 모델은 결함 위치를 heatmap으로 함께 출력합니다. 왼쪽은 맞힌 경우로, 결함이 있는 셀 주변에 반응합니다. 가운데는 정상 셀을 scratch로 잘못 본 경우인데, heatmap도 셀 표면에 반응해 왜 그렇게 판단했는지 짐작할 수 있습니다. 오른쪽은 놓친 경우로, 모델이 scratch가 아니라 벨트 쪽을 보고 있습니다. 다만 heatmap은 꽤 흐릿해서, 결함 안에 들어간 비중이 면적 대비 1.5배 정도입니다. 그래서 판단의 근거라기보다는 검사원이 어디를 볼지 알려주는 위치 힌트로 쓰는 게 맞습니다. 모델끼리 heatmap 점수를 비교하는 건 heatmap 격자 크기 차이를 재는 셈이라 비교 지표로는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Geti 점수는 Geti가 직접 나눈 사진으로 매긴 점수라, 모델끼리 같은 조건으로 비교하거나 새 사진으로 다시 재볼 수 없었습니다. 그래서 benchmark.py를 직접 만들었습니다. Geti에서 내보낸 9개 모델을 똑같은 사진, 똑같은 판정 기준으로 돌리고, 정확도, 판정 결과, 기준값별 변화, 사진을 흐리게 하거나 어둡게 했을 때의 견고성, 학습 사진과의 중복, 그리고 CPU와 iGPU에서의 속도까지 한 번에 잽니다. 22장 복사본도 이 중복 검사에서 찾았습니다. 결과는 JSON으로 저장되고 대시보드의 Models 페이지에서 바로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수업에서 다룬 모델 최적화를 직접 써보고 싶어서, Geti에서 INT8 모델을 받아 직접 만든 벤치마크로 측정했습니다. 같은 131장을 한 장씩, 같은 CPU에서, 전처리와 후처리를 포함해 잰 값입니다. INT8은 2배에서 4배 빠르고 크기는 절반 정도이며, mAP는 그대로입니다. 대신 신뢰도 점수가 조금 낮아져 같은 기준에서는 놓치는 결함이 늘어납니다. INT8을 쓰려면 기준값을 다시 정해야 합니다. 빨라지는 이유는 CPU의 8비트 연산 명령을 쓰고 옮길 데이터가 절반이기 때문이고, 놓침이 느는 이유는 양자화로 점수가 조금 내려가 0.30 근처 결함이 기준 아래로 떨어지기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2차 세트는 같은 업로더가 나중에 따로 올린 데이터셋입니다. 결함 종류와 촬영 방식은 비슷하지만 다른 촬영 세션입니다. 1차 데이터셋과 파일명이 같거나 픽셀이 사실상 같은 사진 140장을 먼저 뺐고, 증강되지 않은 45장만 테스트에 썼습니다. 그래서 모델 입장에서는 한 번도 본 적 없는 사진입니다.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업로더가 올린 다른 세트에서, 학습에 한 번도 쓰지 않은 45장으로 제 앱에서 다시 테스트했습니다. 1차 테스트에서 결함 셀을 거의 다 잡던 모델이 ATSS 47%, YOLOX-S 3%까지 떨어집니다. 결함을 착각한 게 아니라 점수가 낮아서 통과시킨 것이고, 정상 셀을 불합격시킨 경우는 없었습니다. 가장 큰 원인은 crack입니다. 2차 세트의 crack은 약 30×26픽셀로 1차의 절반 면적이고, ATSS는 15개 중 1개만 잡았습니다. 학습 때 본 크기의 crack만 쉬웠던 겁니다. 기준값을 바꿔 보면, ATSS는 0.15까지 낮추면 결함 97%를 잡지만 정상 셀도 87%가 걸립니다. YOLOX-S는 다릅니다. 2차 세트 mAP@50이 0.93으로 결함을 정상보다 높게 순위 매기는 건 정확한데, 점수 자체가 낮습니다. YOLOX 점수는 물체일 확률과 클래스 확률을 곱한 값이라 원래 낮게 나오고, 처음 보는 사진에서는 더 낮아집니다. 0.05로 낮추면 정상 오검출 없이 57%를 잡습니다. 즉 기준값은 모델마다 따로 정해야 하고, 그래도 부족하기 때문에 새 환경 사진으로 재학습이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본 결과들의 원인을 한 장에 모았습니다. 오른쪽 근거 칸은 얼마나 확실한지입니다. 확인은 데이터로 직접 확인한 것, 추정은 데이터와 맞지만 따로 검증하지 않은 것, 가설은 아직 검증하지 못한 것입니다. 가장 확실한 원인은 세 가지입니다. scratch는 반사나 나무결과 비슷한 가는 선이라 어렵고, 93%는 테스트 사진까지 학습에 들어가 부풀려진 수치이고, 2차 세트에서 떨어진 건 crack이 절반 크기로 작아졌기 때문입니다. ATSS가 왜 가장 좋은지는 추정 단계입니다. 32픽셀 미만의 작은 결함에서 격차가 가장 커서 입력 해상도 차이와 맞지만, 다시 학습해서 확인하지는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다음에 다르게 할 것 네 가지입니다. 테스트셋은 업로드 전에 따로 빼고, 새 환경에서는 그 환경 사진으로 다시 검증하고, 판정 기준값은 모델과 정밀도마다 검증셋에서 정하고, 모델은 크기보다 데이터와 결함에 맞는 걸 고르겠습니다.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대시보드에서 실제 모델이 가상 검사 라인을 돌리는 모습을 보여드리겠습니다. (라이브 데모로 전환)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들어주셔서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06040"/>
            <a:ext cx="4389120" cy="164592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548640" y="4343400"/>
            <a:ext cx="4297680" cy="822960"/>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_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06040"/>
            <a:ext cx="4389120" cy="164592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tx2"/>
                </a:solidFill>
              </a:rPr>
              <a:t>BatteryVision · Intel Geti 실습</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rtlCol="0"/>
          <a:lstStyle>
            <a:lvl1pPr algn="l" indent="0" marL="0">
              <a:buNone/>
              <a:defRPr lang="en-US" sz="1500" dirty="0">
                <a:solidFill>
                  <a:schemeClr val="tx2"/>
                </a:solidFill>
              </a:defRPr>
            </a:lvl1pPr>
          </a:lstStyle>
          <a:p>
            <a:pPr algn="l" indent="0" marL="0">
              <a:buNone/>
            </a:pPr>
            <a:endParaRPr lang="en-US" sz="15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tx2"/>
                </a:solidFill>
              </a:rPr>
              <a:t>BatteryVision · Intel Geti 실습</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image" Target="../media/image-2-3.jp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5.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2148840"/>
            <a:ext cx="4206240" cy="320040"/>
          </a:xfrm>
          <a:prstGeom prst="rect">
            <a:avLst/>
          </a:prstGeom>
          <a:noFill/>
          <a:ln/>
        </p:spPr>
        <p:txBody>
          <a:bodyPr wrap="square" lIns="0" tIns="0" rIns="0" bIns="0" rtlCol="0" anchor="t"/>
          <a:lstStyle/>
          <a:p>
            <a:pPr indent="0" marL="0">
              <a:buNone/>
            </a:pPr>
            <a:r>
              <a:rPr lang="en-US" sz="1400" b="1" dirty="0">
                <a:solidFill>
                  <a:schemeClr val="accent1"/>
                </a:solidFill>
              </a:rPr>
              <a:t>Intel Geti · OpenVINO 실습</a:t>
            </a:r>
            <a:endParaRPr lang="en-US" sz="1400" dirty="0"/>
          </a:p>
        </p:txBody>
      </p:sp>
      <p:sp>
        <p:nvSpPr>
          <p:cNvPr id="3" name="Text 0"/>
          <p:cNvSpPr/>
          <p:nvPr>
            <p:ph idx="100" type="title" hasCustomPrompt="1"/>
          </p:nvPr>
        </p:nvSpPr>
        <p:spPr>
          <a:xfrm>
            <a:off x="548640" y="2606040"/>
            <a:ext cx="4389120" cy="1645920"/>
          </a:xfrm>
          <a:prstGeom prst="rect">
            <a:avLst/>
          </a:prstGeom>
          <a:noFill/>
          <a:ln/>
        </p:spPr>
        <p:txBody>
          <a:bodyPr wrap="square" lIns="0" tIns="0" rIns="0" bIns="0" rtlCol="0" anchor="t"/>
          <a:lstStyle/>
          <a:p>
            <a:pPr algn="l" indent="0" marL="0">
              <a:buNone/>
            </a:pPr>
            <a:r>
              <a:rPr lang="en-US" sz="4000" b="1" dirty="0">
                <a:solidFill>
                  <a:schemeClr val="tx1"/>
                </a:solidFill>
              </a:rPr>
              <a:t>배터리 표면 식별</a:t>
            </a:r>
            <a:endParaRPr lang="en-US" sz="4000" dirty="0"/>
          </a:p>
          <a:p>
            <a:pPr algn="l" indent="0" marL="0">
              <a:buNone/>
            </a:pPr>
            <a:r>
              <a:rPr lang="en-US" sz="4000" b="1" dirty="0">
                <a:solidFill>
                  <a:schemeClr val="tx1"/>
                </a:solidFill>
              </a:rPr>
              <a:t>Vision AI</a:t>
            </a:r>
            <a:endParaRPr lang="en-US" sz="4000" dirty="0"/>
          </a:p>
        </p:txBody>
      </p:sp>
      <p:sp>
        <p:nvSpPr>
          <p:cNvPr id="4" name="Text 0"/>
          <p:cNvSpPr/>
          <p:nvPr>
            <p:ph idx="101" type="body" hasCustomPrompt="1"/>
          </p:nvPr>
        </p:nvSpPr>
        <p:spPr>
          <a:xfrm>
            <a:off x="548640" y="4343400"/>
            <a:ext cx="4297680" cy="822960"/>
          </a:xfrm>
          <a:prstGeom prst="rect">
            <a:avLst/>
          </a:prstGeom>
          <a:noFill/>
          <a:ln/>
        </p:spPr>
        <p:txBody>
          <a:bodyPr wrap="square" lIns="0" tIns="0" rIns="0" bIns="0" rtlCol="0" anchor="t"/>
          <a:lstStyle/>
          <a:p>
            <a:pPr algn="l" indent="0" marL="0">
              <a:buNone/>
            </a:pPr>
            <a:r>
              <a:rPr lang="en-US" sz="1600" dirty="0">
                <a:solidFill>
                  <a:schemeClr val="tx2"/>
                </a:solidFill>
              </a:rPr>
              <a:t>ATSS · YOLOX-S · YOLOX-Tiny 모델 비교 및 INT8 경량화 분석</a:t>
            </a:r>
            <a:endParaRPr lang="en-US" sz="1600" dirty="0"/>
          </a:p>
        </p:txBody>
      </p:sp>
      <p:sp>
        <p:nvSpPr>
          <p:cNvPr id="5" name="presenter"/>
          <p:cNvSpPr txBox="1"/>
          <p:nvPr/>
        </p:nvSpPr>
        <p:spPr>
          <a:xfrm>
            <a:off x="548640" y="5349240"/>
            <a:ext cx="4206240" cy="365760"/>
          </a:xfrm>
          <a:prstGeom prst="rect">
            <a:avLst/>
          </a:prstGeom>
          <a:noFill/>
          <a:ln/>
        </p:spPr>
        <p:txBody>
          <a:bodyPr wrap="square" lIns="0" tIns="0" rIns="0" bIns="0" rtlCol="0" anchor="t"/>
          <a:lstStyle/>
          <a:p>
            <a:pPr indent="0" marL="0">
              <a:buNone/>
            </a:pPr>
            <a:r>
              <a:rPr lang="en-US" sz="1600" b="1" dirty="0">
                <a:solidFill>
                  <a:schemeClr val="tx1"/>
                </a:solidFill>
              </a:rPr>
              <a:t>최예현</a:t>
            </a:r>
            <a:endParaRPr lang="en-US" sz="1600" dirty="0"/>
          </a:p>
        </p:txBody>
      </p:sp>
      <p:pic>
        <p:nvPicPr>
          <p:cNvPr id="6" name="cover-crack" descr="C:\Users\user\_se4nchoi\batteryvision\docs\submission\build\img\cover_crack.jpg">    </p:cNvPr>
          <p:cNvPicPr>
            <a:picLocks noChangeAspect="1"/>
          </p:cNvPicPr>
          <p:nvPr/>
        </p:nvPicPr>
        <p:blipFill>
          <a:blip r:embed="rId1"/>
          <a:stretch>
            <a:fillRect/>
          </a:stretch>
        </p:blipFill>
        <p:spPr>
          <a:xfrm>
            <a:off x="5074920" y="2377440"/>
            <a:ext cx="2103120" cy="2103120"/>
          </a:xfrm>
          <a:prstGeom prst="rect">
            <a:avLst/>
          </a:prstGeom>
        </p:spPr>
      </p:pic>
      <p:sp>
        <p:nvSpPr>
          <p:cNvPr id="7" name="cover-dot-crack"/>
          <p:cNvSpPr/>
          <p:nvPr/>
        </p:nvSpPr>
        <p:spPr>
          <a:xfrm>
            <a:off x="5074920" y="4663440"/>
            <a:ext cx="146304" cy="146304"/>
          </a:xfrm>
          <a:prstGeom prst="ellipse">
            <a:avLst/>
          </a:prstGeom>
          <a:solidFill>
            <a:schemeClr val="accent2"/>
          </a:solidFill>
          <a:ln/>
        </p:spPr>
      </p:sp>
      <p:sp>
        <p:nvSpPr>
          <p:cNvPr id="8" name="cover-label-crack"/>
          <p:cNvSpPr txBox="1"/>
          <p:nvPr/>
        </p:nvSpPr>
        <p:spPr>
          <a:xfrm>
            <a:off x="5312664" y="4590288"/>
            <a:ext cx="1828800" cy="292608"/>
          </a:xfrm>
          <a:prstGeom prst="rect">
            <a:avLst/>
          </a:prstGeom>
          <a:noFill/>
          <a:ln/>
        </p:spPr>
        <p:txBody>
          <a:bodyPr wrap="square" lIns="0" tIns="0" rIns="0" bIns="0" rtlCol="0" anchor="t"/>
          <a:lstStyle/>
          <a:p>
            <a:pPr indent="0" marL="0">
              <a:buNone/>
            </a:pPr>
            <a:r>
              <a:rPr lang="en-US" sz="1400" b="1" dirty="0">
                <a:solidFill>
                  <a:schemeClr val="tx1"/>
                </a:solidFill>
              </a:rPr>
              <a:t>crack</a:t>
            </a:r>
            <a:endParaRPr lang="en-US" sz="1400" dirty="0"/>
          </a:p>
        </p:txBody>
      </p:sp>
      <p:pic>
        <p:nvPicPr>
          <p:cNvPr id="9" name="cover-scratch" descr="C:\Users\user\_se4nchoi\batteryvision\docs\submission\build\img\cover_scratch.jpg">    </p:cNvPr>
          <p:cNvPicPr>
            <a:picLocks noChangeAspect="1"/>
          </p:cNvPicPr>
          <p:nvPr/>
        </p:nvPicPr>
        <p:blipFill>
          <a:blip r:embed="rId2"/>
          <a:stretch>
            <a:fillRect/>
          </a:stretch>
        </p:blipFill>
        <p:spPr>
          <a:xfrm>
            <a:off x="7360920" y="2377440"/>
            <a:ext cx="2103120" cy="2103120"/>
          </a:xfrm>
          <a:prstGeom prst="rect">
            <a:avLst/>
          </a:prstGeom>
        </p:spPr>
      </p:pic>
      <p:sp>
        <p:nvSpPr>
          <p:cNvPr id="10" name="cover-dot-scratch"/>
          <p:cNvSpPr/>
          <p:nvPr/>
        </p:nvSpPr>
        <p:spPr>
          <a:xfrm>
            <a:off x="7360920" y="4663440"/>
            <a:ext cx="146304" cy="146304"/>
          </a:xfrm>
          <a:prstGeom prst="ellipse">
            <a:avLst/>
          </a:prstGeom>
          <a:solidFill>
            <a:schemeClr val="accent3"/>
          </a:solidFill>
          <a:ln/>
        </p:spPr>
      </p:sp>
      <p:sp>
        <p:nvSpPr>
          <p:cNvPr id="11" name="cover-label-scratch"/>
          <p:cNvSpPr txBox="1"/>
          <p:nvPr/>
        </p:nvSpPr>
        <p:spPr>
          <a:xfrm>
            <a:off x="7598664" y="4590288"/>
            <a:ext cx="1828800" cy="292608"/>
          </a:xfrm>
          <a:prstGeom prst="rect">
            <a:avLst/>
          </a:prstGeom>
          <a:noFill/>
          <a:ln/>
        </p:spPr>
        <p:txBody>
          <a:bodyPr wrap="square" lIns="0" tIns="0" rIns="0" bIns="0" rtlCol="0" anchor="t"/>
          <a:lstStyle/>
          <a:p>
            <a:pPr indent="0" marL="0">
              <a:buNone/>
            </a:pPr>
            <a:r>
              <a:rPr lang="en-US" sz="1400" b="1" dirty="0">
                <a:solidFill>
                  <a:schemeClr val="tx1"/>
                </a:solidFill>
              </a:rPr>
              <a:t>scratch</a:t>
            </a:r>
            <a:endParaRPr lang="en-US" sz="1400" dirty="0"/>
          </a:p>
        </p:txBody>
      </p:sp>
      <p:pic>
        <p:nvPicPr>
          <p:cNvPr id="12" name="cover-정상" descr="C:\Users\user\_se4nchoi\batteryvision\docs\submission\build\img\cover_good.jpg">    </p:cNvPr>
          <p:cNvPicPr>
            <a:picLocks noChangeAspect="1"/>
          </p:cNvPicPr>
          <p:nvPr/>
        </p:nvPicPr>
        <p:blipFill>
          <a:blip r:embed="rId3"/>
          <a:stretch>
            <a:fillRect/>
          </a:stretch>
        </p:blipFill>
        <p:spPr>
          <a:xfrm>
            <a:off x="9646920" y="2377440"/>
            <a:ext cx="2103120" cy="2103120"/>
          </a:xfrm>
          <a:prstGeom prst="rect">
            <a:avLst/>
          </a:prstGeom>
        </p:spPr>
      </p:pic>
      <p:sp>
        <p:nvSpPr>
          <p:cNvPr id="13" name="cover-dot-정상"/>
          <p:cNvSpPr/>
          <p:nvPr/>
        </p:nvSpPr>
        <p:spPr>
          <a:xfrm>
            <a:off x="9646920" y="4663440"/>
            <a:ext cx="146304" cy="146304"/>
          </a:xfrm>
          <a:prstGeom prst="ellipse">
            <a:avLst/>
          </a:prstGeom>
          <a:solidFill>
            <a:schemeClr val="accent6"/>
          </a:solidFill>
          <a:ln/>
        </p:spPr>
      </p:sp>
      <p:sp>
        <p:nvSpPr>
          <p:cNvPr id="14" name="cover-label-정상"/>
          <p:cNvSpPr txBox="1"/>
          <p:nvPr/>
        </p:nvSpPr>
        <p:spPr>
          <a:xfrm>
            <a:off x="9884664" y="4590288"/>
            <a:ext cx="1828800" cy="292608"/>
          </a:xfrm>
          <a:prstGeom prst="rect">
            <a:avLst/>
          </a:prstGeom>
          <a:noFill/>
          <a:ln/>
        </p:spPr>
        <p:txBody>
          <a:bodyPr wrap="square" lIns="0" tIns="0" rIns="0" bIns="0" rtlCol="0" anchor="t"/>
          <a:lstStyle/>
          <a:p>
            <a:pPr indent="0" marL="0">
              <a:buNone/>
            </a:pPr>
            <a:r>
              <a:rPr lang="en-US" sz="1400" b="1" dirty="0">
                <a:solidFill>
                  <a:schemeClr val="tx1"/>
                </a:solidFill>
              </a:rPr>
              <a:t>정상</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meme-backdrop" descr="C:\Users\user\_se4nchoi\batteryvision\docs\submission\build\img\meme_bg.png">    </p:cNvPr>
          <p:cNvPicPr>
            <a:picLocks noChangeAspect="1"/>
          </p:cNvPicPr>
          <p:nvPr/>
        </p:nvPicPr>
        <p:blipFill>
          <a:blip r:embed="rId1"/>
          <a:stretch>
            <a:fillRect/>
          </a:stretch>
        </p:blipFill>
        <p:spPr>
          <a:xfrm>
            <a:off x="5989320" y="0"/>
            <a:ext cx="1600200" cy="1600200"/>
          </a:xfrm>
          <a:prstGeom prst="rect">
            <a:avLst/>
          </a:prstGeom>
        </p:spPr>
      </p:pic>
      <p:sp>
        <p:nvSpPr>
          <p:cNvPr id="3"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crack은 쉽고, scratch는 어려워</a:t>
            </a:r>
            <a:endParaRPr lang="en-US" sz="3200" dirty="0"/>
          </a:p>
        </p:txBody>
      </p:sp>
      <p:sp>
        <p:nvSpPr>
          <p:cNvPr id="4" name="meme-credit"/>
          <p:cNvSpPr txBox="1"/>
          <p:nvPr/>
        </p:nvSpPr>
        <p:spPr>
          <a:xfrm>
            <a:off x="3291840" y="6419088"/>
            <a:ext cx="3657600" cy="274320"/>
          </a:xfrm>
          <a:prstGeom prst="rect">
            <a:avLst/>
          </a:prstGeom>
          <a:noFill/>
          <a:ln/>
        </p:spPr>
        <p:txBody>
          <a:bodyPr wrap="square" lIns="0" tIns="0" rIns="0" bIns="0" rtlCol="0" anchor="ctr"/>
          <a:lstStyle/>
          <a:p>
            <a:pPr indent="0" marL="0">
              <a:buNone/>
            </a:pPr>
            <a:r>
              <a:rPr lang="en-US" sz="900" dirty="0">
                <a:solidFill>
                  <a:schemeClr val="tx2"/>
                </a:solidFill>
              </a:rPr>
              <a:t>배경 이미지: Mnet 방송 화면</a:t>
            </a:r>
            <a:endParaRPr lang="en-US" sz="900" dirty="0"/>
          </a:p>
        </p:txBody>
      </p:sp>
      <p:pic>
        <p:nvPicPr>
          <p:cNvPr id="5" name="zoom-crack" descr="C:\Users\user\_se4nchoi\batteryvision\docs\submission\build\img\zoom_crack.jpg">    </p:cNvPr>
          <p:cNvPicPr>
            <a:picLocks noChangeAspect="1"/>
          </p:cNvPicPr>
          <p:nvPr/>
        </p:nvPicPr>
        <p:blipFill>
          <a:blip r:embed="rId2"/>
          <a:stretch>
            <a:fillRect/>
          </a:stretch>
        </p:blipFill>
        <p:spPr>
          <a:xfrm>
            <a:off x="548640" y="1554480"/>
            <a:ext cx="3108960" cy="3108960"/>
          </a:xfrm>
          <a:prstGeom prst="rect">
            <a:avLst/>
          </a:prstGeom>
        </p:spPr>
      </p:pic>
      <p:sp>
        <p:nvSpPr>
          <p:cNvPr id="6" name="zoom-chip-crack-bg"/>
          <p:cNvSpPr/>
          <p:nvPr/>
        </p:nvSpPr>
        <p:spPr>
          <a:xfrm>
            <a:off x="548640" y="4800600"/>
            <a:ext cx="1005840" cy="347472"/>
          </a:xfrm>
          <a:prstGeom prst="roundRect">
            <a:avLst>
              <a:gd name="adj" fmla="val 13158"/>
            </a:avLst>
          </a:prstGeom>
          <a:solidFill>
            <a:schemeClr val="accent2">
              <a:alpha val="20000"/>
            </a:schemeClr>
          </a:solidFill>
          <a:ln w="12700">
            <a:solidFill>
              <a:schemeClr val="accent2"/>
            </a:solidFill>
            <a:prstDash val="solid"/>
          </a:ln>
        </p:spPr>
      </p:sp>
      <p:sp>
        <p:nvSpPr>
          <p:cNvPr id="7" name="zoom-chip-crack"/>
          <p:cNvSpPr txBox="1"/>
          <p:nvPr/>
        </p:nvSpPr>
        <p:spPr>
          <a:xfrm>
            <a:off x="548640" y="4800600"/>
            <a:ext cx="1005840" cy="347472"/>
          </a:xfrm>
          <a:prstGeom prst="rect">
            <a:avLst/>
          </a:prstGeom>
          <a:noFill/>
          <a:ln/>
        </p:spPr>
        <p:txBody>
          <a:bodyPr wrap="square" lIns="0" tIns="0" rIns="0" bIns="0" rtlCol="0" anchor="ctr"/>
          <a:lstStyle/>
          <a:p>
            <a:pPr algn="ctr" indent="0" marL="0">
              <a:buNone/>
            </a:pPr>
            <a:r>
              <a:rPr lang="en-US" sz="1300" b="1" dirty="0">
                <a:solidFill>
                  <a:schemeClr val="accent2"/>
                </a:solidFill>
              </a:rPr>
              <a:t>crack</a:t>
            </a:r>
            <a:endParaRPr lang="en-US" sz="1300" dirty="0"/>
          </a:p>
        </p:txBody>
      </p:sp>
      <p:sp>
        <p:nvSpPr>
          <p:cNvPr id="8" name="zoom-cap-crack"/>
          <p:cNvSpPr txBox="1"/>
          <p:nvPr/>
        </p:nvSpPr>
        <p:spPr>
          <a:xfrm>
            <a:off x="1691640" y="4800600"/>
            <a:ext cx="1828800" cy="347472"/>
          </a:xfrm>
          <a:prstGeom prst="rect">
            <a:avLst/>
          </a:prstGeom>
          <a:noFill/>
          <a:ln/>
        </p:spPr>
        <p:txBody>
          <a:bodyPr wrap="square" lIns="0" tIns="0" rIns="0" bIns="0" rtlCol="0" anchor="ctr"/>
          <a:lstStyle/>
          <a:p>
            <a:pPr indent="0" marL="0">
              <a:buNone/>
            </a:pPr>
            <a:r>
              <a:rPr lang="en-US" sz="1400" dirty="0">
                <a:solidFill>
                  <a:schemeClr val="tx2"/>
                </a:solidFill>
              </a:rPr>
              <a:t>뚜렷함</a:t>
            </a:r>
            <a:endParaRPr lang="en-US" sz="1400" dirty="0"/>
          </a:p>
        </p:txBody>
      </p:sp>
      <p:pic>
        <p:nvPicPr>
          <p:cNvPr id="9" name="zoom-scratch" descr="C:\Users\user\_se4nchoi\batteryvision\docs\submission\build\img\zoom_scratch.jpg">    </p:cNvPr>
          <p:cNvPicPr>
            <a:picLocks noChangeAspect="1"/>
          </p:cNvPicPr>
          <p:nvPr/>
        </p:nvPicPr>
        <p:blipFill>
          <a:blip r:embed="rId3"/>
          <a:stretch>
            <a:fillRect/>
          </a:stretch>
        </p:blipFill>
        <p:spPr>
          <a:xfrm>
            <a:off x="3794760" y="1554480"/>
            <a:ext cx="3108960" cy="3108960"/>
          </a:xfrm>
          <a:prstGeom prst="rect">
            <a:avLst/>
          </a:prstGeom>
        </p:spPr>
      </p:pic>
      <p:sp>
        <p:nvSpPr>
          <p:cNvPr id="10" name="zoom-chip-scratch-bg"/>
          <p:cNvSpPr/>
          <p:nvPr/>
        </p:nvSpPr>
        <p:spPr>
          <a:xfrm>
            <a:off x="3794760" y="4800600"/>
            <a:ext cx="1005840" cy="347472"/>
          </a:xfrm>
          <a:prstGeom prst="roundRect">
            <a:avLst>
              <a:gd name="adj" fmla="val 13158"/>
            </a:avLst>
          </a:prstGeom>
          <a:solidFill>
            <a:schemeClr val="accent3">
              <a:alpha val="20000"/>
            </a:schemeClr>
          </a:solidFill>
          <a:ln w="12700">
            <a:solidFill>
              <a:schemeClr val="accent3"/>
            </a:solidFill>
            <a:prstDash val="solid"/>
          </a:ln>
        </p:spPr>
      </p:sp>
      <p:sp>
        <p:nvSpPr>
          <p:cNvPr id="11" name="zoom-chip-scratch"/>
          <p:cNvSpPr txBox="1"/>
          <p:nvPr/>
        </p:nvSpPr>
        <p:spPr>
          <a:xfrm>
            <a:off x="3794760" y="4800600"/>
            <a:ext cx="1005840" cy="347472"/>
          </a:xfrm>
          <a:prstGeom prst="rect">
            <a:avLst/>
          </a:prstGeom>
          <a:noFill/>
          <a:ln/>
        </p:spPr>
        <p:txBody>
          <a:bodyPr wrap="square" lIns="0" tIns="0" rIns="0" bIns="0" rtlCol="0" anchor="ctr"/>
          <a:lstStyle/>
          <a:p>
            <a:pPr algn="ctr" indent="0" marL="0">
              <a:buNone/>
            </a:pPr>
            <a:r>
              <a:rPr lang="en-US" sz="1300" b="1" dirty="0">
                <a:solidFill>
                  <a:schemeClr val="accent3"/>
                </a:solidFill>
              </a:rPr>
              <a:t>scratch</a:t>
            </a:r>
            <a:endParaRPr lang="en-US" sz="1300" dirty="0"/>
          </a:p>
        </p:txBody>
      </p:sp>
      <p:sp>
        <p:nvSpPr>
          <p:cNvPr id="12" name="zoom-cap-scratch"/>
          <p:cNvSpPr txBox="1"/>
          <p:nvPr/>
        </p:nvSpPr>
        <p:spPr>
          <a:xfrm>
            <a:off x="4937760" y="4800600"/>
            <a:ext cx="1828800" cy="347472"/>
          </a:xfrm>
          <a:prstGeom prst="rect">
            <a:avLst/>
          </a:prstGeom>
          <a:noFill/>
          <a:ln/>
        </p:spPr>
        <p:txBody>
          <a:bodyPr wrap="square" lIns="0" tIns="0" rIns="0" bIns="0" rtlCol="0" anchor="ctr"/>
          <a:lstStyle/>
          <a:p>
            <a:pPr indent="0" marL="0">
              <a:buNone/>
            </a:pPr>
            <a:r>
              <a:rPr lang="en-US" sz="1400" dirty="0">
                <a:solidFill>
                  <a:schemeClr val="tx2"/>
                </a:solidFill>
              </a:rPr>
              <a:t>흐릿함</a:t>
            </a:r>
            <a:endParaRPr lang="en-US" sz="1400" dirty="0"/>
          </a:p>
        </p:txBody>
      </p:sp>
      <p:sp>
        <p:nvSpPr>
          <p:cNvPr id="13" name="size-card"/>
          <p:cNvSpPr/>
          <p:nvPr/>
        </p:nvSpPr>
        <p:spPr>
          <a:xfrm>
            <a:off x="548640" y="5486400"/>
            <a:ext cx="6355080" cy="731520"/>
          </a:xfrm>
          <a:prstGeom prst="roundRect">
            <a:avLst>
              <a:gd name="adj" fmla="val 10000"/>
            </a:avLst>
          </a:prstGeom>
          <a:solidFill>
            <a:schemeClr val="bg2"/>
          </a:solidFill>
          <a:ln/>
        </p:spPr>
      </p:sp>
      <p:sp>
        <p:nvSpPr>
          <p:cNvPr id="14" name="size-line"/>
          <p:cNvSpPr txBox="1"/>
          <p:nvPr/>
        </p:nvSpPr>
        <p:spPr>
          <a:xfrm>
            <a:off x="822960" y="5486400"/>
            <a:ext cx="5943600" cy="731520"/>
          </a:xfrm>
          <a:prstGeom prst="rect">
            <a:avLst/>
          </a:prstGeom>
          <a:noFill/>
          <a:ln/>
        </p:spPr>
        <p:txBody>
          <a:bodyPr wrap="square" lIns="0" tIns="0" rIns="0" bIns="0" rtlCol="0" anchor="ctr"/>
          <a:lstStyle/>
          <a:p>
            <a:pPr indent="0" marL="0">
              <a:buNone/>
            </a:pPr>
            <a:r>
              <a:rPr lang="en-US" sz="1600" dirty="0">
                <a:solidFill>
                  <a:schemeClr val="tx2"/>
                </a:solidFill>
              </a:rPr>
              <a:t>박스 크기  </a:t>
            </a:r>
            <a:pPr indent="0" marL="0">
              <a:buNone/>
            </a:pPr>
            <a:r>
              <a:rPr lang="en-US" sz="1600" b="1" dirty="0">
                <a:solidFill>
                  <a:schemeClr val="tx1"/>
                </a:solidFill>
              </a:rPr>
              <a:t>crack 44×38px · scratch 43×38px</a:t>
            </a:r>
            <a:endParaRPr lang="en-US" sz="1600" dirty="0"/>
          </a:p>
        </p:txBody>
      </p:sp>
      <p:graphicFrame>
        <p:nvGraphicFramePr>
          <p:cNvPr id="15" name="ap-chart" descr=""/>
          <p:cNvGraphicFramePr/>
          <p:nvPr/>
        </p:nvGraphicFramePr>
        <p:xfrm>
          <a:off x="7223760" y="1508760"/>
          <a:ext cx="4416552" cy="4709160"/>
        </p:xfrm>
        <a:graphic xmlns:a="http://schemas.openxmlformats.org/drawingml/2006/main">
          <a:graphicData uri="http://schemas.openxmlformats.org/drawingml/2006/chart">
            <c:chart xmlns:c="http://schemas.openxmlformats.org/drawingml/2006/chart" r:id="rId4"/>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실험 설계</a:t>
            </a:r>
            <a:endParaRPr lang="en-US" sz="3200" dirty="0"/>
          </a:p>
        </p:txBody>
      </p:sp>
      <p:sp>
        <p:nvSpPr>
          <p:cNvPr id="3" name="dataset-card"/>
          <p:cNvSpPr/>
          <p:nvPr/>
        </p:nvSpPr>
        <p:spPr>
          <a:xfrm>
            <a:off x="548640" y="1600200"/>
            <a:ext cx="5394960" cy="1828800"/>
          </a:xfrm>
          <a:prstGeom prst="roundRect">
            <a:avLst>
              <a:gd name="adj" fmla="val 4000"/>
            </a:avLst>
          </a:prstGeom>
          <a:solidFill>
            <a:schemeClr val="bg2"/>
          </a:solidFill>
          <a:ln/>
        </p:spPr>
      </p:sp>
      <p:sp>
        <p:nvSpPr>
          <p:cNvPr id="4" name="ds-h"/>
          <p:cNvSpPr txBox="1"/>
          <p:nvPr/>
        </p:nvSpPr>
        <p:spPr>
          <a:xfrm>
            <a:off x="822960" y="1709928"/>
            <a:ext cx="4572000" cy="320040"/>
          </a:xfrm>
          <a:prstGeom prst="rect">
            <a:avLst/>
          </a:prstGeom>
          <a:noFill/>
          <a:ln/>
        </p:spPr>
        <p:txBody>
          <a:bodyPr wrap="square" lIns="0" tIns="0" rIns="0" bIns="0" rtlCol="0" anchor="t"/>
          <a:lstStyle/>
          <a:p>
            <a:pPr indent="0" marL="0">
              <a:buNone/>
            </a:pPr>
            <a:r>
              <a:rPr lang="en-US" sz="1600" b="1" dirty="0">
                <a:solidFill>
                  <a:schemeClr val="tx1"/>
                </a:solidFill>
              </a:rPr>
              <a:t>데이터셋</a:t>
            </a:r>
            <a:endParaRPr lang="en-US" sz="1600" dirty="0"/>
          </a:p>
        </p:txBody>
      </p:sp>
      <p:sp>
        <p:nvSpPr>
          <p:cNvPr id="5" name="ds-k-0-bg"/>
          <p:cNvSpPr/>
          <p:nvPr/>
        </p:nvSpPr>
        <p:spPr>
          <a:xfrm>
            <a:off x="822960" y="2148840"/>
            <a:ext cx="658368" cy="329184"/>
          </a:xfrm>
          <a:prstGeom prst="roundRect">
            <a:avLst>
              <a:gd name="adj" fmla="val 13889"/>
            </a:avLst>
          </a:prstGeom>
          <a:solidFill>
            <a:schemeClr val="accent1">
              <a:alpha val="20000"/>
            </a:schemeClr>
          </a:solidFill>
          <a:ln w="12700">
            <a:solidFill>
              <a:schemeClr val="accent1"/>
            </a:solidFill>
            <a:prstDash val="solid"/>
          </a:ln>
        </p:spPr>
      </p:sp>
      <p:sp>
        <p:nvSpPr>
          <p:cNvPr id="6" name="ds-k-0"/>
          <p:cNvSpPr txBox="1"/>
          <p:nvPr/>
        </p:nvSpPr>
        <p:spPr>
          <a:xfrm>
            <a:off x="822960" y="2148840"/>
            <a:ext cx="658368" cy="329184"/>
          </a:xfrm>
          <a:prstGeom prst="rect">
            <a:avLst/>
          </a:prstGeom>
          <a:noFill/>
          <a:ln/>
        </p:spPr>
        <p:txBody>
          <a:bodyPr wrap="square" lIns="0" tIns="0" rIns="0" bIns="0" rtlCol="0" anchor="ctr"/>
          <a:lstStyle/>
          <a:p>
            <a:pPr algn="ctr" indent="0" marL="0">
              <a:buNone/>
            </a:pPr>
            <a:r>
              <a:rPr lang="en-US" sz="1300" b="1" dirty="0">
                <a:solidFill>
                  <a:schemeClr val="accent1"/>
                </a:solidFill>
              </a:rPr>
              <a:t>출처</a:t>
            </a:r>
            <a:endParaRPr lang="en-US" sz="1300" dirty="0"/>
          </a:p>
        </p:txBody>
      </p:sp>
      <p:sp>
        <p:nvSpPr>
          <p:cNvPr id="7" name="ds-v-0"/>
          <p:cNvSpPr txBox="1"/>
          <p:nvPr/>
        </p:nvSpPr>
        <p:spPr>
          <a:xfrm>
            <a:off x="1627632" y="2148840"/>
            <a:ext cx="4206240" cy="329184"/>
          </a:xfrm>
          <a:prstGeom prst="rect">
            <a:avLst/>
          </a:prstGeom>
          <a:noFill/>
          <a:ln/>
        </p:spPr>
        <p:txBody>
          <a:bodyPr wrap="square" lIns="0" tIns="0" rIns="0" bIns="0" rtlCol="0" anchor="ctr"/>
          <a:lstStyle/>
          <a:p>
            <a:pPr indent="0" marL="0">
              <a:buNone/>
            </a:pPr>
            <a:r>
              <a:rPr lang="en-US" sz="1400" dirty="0">
                <a:solidFill>
                  <a:schemeClr val="tx1"/>
                </a:solidFill>
              </a:rPr>
              <a:t>Roboflow · 라벨 포함</a:t>
            </a:r>
            <a:endParaRPr lang="en-US" sz="1400" dirty="0"/>
          </a:p>
        </p:txBody>
      </p:sp>
      <p:sp>
        <p:nvSpPr>
          <p:cNvPr id="8" name="ds-k-1-bg"/>
          <p:cNvSpPr/>
          <p:nvPr/>
        </p:nvSpPr>
        <p:spPr>
          <a:xfrm>
            <a:off x="822960" y="2560320"/>
            <a:ext cx="658368" cy="329184"/>
          </a:xfrm>
          <a:prstGeom prst="roundRect">
            <a:avLst>
              <a:gd name="adj" fmla="val 13889"/>
            </a:avLst>
          </a:prstGeom>
          <a:solidFill>
            <a:schemeClr val="accent3">
              <a:alpha val="20000"/>
            </a:schemeClr>
          </a:solidFill>
          <a:ln w="12700">
            <a:solidFill>
              <a:schemeClr val="accent3"/>
            </a:solidFill>
            <a:prstDash val="solid"/>
          </a:ln>
        </p:spPr>
      </p:sp>
      <p:sp>
        <p:nvSpPr>
          <p:cNvPr id="9" name="ds-k-1"/>
          <p:cNvSpPr txBox="1"/>
          <p:nvPr/>
        </p:nvSpPr>
        <p:spPr>
          <a:xfrm>
            <a:off x="822960" y="2560320"/>
            <a:ext cx="658368" cy="329184"/>
          </a:xfrm>
          <a:prstGeom prst="rect">
            <a:avLst/>
          </a:prstGeom>
          <a:noFill/>
          <a:ln/>
        </p:spPr>
        <p:txBody>
          <a:bodyPr wrap="square" lIns="0" tIns="0" rIns="0" bIns="0" rtlCol="0" anchor="ctr"/>
          <a:lstStyle/>
          <a:p>
            <a:pPr algn="ctr" indent="0" marL="0">
              <a:buNone/>
            </a:pPr>
            <a:r>
              <a:rPr lang="en-US" sz="1300" b="1" dirty="0">
                <a:solidFill>
                  <a:schemeClr val="accent3"/>
                </a:solidFill>
              </a:rPr>
              <a:t>구성</a:t>
            </a:r>
            <a:endParaRPr lang="en-US" sz="1300" dirty="0"/>
          </a:p>
        </p:txBody>
      </p:sp>
      <p:sp>
        <p:nvSpPr>
          <p:cNvPr id="10" name="ds-v-1"/>
          <p:cNvSpPr txBox="1"/>
          <p:nvPr/>
        </p:nvSpPr>
        <p:spPr>
          <a:xfrm>
            <a:off x="1627632" y="2560320"/>
            <a:ext cx="4206240" cy="329184"/>
          </a:xfrm>
          <a:prstGeom prst="rect">
            <a:avLst/>
          </a:prstGeom>
          <a:noFill/>
          <a:ln/>
        </p:spPr>
        <p:txBody>
          <a:bodyPr wrap="square" lIns="0" tIns="0" rIns="0" bIns="0" rtlCol="0" anchor="ctr"/>
          <a:lstStyle/>
          <a:p>
            <a:pPr indent="0" marL="0">
              <a:buNone/>
            </a:pPr>
            <a:r>
              <a:rPr lang="en-US" sz="1400" dirty="0">
                <a:solidFill>
                  <a:schemeClr val="tx1"/>
                </a:solidFill>
              </a:rPr>
              <a:t>crack · scratch · 1,531장</a:t>
            </a:r>
            <a:endParaRPr lang="en-US" sz="1400" dirty="0"/>
          </a:p>
        </p:txBody>
      </p:sp>
      <p:sp>
        <p:nvSpPr>
          <p:cNvPr id="11" name="ds-k-2-bg"/>
          <p:cNvSpPr/>
          <p:nvPr/>
        </p:nvSpPr>
        <p:spPr>
          <a:xfrm>
            <a:off x="822960" y="2971800"/>
            <a:ext cx="658368" cy="329184"/>
          </a:xfrm>
          <a:prstGeom prst="roundRect">
            <a:avLst>
              <a:gd name="adj" fmla="val 13889"/>
            </a:avLst>
          </a:prstGeom>
          <a:solidFill>
            <a:schemeClr val="accent6">
              <a:alpha val="20000"/>
            </a:schemeClr>
          </a:solidFill>
          <a:ln w="12700">
            <a:solidFill>
              <a:schemeClr val="accent6"/>
            </a:solidFill>
            <a:prstDash val="solid"/>
          </a:ln>
        </p:spPr>
      </p:sp>
      <p:sp>
        <p:nvSpPr>
          <p:cNvPr id="12" name="ds-k-2"/>
          <p:cNvSpPr txBox="1"/>
          <p:nvPr/>
        </p:nvSpPr>
        <p:spPr>
          <a:xfrm>
            <a:off x="822960" y="2971800"/>
            <a:ext cx="658368" cy="329184"/>
          </a:xfrm>
          <a:prstGeom prst="rect">
            <a:avLst/>
          </a:prstGeom>
          <a:noFill/>
          <a:ln/>
        </p:spPr>
        <p:txBody>
          <a:bodyPr wrap="square" lIns="0" tIns="0" rIns="0" bIns="0" rtlCol="0" anchor="ctr"/>
          <a:lstStyle/>
          <a:p>
            <a:pPr algn="ctr" indent="0" marL="0">
              <a:buNone/>
            </a:pPr>
            <a:r>
              <a:rPr lang="en-US" sz="1300" b="1" dirty="0">
                <a:solidFill>
                  <a:schemeClr val="accent6"/>
                </a:solidFill>
              </a:rPr>
              <a:t>목적</a:t>
            </a:r>
            <a:endParaRPr lang="en-US" sz="1300" dirty="0"/>
          </a:p>
        </p:txBody>
      </p:sp>
      <p:sp>
        <p:nvSpPr>
          <p:cNvPr id="13" name="ds-v-2"/>
          <p:cNvSpPr txBox="1"/>
          <p:nvPr/>
        </p:nvSpPr>
        <p:spPr>
          <a:xfrm>
            <a:off x="1627632" y="2971800"/>
            <a:ext cx="4206240" cy="329184"/>
          </a:xfrm>
          <a:prstGeom prst="rect">
            <a:avLst/>
          </a:prstGeom>
          <a:noFill/>
          <a:ln/>
        </p:spPr>
        <p:txBody>
          <a:bodyPr wrap="square" lIns="0" tIns="0" rIns="0" bIns="0" rtlCol="0" anchor="ctr"/>
          <a:lstStyle/>
          <a:p>
            <a:pPr indent="0" marL="0">
              <a:buNone/>
            </a:pPr>
            <a:r>
              <a:rPr lang="en-US" sz="1400" dirty="0">
                <a:solidFill>
                  <a:schemeClr val="tx1"/>
                </a:solidFill>
              </a:rPr>
              <a:t>모델 비교 · INT8</a:t>
            </a:r>
            <a:endParaRPr lang="en-US" sz="1400" dirty="0"/>
          </a:p>
        </p:txBody>
      </p:sp>
      <p:sp>
        <p:nvSpPr>
          <p:cNvPr id="14" name="limit-card"/>
          <p:cNvSpPr/>
          <p:nvPr/>
        </p:nvSpPr>
        <p:spPr>
          <a:xfrm>
            <a:off x="548640" y="3611880"/>
            <a:ext cx="5394960" cy="2606040"/>
          </a:xfrm>
          <a:prstGeom prst="roundRect">
            <a:avLst>
              <a:gd name="adj" fmla="val 2807"/>
            </a:avLst>
          </a:prstGeom>
          <a:solidFill>
            <a:schemeClr val="bg2"/>
          </a:solidFill>
          <a:ln/>
        </p:spPr>
      </p:sp>
      <p:sp>
        <p:nvSpPr>
          <p:cNvPr id="15" name="limit-h"/>
          <p:cNvSpPr txBox="1"/>
          <p:nvPr/>
        </p:nvSpPr>
        <p:spPr>
          <a:xfrm>
            <a:off x="822960" y="3721608"/>
            <a:ext cx="4572000" cy="320040"/>
          </a:xfrm>
          <a:prstGeom prst="rect">
            <a:avLst/>
          </a:prstGeom>
          <a:noFill/>
          <a:ln/>
        </p:spPr>
        <p:txBody>
          <a:bodyPr wrap="square" lIns="0" tIns="0" rIns="0" bIns="0" rtlCol="0" anchor="t"/>
          <a:lstStyle/>
          <a:p>
            <a:pPr indent="0" marL="0">
              <a:buNone/>
            </a:pPr>
            <a:r>
              <a:rPr lang="en-US" sz="1600" b="1" dirty="0">
                <a:solidFill>
                  <a:schemeClr val="accent3"/>
                </a:solidFill>
              </a:rPr>
              <a:t>한계</a:t>
            </a:r>
            <a:endParaRPr lang="en-US" sz="1600" dirty="0"/>
          </a:p>
        </p:txBody>
      </p:sp>
      <p:pic>
        <p:nvPicPr>
          <p:cNvPr id="16" name="bg-0" descr="C:\Users\user\_se4nchoi\batteryvision\docs\submission\build\img\bg_green.jpg">    </p:cNvPr>
          <p:cNvPicPr>
            <a:picLocks noChangeAspect="1"/>
          </p:cNvPicPr>
          <p:nvPr/>
        </p:nvPicPr>
        <p:blipFill>
          <a:blip r:embed="rId1"/>
          <a:stretch>
            <a:fillRect/>
          </a:stretch>
        </p:blipFill>
        <p:spPr>
          <a:xfrm>
            <a:off x="822960" y="4114800"/>
            <a:ext cx="1325880" cy="1325880"/>
          </a:xfrm>
          <a:prstGeom prst="rect">
            <a:avLst/>
          </a:prstGeom>
        </p:spPr>
      </p:pic>
      <p:sp>
        <p:nvSpPr>
          <p:cNvPr id="17" name="bg-l-0"/>
          <p:cNvSpPr txBox="1"/>
          <p:nvPr/>
        </p:nvSpPr>
        <p:spPr>
          <a:xfrm>
            <a:off x="822960" y="5458968"/>
            <a:ext cx="1325880" cy="237744"/>
          </a:xfrm>
          <a:prstGeom prst="rect">
            <a:avLst/>
          </a:prstGeom>
          <a:noFill/>
          <a:ln/>
        </p:spPr>
        <p:txBody>
          <a:bodyPr wrap="square" lIns="0" tIns="0" rIns="0" bIns="0" rtlCol="0" anchor="t"/>
          <a:lstStyle/>
          <a:p>
            <a:pPr indent="0" marL="0">
              <a:buNone/>
            </a:pPr>
            <a:r>
              <a:rPr lang="en-US" sz="1200" dirty="0">
                <a:solidFill>
                  <a:schemeClr val="tx2"/>
                </a:solidFill>
              </a:rPr>
              <a:t>초록 매트</a:t>
            </a:r>
            <a:endParaRPr lang="en-US" sz="1200" dirty="0"/>
          </a:p>
        </p:txBody>
      </p:sp>
      <p:pic>
        <p:nvPicPr>
          <p:cNvPr id="18" name="bg-1" descr="C:\Users\user\_se4nchoi\batteryvision\docs\submission\build\img\bg_grey.jpg">    </p:cNvPr>
          <p:cNvPicPr>
            <a:picLocks noChangeAspect="1"/>
          </p:cNvPicPr>
          <p:nvPr/>
        </p:nvPicPr>
        <p:blipFill>
          <a:blip r:embed="rId2"/>
          <a:stretch>
            <a:fillRect/>
          </a:stretch>
        </p:blipFill>
        <p:spPr>
          <a:xfrm>
            <a:off x="2514600" y="4114800"/>
            <a:ext cx="1325880" cy="1325880"/>
          </a:xfrm>
          <a:prstGeom prst="rect">
            <a:avLst/>
          </a:prstGeom>
        </p:spPr>
      </p:pic>
      <p:sp>
        <p:nvSpPr>
          <p:cNvPr id="19" name="bg-l-1"/>
          <p:cNvSpPr txBox="1"/>
          <p:nvPr/>
        </p:nvSpPr>
        <p:spPr>
          <a:xfrm>
            <a:off x="2514600" y="5458968"/>
            <a:ext cx="1325880" cy="237744"/>
          </a:xfrm>
          <a:prstGeom prst="rect">
            <a:avLst/>
          </a:prstGeom>
          <a:noFill/>
          <a:ln/>
        </p:spPr>
        <p:txBody>
          <a:bodyPr wrap="square" lIns="0" tIns="0" rIns="0" bIns="0" rtlCol="0" anchor="t"/>
          <a:lstStyle/>
          <a:p>
            <a:pPr indent="0" marL="0">
              <a:buNone/>
            </a:pPr>
            <a:r>
              <a:rPr lang="en-US" sz="1200" dirty="0">
                <a:solidFill>
                  <a:schemeClr val="tx2"/>
                </a:solidFill>
              </a:rPr>
              <a:t>회색</a:t>
            </a:r>
            <a:endParaRPr lang="en-US" sz="1200" dirty="0"/>
          </a:p>
        </p:txBody>
      </p:sp>
      <p:pic>
        <p:nvPicPr>
          <p:cNvPr id="20" name="bg-2" descr="C:\Users\user\_se4nchoi\batteryvision\docs\submission\build\img\bg_wood.jpg">    </p:cNvPr>
          <p:cNvPicPr>
            <a:picLocks noChangeAspect="1"/>
          </p:cNvPicPr>
          <p:nvPr/>
        </p:nvPicPr>
        <p:blipFill>
          <a:blip r:embed="rId3"/>
          <a:stretch>
            <a:fillRect/>
          </a:stretch>
        </p:blipFill>
        <p:spPr>
          <a:xfrm>
            <a:off x="4206240" y="4114800"/>
            <a:ext cx="1325880" cy="1325880"/>
          </a:xfrm>
          <a:prstGeom prst="rect">
            <a:avLst/>
          </a:prstGeom>
        </p:spPr>
      </p:pic>
      <p:sp>
        <p:nvSpPr>
          <p:cNvPr id="21" name="bg-l-2"/>
          <p:cNvSpPr txBox="1"/>
          <p:nvPr/>
        </p:nvSpPr>
        <p:spPr>
          <a:xfrm>
            <a:off x="4206240" y="5458968"/>
            <a:ext cx="1325880" cy="237744"/>
          </a:xfrm>
          <a:prstGeom prst="rect">
            <a:avLst/>
          </a:prstGeom>
          <a:noFill/>
          <a:ln/>
        </p:spPr>
        <p:txBody>
          <a:bodyPr wrap="square" lIns="0" tIns="0" rIns="0" bIns="0" rtlCol="0" anchor="t"/>
          <a:lstStyle/>
          <a:p>
            <a:pPr indent="0" marL="0">
              <a:buNone/>
            </a:pPr>
            <a:r>
              <a:rPr lang="en-US" sz="1200" dirty="0">
                <a:solidFill>
                  <a:schemeClr val="tx2"/>
                </a:solidFill>
              </a:rPr>
              <a:t>나무 탁상</a:t>
            </a:r>
            <a:endParaRPr lang="en-US" sz="1200" dirty="0"/>
          </a:p>
        </p:txBody>
      </p:sp>
      <p:sp>
        <p:nvSpPr>
          <p:cNvPr id="22" name="limit-tag-0-bg"/>
          <p:cNvSpPr/>
          <p:nvPr/>
        </p:nvSpPr>
        <p:spPr>
          <a:xfrm>
            <a:off x="822960" y="5760720"/>
            <a:ext cx="1325880" cy="310896"/>
          </a:xfrm>
          <a:prstGeom prst="roundRect">
            <a:avLst>
              <a:gd name="adj" fmla="val 14706"/>
            </a:avLst>
          </a:prstGeom>
          <a:solidFill>
            <a:schemeClr val="accent3">
              <a:alpha val="20000"/>
            </a:schemeClr>
          </a:solidFill>
          <a:ln w="12700">
            <a:solidFill>
              <a:schemeClr val="accent3"/>
            </a:solidFill>
            <a:prstDash val="solid"/>
          </a:ln>
        </p:spPr>
      </p:sp>
      <p:sp>
        <p:nvSpPr>
          <p:cNvPr id="23" name="limit-tag-0"/>
          <p:cNvSpPr txBox="1"/>
          <p:nvPr/>
        </p:nvSpPr>
        <p:spPr>
          <a:xfrm>
            <a:off x="822960" y="5760720"/>
            <a:ext cx="1325880" cy="310896"/>
          </a:xfrm>
          <a:prstGeom prst="rect">
            <a:avLst/>
          </a:prstGeom>
          <a:noFill/>
          <a:ln/>
        </p:spPr>
        <p:txBody>
          <a:bodyPr wrap="square" lIns="0" tIns="0" rIns="0" bIns="0" rtlCol="0" anchor="ctr"/>
          <a:lstStyle/>
          <a:p>
            <a:pPr algn="ctr" indent="0" marL="0">
              <a:buNone/>
            </a:pPr>
            <a:r>
              <a:rPr lang="en-US" sz="1300" b="1" dirty="0">
                <a:solidFill>
                  <a:schemeClr val="accent3"/>
                </a:solidFill>
              </a:rPr>
              <a:t>탁상 촬영</a:t>
            </a:r>
            <a:endParaRPr lang="en-US" sz="1300" dirty="0"/>
          </a:p>
        </p:txBody>
      </p:sp>
      <p:sp>
        <p:nvSpPr>
          <p:cNvPr id="24" name="limit-tag-1-bg"/>
          <p:cNvSpPr/>
          <p:nvPr/>
        </p:nvSpPr>
        <p:spPr>
          <a:xfrm>
            <a:off x="2514600" y="5760720"/>
            <a:ext cx="1325880" cy="310896"/>
          </a:xfrm>
          <a:prstGeom prst="roundRect">
            <a:avLst>
              <a:gd name="adj" fmla="val 14706"/>
            </a:avLst>
          </a:prstGeom>
          <a:solidFill>
            <a:schemeClr val="accent3">
              <a:alpha val="20000"/>
            </a:schemeClr>
          </a:solidFill>
          <a:ln w="12700">
            <a:solidFill>
              <a:schemeClr val="accent3"/>
            </a:solidFill>
            <a:prstDash val="solid"/>
          </a:ln>
        </p:spPr>
      </p:sp>
      <p:sp>
        <p:nvSpPr>
          <p:cNvPr id="25" name="limit-tag-1"/>
          <p:cNvSpPr txBox="1"/>
          <p:nvPr/>
        </p:nvSpPr>
        <p:spPr>
          <a:xfrm>
            <a:off x="2514600" y="5760720"/>
            <a:ext cx="1325880" cy="310896"/>
          </a:xfrm>
          <a:prstGeom prst="rect">
            <a:avLst/>
          </a:prstGeom>
          <a:noFill/>
          <a:ln/>
        </p:spPr>
        <p:txBody>
          <a:bodyPr wrap="square" lIns="0" tIns="0" rIns="0" bIns="0" rtlCol="0" anchor="ctr"/>
          <a:lstStyle/>
          <a:p>
            <a:pPr algn="ctr" indent="0" marL="0">
              <a:buNone/>
            </a:pPr>
            <a:r>
              <a:rPr lang="en-US" sz="1300" b="1" dirty="0">
                <a:solidFill>
                  <a:schemeClr val="accent3"/>
                </a:solidFill>
              </a:rPr>
              <a:t>셀당 1장</a:t>
            </a:r>
            <a:endParaRPr lang="en-US" sz="1300" dirty="0"/>
          </a:p>
        </p:txBody>
      </p:sp>
      <p:sp>
        <p:nvSpPr>
          <p:cNvPr id="26" name="limit-tag-2-bg"/>
          <p:cNvSpPr/>
          <p:nvPr/>
        </p:nvSpPr>
        <p:spPr>
          <a:xfrm>
            <a:off x="4206240" y="5760720"/>
            <a:ext cx="1325880" cy="310896"/>
          </a:xfrm>
          <a:prstGeom prst="roundRect">
            <a:avLst>
              <a:gd name="adj" fmla="val 14706"/>
            </a:avLst>
          </a:prstGeom>
          <a:solidFill>
            <a:schemeClr val="accent3">
              <a:alpha val="20000"/>
            </a:schemeClr>
          </a:solidFill>
          <a:ln w="12700">
            <a:solidFill>
              <a:schemeClr val="accent3"/>
            </a:solidFill>
            <a:prstDash val="solid"/>
          </a:ln>
        </p:spPr>
      </p:sp>
      <p:sp>
        <p:nvSpPr>
          <p:cNvPr id="27" name="limit-tag-2"/>
          <p:cNvSpPr txBox="1"/>
          <p:nvPr/>
        </p:nvSpPr>
        <p:spPr>
          <a:xfrm>
            <a:off x="4206240" y="5760720"/>
            <a:ext cx="1325880" cy="310896"/>
          </a:xfrm>
          <a:prstGeom prst="rect">
            <a:avLst/>
          </a:prstGeom>
          <a:noFill/>
          <a:ln/>
        </p:spPr>
        <p:txBody>
          <a:bodyPr wrap="square" lIns="0" tIns="0" rIns="0" bIns="0" rtlCol="0" anchor="ctr"/>
          <a:lstStyle/>
          <a:p>
            <a:pPr algn="ctr" indent="0" marL="0">
              <a:buNone/>
            </a:pPr>
            <a:r>
              <a:rPr lang="en-US" sz="1300" b="1" dirty="0">
                <a:solidFill>
                  <a:schemeClr val="accent3"/>
                </a:solidFill>
              </a:rPr>
              <a:t>세션 반복</a:t>
            </a:r>
            <a:endParaRPr lang="en-US" sz="1300" dirty="0"/>
          </a:p>
        </p:txBody>
      </p:sp>
      <p:sp>
        <p:nvSpPr>
          <p:cNvPr id="28" name="grid-h"/>
          <p:cNvSpPr txBox="1"/>
          <p:nvPr/>
        </p:nvSpPr>
        <p:spPr>
          <a:xfrm>
            <a:off x="6172200" y="1600200"/>
            <a:ext cx="5486400" cy="320040"/>
          </a:xfrm>
          <a:prstGeom prst="rect">
            <a:avLst/>
          </a:prstGeom>
          <a:noFill/>
          <a:ln/>
        </p:spPr>
        <p:txBody>
          <a:bodyPr wrap="square" lIns="0" tIns="0" rIns="0" bIns="0" rtlCol="0" anchor="t"/>
          <a:lstStyle/>
          <a:p>
            <a:pPr indent="0" marL="0">
              <a:buNone/>
            </a:pPr>
            <a:r>
              <a:rPr lang="en-US" sz="1600" b="1" dirty="0">
                <a:solidFill>
                  <a:schemeClr val="tx1"/>
                </a:solidFill>
              </a:rPr>
              <a:t>모델별 EXPORT</a:t>
            </a:r>
            <a:endParaRPr lang="en-US" sz="1600" dirty="0"/>
          </a:p>
        </p:txBody>
      </p:sp>
      <p:graphicFrame>
        <p:nvGraphicFramePr>
          <p:cNvPr id="4" name="model-grid"/>
          <p:cNvGraphicFramePr>
            <a:graphicFrameLocks noGrp="1"/>
          </p:cNvGraphicFramePr>
          <p:nvPr>
            <p:extLst>
              <p:ext uri="{D42A27DB-BD31-4B8C-83A1-F6EECF244321}">
                <p14:modId xmlns:p14="http://schemas.microsoft.com/office/powerpoint/2010/main" val="1579011935"/>
              </p:ext>
            </p:extLst>
          </p:nvPr>
        </p:nvGraphicFramePr>
        <p:xfrm>
          <a:off x="6172200" y="2057400"/>
          <a:ext cx="5468112" cy="914400"/>
        </p:xfrm>
        <a:graphic>
          <a:graphicData uri="http://schemas.openxmlformats.org/drawingml/2006/table">
            <a:tbl>
              <a:tblPr/>
              <a:tblGrid>
                <a:gridCol w="1993392"/>
                <a:gridCol w="1097280"/>
                <a:gridCol w="1280160"/>
                <a:gridCol w="1097280"/>
              </a:tblGrid>
              <a:tr h="548640">
                <a:tc>
                  <a:txBody>
                    <a:bodyPr/>
                    <a:lstStyle/>
                    <a:p>
                      <a:pPr algn="ctr" indent="0" marL="0">
                        <a:buNone/>
                      </a:pP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500" b="1" dirty="0">
                          <a:solidFill>
                            <a:schemeClr val="tx2"/>
                          </a:solidFill>
                          <a:latin typeface="Malgun Gothic" pitchFamily="34" charset="0"/>
                          <a:ea typeface="Malgun Gothic" pitchFamily="34" charset="-122"/>
                          <a:cs typeface="Malgun Gothic" pitchFamily="34" charset="-120"/>
                        </a:rPr>
                        <a:t>FP16</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500" b="1" dirty="0">
                          <a:solidFill>
                            <a:schemeClr val="tx2"/>
                          </a:solidFill>
                          <a:latin typeface="Malgun Gothic" pitchFamily="34" charset="0"/>
                          <a:ea typeface="Malgun Gothic" pitchFamily="34" charset="-122"/>
                          <a:cs typeface="Malgun Gothic" pitchFamily="34" charset="-120"/>
                        </a:rPr>
                        <a:t>FP16 + XAI</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500" b="1" dirty="0">
                          <a:solidFill>
                            <a:schemeClr val="tx2"/>
                          </a:solidFill>
                          <a:latin typeface="Malgun Gothic" pitchFamily="34" charset="0"/>
                          <a:ea typeface="Malgun Gothic" pitchFamily="34" charset="-122"/>
                          <a:cs typeface="Malgun Gothic" pitchFamily="34" charset="-120"/>
                        </a:rPr>
                        <a:t>INT8</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r>
              <a:tr h="960120">
                <a:tc>
                  <a:txBody>
                    <a:bodyPr/>
                    <a:lstStyle/>
                    <a:p>
                      <a:pPr algn="l" indent="0" marL="0">
                        <a:buNone/>
                      </a:pPr>
                      <a:r>
                        <a:rPr lang="en-US" sz="1500" b="1" dirty="0">
                          <a:solidFill>
                            <a:schemeClr val="accent4"/>
                          </a:solidFill>
                          <a:latin typeface="Malgun Gothic" pitchFamily="34" charset="0"/>
                          <a:ea typeface="Malgun Gothic" pitchFamily="34" charset="-122"/>
                          <a:cs typeface="Malgun Gothic" pitchFamily="34" charset="-120"/>
                        </a:rPr>
                        <a:t>ATSS-MobileNetV2</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dirty="0">
                          <a:solidFill>
                            <a:schemeClr val="tx1"/>
                          </a:solidFill>
                          <a:latin typeface="Malgun Gothic" pitchFamily="34" charset="0"/>
                          <a:ea typeface="Malgun Gothic" pitchFamily="34" charset="-122"/>
                          <a:cs typeface="Malgun Gothic" pitchFamily="34" charset="-120"/>
                        </a:rPr>
                        <a:t>5.7 MB</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dirty="0">
                          <a:solidFill>
                            <a:schemeClr val="tx1"/>
                          </a:solidFill>
                          <a:latin typeface="Malgun Gothic" pitchFamily="34" charset="0"/>
                          <a:ea typeface="Malgun Gothic" pitchFamily="34" charset="-122"/>
                          <a:cs typeface="Malgun Gothic" pitchFamily="34" charset="-120"/>
                        </a:rPr>
                        <a:t>5.8 MB</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dirty="0">
                          <a:solidFill>
                            <a:schemeClr val="tx1"/>
                          </a:solidFill>
                          <a:latin typeface="Malgun Gothic" pitchFamily="34" charset="0"/>
                          <a:ea typeface="Malgun Gothic" pitchFamily="34" charset="-122"/>
                          <a:cs typeface="Malgun Gothic" pitchFamily="34" charset="-120"/>
                        </a:rPr>
                        <a:t>3.9 MB</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960120">
                <a:tc>
                  <a:txBody>
                    <a:bodyPr/>
                    <a:lstStyle/>
                    <a:p>
                      <a:pPr algn="l" indent="0" marL="0">
                        <a:buNone/>
                      </a:pPr>
                      <a:r>
                        <a:rPr lang="en-US" sz="1500" b="1" dirty="0">
                          <a:solidFill>
                            <a:schemeClr val="accent5"/>
                          </a:solidFill>
                          <a:latin typeface="Malgun Gothic" pitchFamily="34" charset="0"/>
                          <a:ea typeface="Malgun Gothic" pitchFamily="34" charset="-122"/>
                          <a:cs typeface="Malgun Gothic" pitchFamily="34" charset="-120"/>
                        </a:rPr>
                        <a:t>YOLOX-S</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dirty="0">
                          <a:solidFill>
                            <a:schemeClr val="tx1"/>
                          </a:solidFill>
                          <a:latin typeface="Malgun Gothic" pitchFamily="34" charset="0"/>
                          <a:ea typeface="Malgun Gothic" pitchFamily="34" charset="-122"/>
                          <a:cs typeface="Malgun Gothic" pitchFamily="34" charset="-120"/>
                        </a:rPr>
                        <a:t>18.4 MB</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dirty="0">
                          <a:solidFill>
                            <a:schemeClr val="tx1"/>
                          </a:solidFill>
                          <a:latin typeface="Malgun Gothic" pitchFamily="34" charset="0"/>
                          <a:ea typeface="Malgun Gothic" pitchFamily="34" charset="-122"/>
                          <a:cs typeface="Malgun Gothic" pitchFamily="34" charset="-120"/>
                        </a:rPr>
                        <a:t>18.4 MB</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dirty="0">
                          <a:solidFill>
                            <a:schemeClr val="tx1"/>
                          </a:solidFill>
                          <a:latin typeface="Malgun Gothic" pitchFamily="34" charset="0"/>
                          <a:ea typeface="Malgun Gothic" pitchFamily="34" charset="-122"/>
                          <a:cs typeface="Malgun Gothic" pitchFamily="34" charset="-120"/>
                        </a:rPr>
                        <a:t>9.8 MB</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960120">
                <a:tc>
                  <a:txBody>
                    <a:bodyPr/>
                    <a:lstStyle/>
                    <a:p>
                      <a:pPr algn="l" indent="0" marL="0">
                        <a:buNone/>
                      </a:pPr>
                      <a:r>
                        <a:rPr lang="en-US" sz="1500" b="1" dirty="0">
                          <a:solidFill>
                            <a:schemeClr val="accent6"/>
                          </a:solidFill>
                          <a:latin typeface="Malgun Gothic" pitchFamily="34" charset="0"/>
                          <a:ea typeface="Malgun Gothic" pitchFamily="34" charset="-122"/>
                          <a:cs typeface="Malgun Gothic" pitchFamily="34" charset="-120"/>
                        </a:rPr>
                        <a:t>YOLOX-Tiny</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dirty="0">
                          <a:solidFill>
                            <a:schemeClr val="tx1"/>
                          </a:solidFill>
                          <a:latin typeface="Malgun Gothic" pitchFamily="34" charset="0"/>
                          <a:ea typeface="Malgun Gothic" pitchFamily="34" charset="-122"/>
                          <a:cs typeface="Malgun Gothic" pitchFamily="34" charset="-120"/>
                        </a:rPr>
                        <a:t>10.6 MB</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dirty="0">
                          <a:solidFill>
                            <a:schemeClr val="tx1"/>
                          </a:solidFill>
                          <a:latin typeface="Malgun Gothic" pitchFamily="34" charset="0"/>
                          <a:ea typeface="Malgun Gothic" pitchFamily="34" charset="-122"/>
                          <a:cs typeface="Malgun Gothic" pitchFamily="34" charset="-120"/>
                        </a:rPr>
                        <a:t>10.6 MB</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dirty="0">
                          <a:solidFill>
                            <a:schemeClr val="tx1"/>
                          </a:solidFill>
                          <a:latin typeface="Malgun Gothic" pitchFamily="34" charset="0"/>
                          <a:ea typeface="Malgun Gothic" pitchFamily="34" charset="-122"/>
                          <a:cs typeface="Malgun Gothic" pitchFamily="34" charset="-120"/>
                        </a:rPr>
                        <a:t>5.8 MB</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bl>
          </a:graphicData>
        </a:graphic>
      </p:graphicFrame>
      <p:sp>
        <p:nvSpPr>
          <p:cNvPr id="30" name="credit"/>
          <p:cNvSpPr txBox="1"/>
          <p:nvPr/>
        </p:nvSpPr>
        <p:spPr>
          <a:xfrm>
            <a:off x="548640" y="6263640"/>
            <a:ext cx="8229600" cy="164592"/>
          </a:xfrm>
          <a:prstGeom prst="rect">
            <a:avLst/>
          </a:prstGeom>
          <a:noFill/>
          <a:ln/>
        </p:spPr>
        <p:txBody>
          <a:bodyPr wrap="square" lIns="0" tIns="0" rIns="0" bIns="0" rtlCol="0" anchor="t"/>
          <a:lstStyle/>
          <a:p>
            <a:pPr indent="0" marL="0">
              <a:buNone/>
            </a:pPr>
            <a:r>
              <a:rPr lang="en-US" sz="900" dirty="0">
                <a:solidFill>
                  <a:schemeClr val="tx2"/>
                </a:solidFill>
              </a:rPr>
              <a:t>데이터: Battery Defect Inspection v8 (Roboflow Universe), CC BY 4.0</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작은 모델이 더 맵다 ?</a:t>
            </a:r>
            <a:endParaRPr lang="en-US" sz="3200" dirty="0"/>
          </a:p>
        </p:txBody>
      </p:sp>
      <p:pic>
        <p:nvPicPr>
          <p:cNvPr id="3" name="geti-models" descr="C:\Users\user\_se4nchoi\batteryvision\docs\submission\build\img\geti_models.png">    </p:cNvPr>
          <p:cNvPicPr>
            <a:picLocks noChangeAspect="1"/>
          </p:cNvPicPr>
          <p:nvPr/>
        </p:nvPicPr>
        <p:blipFill>
          <a:blip r:embed="rId1"/>
          <a:stretch>
            <a:fillRect/>
          </a:stretch>
        </p:blipFill>
        <p:spPr>
          <a:xfrm>
            <a:off x="548640" y="1600200"/>
            <a:ext cx="4027729" cy="4343400"/>
          </a:xfrm>
          <a:prstGeom prst="rect">
            <a:avLst/>
          </a:prstGeom>
        </p:spPr>
      </p:pic>
      <p:sp>
        <p:nvSpPr>
          <p:cNvPr id="4" name="geti-caveat-bg"/>
          <p:cNvSpPr/>
          <p:nvPr/>
        </p:nvSpPr>
        <p:spPr>
          <a:xfrm>
            <a:off x="548640" y="6080760"/>
            <a:ext cx="4027729" cy="384048"/>
          </a:xfrm>
          <a:prstGeom prst="roundRect">
            <a:avLst>
              <a:gd name="adj" fmla="val 11905"/>
            </a:avLst>
          </a:prstGeom>
          <a:solidFill>
            <a:schemeClr val="accent3">
              <a:alpha val="20000"/>
            </a:schemeClr>
          </a:solidFill>
          <a:ln w="12700">
            <a:solidFill>
              <a:schemeClr val="accent3"/>
            </a:solidFill>
            <a:prstDash val="solid"/>
          </a:ln>
        </p:spPr>
      </p:sp>
      <p:sp>
        <p:nvSpPr>
          <p:cNvPr id="5" name="geti-caveat"/>
          <p:cNvSpPr txBox="1"/>
          <p:nvPr/>
        </p:nvSpPr>
        <p:spPr>
          <a:xfrm>
            <a:off x="548640" y="6080760"/>
            <a:ext cx="4027729" cy="384048"/>
          </a:xfrm>
          <a:prstGeom prst="rect">
            <a:avLst/>
          </a:prstGeom>
          <a:noFill/>
          <a:ln/>
        </p:spPr>
        <p:txBody>
          <a:bodyPr wrap="square" lIns="0" tIns="0" rIns="0" bIns="0" rtlCol="0" anchor="ctr"/>
          <a:lstStyle/>
          <a:p>
            <a:pPr algn="ctr" indent="0" marL="0">
              <a:buNone/>
            </a:pPr>
            <a:r>
              <a:rPr lang="en-US" sz="1300" b="1" dirty="0">
                <a:solidFill>
                  <a:schemeClr val="accent3"/>
                </a:solidFill>
              </a:rPr>
              <a:t>낙관적인 Geti 점수 (증강본이 학습·테스트에 섞임)</a:t>
            </a:r>
            <a:endParaRPr lang="en-US" sz="1300" dirty="0"/>
          </a:p>
        </p:txBody>
      </p:sp>
      <p:sp>
        <p:nvSpPr>
          <p:cNvPr id="6" name="own-h"/>
          <p:cNvSpPr txBox="1"/>
          <p:nvPr/>
        </p:nvSpPr>
        <p:spPr>
          <a:xfrm>
            <a:off x="4896409" y="1600200"/>
            <a:ext cx="6746646" cy="320040"/>
          </a:xfrm>
          <a:prstGeom prst="rect">
            <a:avLst/>
          </a:prstGeom>
          <a:noFill/>
          <a:ln/>
        </p:spPr>
        <p:txBody>
          <a:bodyPr wrap="square" lIns="0" tIns="0" rIns="0" bIns="0" rtlCol="0" anchor="t"/>
          <a:lstStyle/>
          <a:p>
            <a:pPr indent="0" marL="0">
              <a:buNone/>
            </a:pPr>
            <a:r>
              <a:rPr lang="en-US" sz="1600" b="1" dirty="0">
                <a:solidFill>
                  <a:schemeClr val="tx1"/>
                </a:solidFill>
              </a:rPr>
              <a:t>직접 측정 · 1차 테스트</a:t>
            </a:r>
            <a:endParaRPr lang="en-US" sz="1600" dirty="0"/>
          </a:p>
        </p:txBody>
      </p:sp>
      <p:sp>
        <p:nvSpPr>
          <p:cNvPr id="7" name="own-col-0"/>
          <p:cNvSpPr txBox="1"/>
          <p:nvPr/>
        </p:nvSpPr>
        <p:spPr>
          <a:xfrm>
            <a:off x="7411009" y="2011680"/>
            <a:ext cx="1600200" cy="274320"/>
          </a:xfrm>
          <a:prstGeom prst="rect">
            <a:avLst/>
          </a:prstGeom>
          <a:noFill/>
          <a:ln/>
        </p:spPr>
        <p:txBody>
          <a:bodyPr wrap="square" lIns="0" tIns="0" rIns="0" bIns="0" rtlCol="0" anchor="t"/>
          <a:lstStyle/>
          <a:p>
            <a:pPr algn="r" indent="0" marL="0">
              <a:buNone/>
            </a:pPr>
            <a:r>
              <a:rPr lang="en-US" sz="1200" dirty="0">
                <a:solidFill>
                  <a:schemeClr val="tx2"/>
                </a:solidFill>
              </a:rPr>
              <a:t>mAP@50</a:t>
            </a:r>
            <a:endParaRPr lang="en-US" sz="1200" dirty="0"/>
          </a:p>
        </p:txBody>
      </p:sp>
      <p:sp>
        <p:nvSpPr>
          <p:cNvPr id="8" name="own-col-1"/>
          <p:cNvSpPr txBox="1"/>
          <p:nvPr/>
        </p:nvSpPr>
        <p:spPr>
          <a:xfrm>
            <a:off x="9056929" y="2011680"/>
            <a:ext cx="1097280" cy="274320"/>
          </a:xfrm>
          <a:prstGeom prst="rect">
            <a:avLst/>
          </a:prstGeom>
          <a:noFill/>
          <a:ln/>
        </p:spPr>
        <p:txBody>
          <a:bodyPr wrap="square" lIns="0" tIns="0" rIns="0" bIns="0" rtlCol="0" anchor="t"/>
          <a:lstStyle/>
          <a:p>
            <a:pPr algn="r" indent="0" marL="0">
              <a:buNone/>
            </a:pPr>
            <a:r>
              <a:rPr lang="en-US" sz="1200" dirty="0">
                <a:solidFill>
                  <a:schemeClr val="tx2"/>
                </a:solidFill>
              </a:rPr>
              <a:t>scratch AP</a:t>
            </a:r>
            <a:endParaRPr lang="en-US" sz="1200" dirty="0"/>
          </a:p>
        </p:txBody>
      </p:sp>
      <p:sp>
        <p:nvSpPr>
          <p:cNvPr id="9" name="own-col-2"/>
          <p:cNvSpPr txBox="1"/>
          <p:nvPr/>
        </p:nvSpPr>
        <p:spPr>
          <a:xfrm>
            <a:off x="10154209" y="2011680"/>
            <a:ext cx="1051560" cy="274320"/>
          </a:xfrm>
          <a:prstGeom prst="rect">
            <a:avLst/>
          </a:prstGeom>
          <a:noFill/>
          <a:ln/>
        </p:spPr>
        <p:txBody>
          <a:bodyPr wrap="square" lIns="0" tIns="0" rIns="0" bIns="0" rtlCol="0" anchor="t"/>
          <a:lstStyle/>
          <a:p>
            <a:pPr algn="r" indent="0" marL="0">
              <a:buNone/>
            </a:pPr>
            <a:r>
              <a:rPr lang="en-US" sz="1200" dirty="0">
                <a:solidFill>
                  <a:schemeClr val="tx2"/>
                </a:solidFill>
              </a:rPr>
              <a:t>2차 세트</a:t>
            </a:r>
            <a:endParaRPr lang="en-US" sz="1200" dirty="0"/>
          </a:p>
        </p:txBody>
      </p:sp>
      <p:sp>
        <p:nvSpPr>
          <p:cNvPr id="10" name="own-row-0"/>
          <p:cNvSpPr/>
          <p:nvPr/>
        </p:nvSpPr>
        <p:spPr>
          <a:xfrm>
            <a:off x="4896409" y="2377440"/>
            <a:ext cx="6746646" cy="1051560"/>
          </a:xfrm>
          <a:prstGeom prst="roundRect">
            <a:avLst>
              <a:gd name="adj" fmla="val 6957"/>
            </a:avLst>
          </a:prstGeom>
          <a:solidFill>
            <a:schemeClr val="bg2"/>
          </a:solidFill>
          <a:ln/>
        </p:spPr>
      </p:sp>
      <p:sp>
        <p:nvSpPr>
          <p:cNvPr id="11" name="own-dot-0"/>
          <p:cNvSpPr/>
          <p:nvPr/>
        </p:nvSpPr>
        <p:spPr>
          <a:xfrm>
            <a:off x="5125009" y="2606040"/>
            <a:ext cx="146304" cy="146304"/>
          </a:xfrm>
          <a:prstGeom prst="ellipse">
            <a:avLst/>
          </a:prstGeom>
          <a:solidFill>
            <a:schemeClr val="accent4"/>
          </a:solidFill>
          <a:ln/>
        </p:spPr>
      </p:sp>
      <p:sp>
        <p:nvSpPr>
          <p:cNvPr id="12" name="own-n-0"/>
          <p:cNvSpPr txBox="1"/>
          <p:nvPr/>
        </p:nvSpPr>
        <p:spPr>
          <a:xfrm>
            <a:off x="5353609" y="2514600"/>
            <a:ext cx="2103120" cy="320040"/>
          </a:xfrm>
          <a:prstGeom prst="rect">
            <a:avLst/>
          </a:prstGeom>
          <a:noFill/>
          <a:ln/>
        </p:spPr>
        <p:txBody>
          <a:bodyPr wrap="square" lIns="0" tIns="0" rIns="0" bIns="0" rtlCol="0" anchor="t"/>
          <a:lstStyle/>
          <a:p>
            <a:pPr indent="0" marL="0">
              <a:buNone/>
            </a:pPr>
            <a:r>
              <a:rPr lang="en-US" sz="1500" b="1" dirty="0">
                <a:solidFill>
                  <a:schemeClr val="tx1"/>
                </a:solidFill>
              </a:rPr>
              <a:t>ATSS-MobileNetV2</a:t>
            </a:r>
            <a:endParaRPr lang="en-US" sz="1500" dirty="0"/>
          </a:p>
        </p:txBody>
      </p:sp>
      <p:sp>
        <p:nvSpPr>
          <p:cNvPr id="13" name="own-s-0"/>
          <p:cNvSpPr txBox="1"/>
          <p:nvPr/>
        </p:nvSpPr>
        <p:spPr>
          <a:xfrm>
            <a:off x="5353609" y="2926080"/>
            <a:ext cx="2103120" cy="274320"/>
          </a:xfrm>
          <a:prstGeom prst="rect">
            <a:avLst/>
          </a:prstGeom>
          <a:noFill/>
          <a:ln/>
        </p:spPr>
        <p:txBody>
          <a:bodyPr wrap="square" lIns="0" tIns="0" rIns="0" bIns="0" rtlCol="0" anchor="t"/>
          <a:lstStyle/>
          <a:p>
            <a:pPr indent="0" marL="0">
              <a:buNone/>
            </a:pPr>
            <a:r>
              <a:rPr lang="en-US" sz="1200" dirty="0">
                <a:solidFill>
                  <a:schemeClr val="tx2"/>
                </a:solidFill>
              </a:rPr>
              <a:t>3.9M · 20.6 GFLOPs</a:t>
            </a:r>
            <a:endParaRPr lang="en-US" sz="1200" dirty="0"/>
          </a:p>
        </p:txBody>
      </p:sp>
      <p:sp>
        <p:nvSpPr>
          <p:cNvPr id="14" name="own-m-0"/>
          <p:cNvSpPr txBox="1"/>
          <p:nvPr/>
        </p:nvSpPr>
        <p:spPr>
          <a:xfrm>
            <a:off x="7411009" y="2487168"/>
            <a:ext cx="1600200" cy="822960"/>
          </a:xfrm>
          <a:prstGeom prst="rect">
            <a:avLst/>
          </a:prstGeom>
          <a:noFill/>
          <a:ln/>
        </p:spPr>
        <p:txBody>
          <a:bodyPr wrap="square" lIns="0" tIns="0" rIns="0" bIns="0" rtlCol="0" anchor="ctr"/>
          <a:lstStyle/>
          <a:p>
            <a:pPr algn="r" indent="0" marL="0">
              <a:buNone/>
            </a:pPr>
            <a:r>
              <a:rPr lang="en-US" sz="3400" b="1" dirty="0">
                <a:solidFill>
                  <a:schemeClr val="accent4"/>
                </a:solidFill>
              </a:rPr>
              <a:t>92.9%</a:t>
            </a:r>
            <a:endParaRPr lang="en-US" sz="3400" dirty="0"/>
          </a:p>
        </p:txBody>
      </p:sp>
      <p:sp>
        <p:nvSpPr>
          <p:cNvPr id="15" name="own-a-0"/>
          <p:cNvSpPr txBox="1"/>
          <p:nvPr/>
        </p:nvSpPr>
        <p:spPr>
          <a:xfrm>
            <a:off x="9056929" y="2487168"/>
            <a:ext cx="1097280" cy="822960"/>
          </a:xfrm>
          <a:prstGeom prst="rect">
            <a:avLst/>
          </a:prstGeom>
          <a:noFill/>
          <a:ln/>
        </p:spPr>
        <p:txBody>
          <a:bodyPr wrap="square" lIns="0" tIns="0" rIns="0" bIns="0" rtlCol="0" anchor="ctr"/>
          <a:lstStyle/>
          <a:p>
            <a:pPr algn="r" indent="0" marL="0">
              <a:buNone/>
            </a:pPr>
            <a:r>
              <a:rPr lang="en-US" sz="1800" dirty="0">
                <a:solidFill>
                  <a:schemeClr val="tx1"/>
                </a:solidFill>
              </a:rPr>
              <a:t>0.86</a:t>
            </a:r>
            <a:endParaRPr lang="en-US" sz="1800" dirty="0"/>
          </a:p>
        </p:txBody>
      </p:sp>
      <p:sp>
        <p:nvSpPr>
          <p:cNvPr id="16" name="own-h2-0"/>
          <p:cNvSpPr txBox="1"/>
          <p:nvPr/>
        </p:nvSpPr>
        <p:spPr>
          <a:xfrm>
            <a:off x="10154209" y="2487168"/>
            <a:ext cx="1051560" cy="822960"/>
          </a:xfrm>
          <a:prstGeom prst="rect">
            <a:avLst/>
          </a:prstGeom>
          <a:noFill/>
          <a:ln/>
        </p:spPr>
        <p:txBody>
          <a:bodyPr wrap="square" lIns="0" tIns="0" rIns="0" bIns="0" rtlCol="0" anchor="ctr"/>
          <a:lstStyle/>
          <a:p>
            <a:pPr algn="r" indent="0" marL="0">
              <a:buNone/>
            </a:pPr>
            <a:r>
              <a:rPr lang="en-US" sz="1800" b="1" dirty="0">
                <a:solidFill>
                  <a:schemeClr val="accent2"/>
                </a:solidFill>
              </a:rPr>
              <a:t>47%</a:t>
            </a:r>
            <a:endParaRPr lang="en-US" sz="1800" dirty="0"/>
          </a:p>
        </p:txBody>
      </p:sp>
      <p:sp>
        <p:nvSpPr>
          <p:cNvPr id="17" name="best-badge-bg"/>
          <p:cNvSpPr/>
          <p:nvPr/>
        </p:nvSpPr>
        <p:spPr>
          <a:xfrm>
            <a:off x="6816649" y="2944368"/>
            <a:ext cx="502920" cy="237744"/>
          </a:xfrm>
          <a:prstGeom prst="roundRect">
            <a:avLst>
              <a:gd name="adj" fmla="val 19231"/>
            </a:avLst>
          </a:prstGeom>
          <a:solidFill>
            <a:schemeClr val="accent1">
              <a:alpha val="20000"/>
            </a:schemeClr>
          </a:solidFill>
          <a:ln w="12700">
            <a:solidFill>
              <a:schemeClr val="accent1"/>
            </a:solidFill>
            <a:prstDash val="solid"/>
          </a:ln>
        </p:spPr>
      </p:sp>
      <p:sp>
        <p:nvSpPr>
          <p:cNvPr id="18" name="best-badge"/>
          <p:cNvSpPr txBox="1"/>
          <p:nvPr/>
        </p:nvSpPr>
        <p:spPr>
          <a:xfrm>
            <a:off x="6816649" y="2944368"/>
            <a:ext cx="502920" cy="237744"/>
          </a:xfrm>
          <a:prstGeom prst="rect">
            <a:avLst/>
          </a:prstGeom>
          <a:noFill/>
          <a:ln/>
        </p:spPr>
        <p:txBody>
          <a:bodyPr wrap="square" lIns="0" tIns="0" rIns="0" bIns="0" rtlCol="0" anchor="ctr"/>
          <a:lstStyle/>
          <a:p>
            <a:pPr algn="ctr" indent="0" marL="0">
              <a:buNone/>
            </a:pPr>
            <a:r>
              <a:rPr lang="en-US" sz="1300" b="1" dirty="0">
                <a:solidFill>
                  <a:schemeClr val="accent1"/>
                </a:solidFill>
              </a:rPr>
              <a:t>best</a:t>
            </a:r>
            <a:endParaRPr lang="en-US" sz="1300" dirty="0"/>
          </a:p>
        </p:txBody>
      </p:sp>
      <p:sp>
        <p:nvSpPr>
          <p:cNvPr id="19" name="own-row-1"/>
          <p:cNvSpPr/>
          <p:nvPr/>
        </p:nvSpPr>
        <p:spPr>
          <a:xfrm>
            <a:off x="4896409" y="3566160"/>
            <a:ext cx="6746646" cy="1051560"/>
          </a:xfrm>
          <a:prstGeom prst="roundRect">
            <a:avLst>
              <a:gd name="adj" fmla="val 6957"/>
            </a:avLst>
          </a:prstGeom>
          <a:solidFill>
            <a:schemeClr val="bg2"/>
          </a:solidFill>
          <a:ln/>
        </p:spPr>
      </p:sp>
      <p:sp>
        <p:nvSpPr>
          <p:cNvPr id="20" name="own-dot-1"/>
          <p:cNvSpPr/>
          <p:nvPr/>
        </p:nvSpPr>
        <p:spPr>
          <a:xfrm>
            <a:off x="5125009" y="3794760"/>
            <a:ext cx="146304" cy="146304"/>
          </a:xfrm>
          <a:prstGeom prst="ellipse">
            <a:avLst/>
          </a:prstGeom>
          <a:solidFill>
            <a:schemeClr val="accent5"/>
          </a:solidFill>
          <a:ln/>
        </p:spPr>
      </p:sp>
      <p:sp>
        <p:nvSpPr>
          <p:cNvPr id="21" name="own-n-1"/>
          <p:cNvSpPr txBox="1"/>
          <p:nvPr/>
        </p:nvSpPr>
        <p:spPr>
          <a:xfrm>
            <a:off x="5353609" y="3703320"/>
            <a:ext cx="2103120" cy="320040"/>
          </a:xfrm>
          <a:prstGeom prst="rect">
            <a:avLst/>
          </a:prstGeom>
          <a:noFill/>
          <a:ln/>
        </p:spPr>
        <p:txBody>
          <a:bodyPr wrap="square" lIns="0" tIns="0" rIns="0" bIns="0" rtlCol="0" anchor="t"/>
          <a:lstStyle/>
          <a:p>
            <a:pPr indent="0" marL="0">
              <a:buNone/>
            </a:pPr>
            <a:r>
              <a:rPr lang="en-US" sz="1500" b="1" dirty="0">
                <a:solidFill>
                  <a:schemeClr val="tx1"/>
                </a:solidFill>
              </a:rPr>
              <a:t>YOLOX-S</a:t>
            </a:r>
            <a:endParaRPr lang="en-US" sz="1500" dirty="0"/>
          </a:p>
        </p:txBody>
      </p:sp>
      <p:sp>
        <p:nvSpPr>
          <p:cNvPr id="22" name="own-s-1"/>
          <p:cNvSpPr txBox="1"/>
          <p:nvPr/>
        </p:nvSpPr>
        <p:spPr>
          <a:xfrm>
            <a:off x="5353609" y="4114800"/>
            <a:ext cx="2103120" cy="274320"/>
          </a:xfrm>
          <a:prstGeom prst="rect">
            <a:avLst/>
          </a:prstGeom>
          <a:noFill/>
          <a:ln/>
        </p:spPr>
        <p:txBody>
          <a:bodyPr wrap="square" lIns="0" tIns="0" rIns="0" bIns="0" rtlCol="0" anchor="t"/>
          <a:lstStyle/>
          <a:p>
            <a:pPr indent="0" marL="0">
              <a:buNone/>
            </a:pPr>
            <a:r>
              <a:rPr lang="en-US" sz="1200" dirty="0">
                <a:solidFill>
                  <a:schemeClr val="tx2"/>
                </a:solidFill>
              </a:rPr>
              <a:t>9M · 26.8 GFLOPs</a:t>
            </a:r>
            <a:endParaRPr lang="en-US" sz="1200" dirty="0"/>
          </a:p>
        </p:txBody>
      </p:sp>
      <p:sp>
        <p:nvSpPr>
          <p:cNvPr id="23" name="own-m-1"/>
          <p:cNvSpPr txBox="1"/>
          <p:nvPr/>
        </p:nvSpPr>
        <p:spPr>
          <a:xfrm>
            <a:off x="7411009" y="3675888"/>
            <a:ext cx="1600200" cy="822960"/>
          </a:xfrm>
          <a:prstGeom prst="rect">
            <a:avLst/>
          </a:prstGeom>
          <a:noFill/>
          <a:ln/>
        </p:spPr>
        <p:txBody>
          <a:bodyPr wrap="square" lIns="0" tIns="0" rIns="0" bIns="0" rtlCol="0" anchor="ctr"/>
          <a:lstStyle/>
          <a:p>
            <a:pPr algn="r" indent="0" marL="0">
              <a:buNone/>
            </a:pPr>
            <a:r>
              <a:rPr lang="en-US" sz="3400" b="1" dirty="0">
                <a:solidFill>
                  <a:schemeClr val="accent5"/>
                </a:solidFill>
              </a:rPr>
              <a:t>89.2%</a:t>
            </a:r>
            <a:endParaRPr lang="en-US" sz="3400" dirty="0"/>
          </a:p>
        </p:txBody>
      </p:sp>
      <p:sp>
        <p:nvSpPr>
          <p:cNvPr id="24" name="own-a-1"/>
          <p:cNvSpPr txBox="1"/>
          <p:nvPr/>
        </p:nvSpPr>
        <p:spPr>
          <a:xfrm>
            <a:off x="9056929" y="3675888"/>
            <a:ext cx="1097280" cy="822960"/>
          </a:xfrm>
          <a:prstGeom prst="rect">
            <a:avLst/>
          </a:prstGeom>
          <a:noFill/>
          <a:ln/>
        </p:spPr>
        <p:txBody>
          <a:bodyPr wrap="square" lIns="0" tIns="0" rIns="0" bIns="0" rtlCol="0" anchor="ctr"/>
          <a:lstStyle/>
          <a:p>
            <a:pPr algn="r" indent="0" marL="0">
              <a:buNone/>
            </a:pPr>
            <a:r>
              <a:rPr lang="en-US" sz="1800" dirty="0">
                <a:solidFill>
                  <a:schemeClr val="tx1"/>
                </a:solidFill>
              </a:rPr>
              <a:t>0.78</a:t>
            </a:r>
            <a:endParaRPr lang="en-US" sz="1800" dirty="0"/>
          </a:p>
        </p:txBody>
      </p:sp>
      <p:sp>
        <p:nvSpPr>
          <p:cNvPr id="25" name="own-h2-1"/>
          <p:cNvSpPr txBox="1"/>
          <p:nvPr/>
        </p:nvSpPr>
        <p:spPr>
          <a:xfrm>
            <a:off x="10154209" y="3675888"/>
            <a:ext cx="1051560" cy="822960"/>
          </a:xfrm>
          <a:prstGeom prst="rect">
            <a:avLst/>
          </a:prstGeom>
          <a:noFill/>
          <a:ln/>
        </p:spPr>
        <p:txBody>
          <a:bodyPr wrap="square" lIns="0" tIns="0" rIns="0" bIns="0" rtlCol="0" anchor="ctr"/>
          <a:lstStyle/>
          <a:p>
            <a:pPr algn="r" indent="0" marL="0">
              <a:buNone/>
            </a:pPr>
            <a:r>
              <a:rPr lang="en-US" sz="1800" b="1" dirty="0">
                <a:solidFill>
                  <a:schemeClr val="accent2"/>
                </a:solidFill>
              </a:rPr>
              <a:t>3%</a:t>
            </a:r>
            <a:endParaRPr lang="en-US" sz="1800" dirty="0"/>
          </a:p>
        </p:txBody>
      </p:sp>
      <p:sp>
        <p:nvSpPr>
          <p:cNvPr id="26" name="own-row-2"/>
          <p:cNvSpPr/>
          <p:nvPr/>
        </p:nvSpPr>
        <p:spPr>
          <a:xfrm>
            <a:off x="4896409" y="4754880"/>
            <a:ext cx="6746646" cy="1051560"/>
          </a:xfrm>
          <a:prstGeom prst="roundRect">
            <a:avLst>
              <a:gd name="adj" fmla="val 6957"/>
            </a:avLst>
          </a:prstGeom>
          <a:solidFill>
            <a:schemeClr val="bg2"/>
          </a:solidFill>
          <a:ln/>
        </p:spPr>
      </p:sp>
      <p:sp>
        <p:nvSpPr>
          <p:cNvPr id="27" name="own-dot-2"/>
          <p:cNvSpPr/>
          <p:nvPr/>
        </p:nvSpPr>
        <p:spPr>
          <a:xfrm>
            <a:off x="5125009" y="4983480"/>
            <a:ext cx="146304" cy="146304"/>
          </a:xfrm>
          <a:prstGeom prst="ellipse">
            <a:avLst/>
          </a:prstGeom>
          <a:solidFill>
            <a:schemeClr val="accent6"/>
          </a:solidFill>
          <a:ln/>
        </p:spPr>
      </p:sp>
      <p:sp>
        <p:nvSpPr>
          <p:cNvPr id="28" name="own-n-2"/>
          <p:cNvSpPr txBox="1"/>
          <p:nvPr/>
        </p:nvSpPr>
        <p:spPr>
          <a:xfrm>
            <a:off x="5353609" y="4892040"/>
            <a:ext cx="2103120" cy="320040"/>
          </a:xfrm>
          <a:prstGeom prst="rect">
            <a:avLst/>
          </a:prstGeom>
          <a:noFill/>
          <a:ln/>
        </p:spPr>
        <p:txBody>
          <a:bodyPr wrap="square" lIns="0" tIns="0" rIns="0" bIns="0" rtlCol="0" anchor="t"/>
          <a:lstStyle/>
          <a:p>
            <a:pPr indent="0" marL="0">
              <a:buNone/>
            </a:pPr>
            <a:r>
              <a:rPr lang="en-US" sz="1500" b="1" dirty="0">
                <a:solidFill>
                  <a:schemeClr val="tx1"/>
                </a:solidFill>
              </a:rPr>
              <a:t>YOLOX-Tiny</a:t>
            </a:r>
            <a:endParaRPr lang="en-US" sz="1500" dirty="0"/>
          </a:p>
        </p:txBody>
      </p:sp>
      <p:sp>
        <p:nvSpPr>
          <p:cNvPr id="29" name="own-s-2"/>
          <p:cNvSpPr txBox="1"/>
          <p:nvPr/>
        </p:nvSpPr>
        <p:spPr>
          <a:xfrm>
            <a:off x="5353609" y="5303520"/>
            <a:ext cx="2103120" cy="274320"/>
          </a:xfrm>
          <a:prstGeom prst="rect">
            <a:avLst/>
          </a:prstGeom>
          <a:noFill/>
          <a:ln/>
        </p:spPr>
        <p:txBody>
          <a:bodyPr wrap="square" lIns="0" tIns="0" rIns="0" bIns="0" rtlCol="0" anchor="t"/>
          <a:lstStyle/>
          <a:p>
            <a:pPr indent="0" marL="0">
              <a:buNone/>
            </a:pPr>
            <a:r>
              <a:rPr lang="en-US" sz="1200" dirty="0">
                <a:solidFill>
                  <a:schemeClr val="tx2"/>
                </a:solidFill>
              </a:rPr>
              <a:t>5.06M · 6.45 GFLOPs</a:t>
            </a:r>
            <a:endParaRPr lang="en-US" sz="1200" dirty="0"/>
          </a:p>
        </p:txBody>
      </p:sp>
      <p:sp>
        <p:nvSpPr>
          <p:cNvPr id="30" name="own-m-2"/>
          <p:cNvSpPr txBox="1"/>
          <p:nvPr/>
        </p:nvSpPr>
        <p:spPr>
          <a:xfrm>
            <a:off x="7411009" y="4864608"/>
            <a:ext cx="1600200" cy="822960"/>
          </a:xfrm>
          <a:prstGeom prst="rect">
            <a:avLst/>
          </a:prstGeom>
          <a:noFill/>
          <a:ln/>
        </p:spPr>
        <p:txBody>
          <a:bodyPr wrap="square" lIns="0" tIns="0" rIns="0" bIns="0" rtlCol="0" anchor="ctr"/>
          <a:lstStyle/>
          <a:p>
            <a:pPr algn="r" indent="0" marL="0">
              <a:buNone/>
            </a:pPr>
            <a:r>
              <a:rPr lang="en-US" sz="3400" b="1" dirty="0">
                <a:solidFill>
                  <a:schemeClr val="accent6"/>
                </a:solidFill>
              </a:rPr>
              <a:t>83.2%</a:t>
            </a:r>
            <a:endParaRPr lang="en-US" sz="3400" dirty="0"/>
          </a:p>
        </p:txBody>
      </p:sp>
      <p:sp>
        <p:nvSpPr>
          <p:cNvPr id="31" name="own-a-2"/>
          <p:cNvSpPr txBox="1"/>
          <p:nvPr/>
        </p:nvSpPr>
        <p:spPr>
          <a:xfrm>
            <a:off x="9056929" y="4864608"/>
            <a:ext cx="1097280" cy="822960"/>
          </a:xfrm>
          <a:prstGeom prst="rect">
            <a:avLst/>
          </a:prstGeom>
          <a:noFill/>
          <a:ln/>
        </p:spPr>
        <p:txBody>
          <a:bodyPr wrap="square" lIns="0" tIns="0" rIns="0" bIns="0" rtlCol="0" anchor="ctr"/>
          <a:lstStyle/>
          <a:p>
            <a:pPr algn="r" indent="0" marL="0">
              <a:buNone/>
            </a:pPr>
            <a:r>
              <a:rPr lang="en-US" sz="1800" dirty="0">
                <a:solidFill>
                  <a:schemeClr val="tx1"/>
                </a:solidFill>
              </a:rPr>
              <a:t>0.66</a:t>
            </a:r>
            <a:endParaRPr lang="en-US" sz="1800" dirty="0"/>
          </a:p>
        </p:txBody>
      </p:sp>
      <p:sp>
        <p:nvSpPr>
          <p:cNvPr id="32" name="own-h2-2"/>
          <p:cNvSpPr txBox="1"/>
          <p:nvPr/>
        </p:nvSpPr>
        <p:spPr>
          <a:xfrm>
            <a:off x="10154209" y="4864608"/>
            <a:ext cx="1051560" cy="822960"/>
          </a:xfrm>
          <a:prstGeom prst="rect">
            <a:avLst/>
          </a:prstGeom>
          <a:noFill/>
          <a:ln/>
        </p:spPr>
        <p:txBody>
          <a:bodyPr wrap="square" lIns="0" tIns="0" rIns="0" bIns="0" rtlCol="0" anchor="ctr"/>
          <a:lstStyle/>
          <a:p>
            <a:pPr algn="r" indent="0" marL="0">
              <a:buNone/>
            </a:pPr>
            <a:r>
              <a:rPr lang="en-US" sz="1800" b="1" dirty="0">
                <a:solidFill>
                  <a:schemeClr val="accent2"/>
                </a:solidFill>
              </a:rPr>
              <a:t>47%</a:t>
            </a:r>
            <a:endParaRPr lang="en-US" sz="1800" dirty="0"/>
          </a:p>
        </p:txBody>
      </p:sp>
      <p:sp>
        <p:nvSpPr>
          <p:cNvPr id="33" name="own-note-bg"/>
          <p:cNvSpPr/>
          <p:nvPr/>
        </p:nvSpPr>
        <p:spPr>
          <a:xfrm>
            <a:off x="4896409" y="5943600"/>
            <a:ext cx="6746646" cy="384048"/>
          </a:xfrm>
          <a:prstGeom prst="roundRect">
            <a:avLst>
              <a:gd name="adj" fmla="val 11905"/>
            </a:avLst>
          </a:prstGeom>
          <a:solidFill>
            <a:schemeClr val="accent1">
              <a:alpha val="20000"/>
            </a:schemeClr>
          </a:solidFill>
          <a:ln w="12700">
            <a:solidFill>
              <a:schemeClr val="accent1"/>
            </a:solidFill>
            <a:prstDash val="solid"/>
          </a:ln>
        </p:spPr>
      </p:sp>
      <p:sp>
        <p:nvSpPr>
          <p:cNvPr id="34" name="own-note"/>
          <p:cNvSpPr txBox="1"/>
          <p:nvPr/>
        </p:nvSpPr>
        <p:spPr>
          <a:xfrm>
            <a:off x="4896409" y="5943600"/>
            <a:ext cx="6746646" cy="384048"/>
          </a:xfrm>
          <a:prstGeom prst="rect">
            <a:avLst/>
          </a:prstGeom>
          <a:noFill/>
          <a:ln/>
        </p:spPr>
        <p:txBody>
          <a:bodyPr wrap="square" lIns="0" tIns="0" rIns="0" bIns="0" rtlCol="0" anchor="ctr"/>
          <a:lstStyle/>
          <a:p>
            <a:pPr algn="ctr" indent="0" marL="0">
              <a:buNone/>
            </a:pPr>
            <a:r>
              <a:rPr lang="en-US" sz="1300" b="1" dirty="0">
                <a:solidFill>
                  <a:schemeClr val="accent1"/>
                </a:solidFill>
              </a:rPr>
              <a:t>32px 미만 박스 AP: ATSS 0.86 · YOLOX-S 0.80</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높은 수치, 숨은 함정</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ctr"/>
          <a:lstStyle/>
          <a:p>
            <a:pPr algn="l" indent="0" marL="0">
              <a:buNone/>
            </a:pPr>
            <a:r>
              <a:rPr lang="en-US" sz="1500" dirty="0">
                <a:solidFill>
                  <a:schemeClr val="tx2"/>
                </a:solidFill>
              </a:rPr>
              <a:t>1차 테스트 93%, but 과적합 학습 데이터</a:t>
            </a:r>
            <a:endParaRPr lang="en-US" sz="1500" dirty="0"/>
          </a:p>
        </p:txBody>
      </p:sp>
      <p:sp>
        <p:nvSpPr>
          <p:cNvPr id="4" name="stat-0"/>
          <p:cNvSpPr/>
          <p:nvPr/>
        </p:nvSpPr>
        <p:spPr>
          <a:xfrm>
            <a:off x="548640" y="1600200"/>
            <a:ext cx="3840480" cy="1371600"/>
          </a:xfrm>
          <a:prstGeom prst="roundRect">
            <a:avLst>
              <a:gd name="adj" fmla="val 5333"/>
            </a:avLst>
          </a:prstGeom>
          <a:solidFill>
            <a:schemeClr val="bg2"/>
          </a:solidFill>
          <a:ln/>
        </p:spPr>
      </p:sp>
      <p:sp>
        <p:nvSpPr>
          <p:cNvPr id="5" name="stat-n-0"/>
          <p:cNvSpPr txBox="1"/>
          <p:nvPr/>
        </p:nvSpPr>
        <p:spPr>
          <a:xfrm>
            <a:off x="822960" y="1737360"/>
            <a:ext cx="3383280" cy="685800"/>
          </a:xfrm>
          <a:prstGeom prst="rect">
            <a:avLst/>
          </a:prstGeom>
          <a:noFill/>
          <a:ln/>
        </p:spPr>
        <p:txBody>
          <a:bodyPr wrap="square" lIns="0" tIns="0" rIns="0" bIns="0" rtlCol="0" anchor="t"/>
          <a:lstStyle/>
          <a:p>
            <a:pPr indent="0" marL="0">
              <a:buNone/>
            </a:pPr>
            <a:r>
              <a:rPr lang="en-US" sz="3200" b="1" dirty="0">
                <a:solidFill>
                  <a:schemeClr val="accent3"/>
                </a:solidFill>
              </a:rPr>
              <a:t>3,673장</a:t>
            </a:r>
            <a:endParaRPr lang="en-US" sz="3200" dirty="0"/>
          </a:p>
        </p:txBody>
      </p:sp>
      <p:sp>
        <p:nvSpPr>
          <p:cNvPr id="6" name="stat-l-0"/>
          <p:cNvSpPr txBox="1"/>
          <p:nvPr/>
        </p:nvSpPr>
        <p:spPr>
          <a:xfrm>
            <a:off x="822960" y="2423160"/>
            <a:ext cx="3383280" cy="365760"/>
          </a:xfrm>
          <a:prstGeom prst="rect">
            <a:avLst/>
          </a:prstGeom>
          <a:noFill/>
          <a:ln/>
        </p:spPr>
        <p:txBody>
          <a:bodyPr wrap="square" lIns="0" tIns="0" rIns="0" bIns="0" rtlCol="0" anchor="t"/>
          <a:lstStyle/>
          <a:p>
            <a:pPr indent="0" marL="0">
              <a:buNone/>
            </a:pPr>
            <a:r>
              <a:rPr lang="en-US" sz="1400" dirty="0">
                <a:solidFill>
                  <a:schemeClr val="tx2"/>
                </a:solidFill>
              </a:rPr>
              <a:t>테스트 153장 포함 업로드</a:t>
            </a:r>
            <a:endParaRPr lang="en-US" sz="1400" dirty="0"/>
          </a:p>
        </p:txBody>
      </p:sp>
      <p:sp>
        <p:nvSpPr>
          <p:cNvPr id="7" name="stat-1"/>
          <p:cNvSpPr/>
          <p:nvPr/>
        </p:nvSpPr>
        <p:spPr>
          <a:xfrm>
            <a:off x="548640" y="3108960"/>
            <a:ext cx="3840480" cy="1371600"/>
          </a:xfrm>
          <a:prstGeom prst="roundRect">
            <a:avLst>
              <a:gd name="adj" fmla="val 5333"/>
            </a:avLst>
          </a:prstGeom>
          <a:solidFill>
            <a:schemeClr val="bg2"/>
          </a:solidFill>
          <a:ln/>
        </p:spPr>
      </p:sp>
      <p:sp>
        <p:nvSpPr>
          <p:cNvPr id="8" name="stat-n-1"/>
          <p:cNvSpPr txBox="1"/>
          <p:nvPr/>
        </p:nvSpPr>
        <p:spPr>
          <a:xfrm>
            <a:off x="822960" y="3246120"/>
            <a:ext cx="3383280" cy="685800"/>
          </a:xfrm>
          <a:prstGeom prst="rect">
            <a:avLst/>
          </a:prstGeom>
          <a:noFill/>
          <a:ln/>
        </p:spPr>
        <p:txBody>
          <a:bodyPr wrap="square" lIns="0" tIns="0" rIns="0" bIns="0" rtlCol="0" anchor="t"/>
          <a:lstStyle/>
          <a:p>
            <a:pPr indent="0" marL="0">
              <a:buNone/>
            </a:pPr>
            <a:r>
              <a:rPr lang="en-US" sz="3200" b="1" dirty="0">
                <a:solidFill>
                  <a:schemeClr val="accent3"/>
                </a:solidFill>
              </a:rPr>
              <a:t>22장</a:t>
            </a:r>
            <a:endParaRPr lang="en-US" sz="3200" dirty="0"/>
          </a:p>
        </p:txBody>
      </p:sp>
      <p:sp>
        <p:nvSpPr>
          <p:cNvPr id="9" name="stat-l-1"/>
          <p:cNvSpPr txBox="1"/>
          <p:nvPr/>
        </p:nvSpPr>
        <p:spPr>
          <a:xfrm>
            <a:off x="822960" y="3931920"/>
            <a:ext cx="3383280" cy="365760"/>
          </a:xfrm>
          <a:prstGeom prst="rect">
            <a:avLst/>
          </a:prstGeom>
          <a:noFill/>
          <a:ln/>
        </p:spPr>
        <p:txBody>
          <a:bodyPr wrap="square" lIns="0" tIns="0" rIns="0" bIns="0" rtlCol="0" anchor="t"/>
          <a:lstStyle/>
          <a:p>
            <a:pPr indent="0" marL="0">
              <a:buNone/>
            </a:pPr>
            <a:r>
              <a:rPr lang="en-US" sz="1400" dirty="0">
                <a:solidFill>
                  <a:schemeClr val="tx2"/>
                </a:solidFill>
              </a:rPr>
              <a:t>학습 사진의 복사본</a:t>
            </a:r>
            <a:endParaRPr lang="en-US" sz="1400" dirty="0"/>
          </a:p>
        </p:txBody>
      </p:sp>
      <p:sp>
        <p:nvSpPr>
          <p:cNvPr id="10" name="stat-2"/>
          <p:cNvSpPr/>
          <p:nvPr/>
        </p:nvSpPr>
        <p:spPr>
          <a:xfrm>
            <a:off x="548640" y="4617720"/>
            <a:ext cx="3840480" cy="1371600"/>
          </a:xfrm>
          <a:prstGeom prst="roundRect">
            <a:avLst>
              <a:gd name="adj" fmla="val 5333"/>
            </a:avLst>
          </a:prstGeom>
          <a:solidFill>
            <a:schemeClr val="bg2"/>
          </a:solidFill>
          <a:ln/>
        </p:spPr>
      </p:sp>
      <p:sp>
        <p:nvSpPr>
          <p:cNvPr id="11" name="stat-n-2"/>
          <p:cNvSpPr txBox="1"/>
          <p:nvPr/>
        </p:nvSpPr>
        <p:spPr>
          <a:xfrm>
            <a:off x="822960" y="4754880"/>
            <a:ext cx="3383280" cy="685800"/>
          </a:xfrm>
          <a:prstGeom prst="rect">
            <a:avLst/>
          </a:prstGeom>
          <a:noFill/>
          <a:ln/>
        </p:spPr>
        <p:txBody>
          <a:bodyPr wrap="square" lIns="0" tIns="0" rIns="0" bIns="0" rtlCol="0" anchor="t"/>
          <a:lstStyle/>
          <a:p>
            <a:pPr indent="0" marL="0">
              <a:buNone/>
            </a:pPr>
            <a:r>
              <a:rPr lang="en-US" sz="3200" b="1" dirty="0">
                <a:solidFill>
                  <a:schemeClr val="accent1"/>
                </a:solidFill>
              </a:rPr>
              <a:t>93.3 → 92.9%</a:t>
            </a:r>
            <a:endParaRPr lang="en-US" sz="3200" dirty="0"/>
          </a:p>
        </p:txBody>
      </p:sp>
      <p:sp>
        <p:nvSpPr>
          <p:cNvPr id="12" name="stat-l-2"/>
          <p:cNvSpPr txBox="1"/>
          <p:nvPr/>
        </p:nvSpPr>
        <p:spPr>
          <a:xfrm>
            <a:off x="822960" y="5440680"/>
            <a:ext cx="3383280" cy="365760"/>
          </a:xfrm>
          <a:prstGeom prst="rect">
            <a:avLst/>
          </a:prstGeom>
          <a:noFill/>
          <a:ln/>
        </p:spPr>
        <p:txBody>
          <a:bodyPr wrap="square" lIns="0" tIns="0" rIns="0" bIns="0" rtlCol="0" anchor="t"/>
          <a:lstStyle/>
          <a:p>
            <a:pPr indent="0" marL="0">
              <a:buNone/>
            </a:pPr>
            <a:r>
              <a:rPr lang="en-US" sz="1400" dirty="0">
                <a:solidFill>
                  <a:schemeClr val="tx2"/>
                </a:solidFill>
              </a:rPr>
              <a:t>복사본 제거 후 mAP@50</a:t>
            </a:r>
            <a:endParaRPr lang="en-US" sz="1400" dirty="0"/>
          </a:p>
        </p:txBody>
      </p:sp>
      <p:pic>
        <p:nvPicPr>
          <p:cNvPr id="13" name="dup-0" descr="C:\Users\user\_se4nchoi\batteryvision\docs\submission\build\img\dup_test.jpg">    </p:cNvPr>
          <p:cNvPicPr>
            <a:picLocks noChangeAspect="1"/>
          </p:cNvPicPr>
          <p:nvPr/>
        </p:nvPicPr>
        <p:blipFill>
          <a:blip r:embed="rId1"/>
          <a:stretch>
            <a:fillRect/>
          </a:stretch>
        </p:blipFill>
        <p:spPr>
          <a:xfrm>
            <a:off x="4617720" y="1600200"/>
            <a:ext cx="3429000" cy="3429000"/>
          </a:xfrm>
          <a:prstGeom prst="rect">
            <a:avLst/>
          </a:prstGeom>
        </p:spPr>
      </p:pic>
      <p:sp>
        <p:nvSpPr>
          <p:cNvPr id="14" name="dup-l-0-bg"/>
          <p:cNvSpPr/>
          <p:nvPr/>
        </p:nvSpPr>
        <p:spPr>
          <a:xfrm>
            <a:off x="4617720" y="5166360"/>
            <a:ext cx="914400" cy="347472"/>
          </a:xfrm>
          <a:prstGeom prst="roundRect">
            <a:avLst>
              <a:gd name="adj" fmla="val 13158"/>
            </a:avLst>
          </a:prstGeom>
          <a:solidFill>
            <a:schemeClr val="accent3">
              <a:alpha val="20000"/>
            </a:schemeClr>
          </a:solidFill>
          <a:ln w="12700">
            <a:solidFill>
              <a:schemeClr val="accent3"/>
            </a:solidFill>
            <a:prstDash val="solid"/>
          </a:ln>
        </p:spPr>
      </p:sp>
      <p:sp>
        <p:nvSpPr>
          <p:cNvPr id="15" name="dup-l-0"/>
          <p:cNvSpPr txBox="1"/>
          <p:nvPr/>
        </p:nvSpPr>
        <p:spPr>
          <a:xfrm>
            <a:off x="4617720" y="5166360"/>
            <a:ext cx="914400" cy="347472"/>
          </a:xfrm>
          <a:prstGeom prst="rect">
            <a:avLst/>
          </a:prstGeom>
          <a:noFill/>
          <a:ln/>
        </p:spPr>
        <p:txBody>
          <a:bodyPr wrap="square" lIns="0" tIns="0" rIns="0" bIns="0" rtlCol="0" anchor="ctr"/>
          <a:lstStyle/>
          <a:p>
            <a:pPr algn="ctr" indent="0" marL="0">
              <a:buNone/>
            </a:pPr>
            <a:r>
              <a:rPr lang="en-US" sz="1300" b="1" dirty="0">
                <a:solidFill>
                  <a:schemeClr val="accent3"/>
                </a:solidFill>
              </a:rPr>
              <a:t>테스트</a:t>
            </a:r>
            <a:endParaRPr lang="en-US" sz="1300" dirty="0"/>
          </a:p>
        </p:txBody>
      </p:sp>
      <p:pic>
        <p:nvPicPr>
          <p:cNvPr id="16" name="dup-1" descr="C:\Users\user\_se4nchoi\batteryvision\docs\submission\build\img\dup_train.jpg">    </p:cNvPr>
          <p:cNvPicPr>
            <a:picLocks noChangeAspect="1"/>
          </p:cNvPicPr>
          <p:nvPr/>
        </p:nvPicPr>
        <p:blipFill>
          <a:blip r:embed="rId2"/>
          <a:stretch>
            <a:fillRect/>
          </a:stretch>
        </p:blipFill>
        <p:spPr>
          <a:xfrm>
            <a:off x="8183880" y="1600200"/>
            <a:ext cx="3429000" cy="3429000"/>
          </a:xfrm>
          <a:prstGeom prst="rect">
            <a:avLst/>
          </a:prstGeom>
        </p:spPr>
      </p:pic>
      <p:sp>
        <p:nvSpPr>
          <p:cNvPr id="17" name="dup-l-1-bg"/>
          <p:cNvSpPr/>
          <p:nvPr/>
        </p:nvSpPr>
        <p:spPr>
          <a:xfrm>
            <a:off x="8183880" y="5166360"/>
            <a:ext cx="914400" cy="347472"/>
          </a:xfrm>
          <a:prstGeom prst="roundRect">
            <a:avLst>
              <a:gd name="adj" fmla="val 13158"/>
            </a:avLst>
          </a:prstGeom>
          <a:solidFill>
            <a:schemeClr val="accent1">
              <a:alpha val="20000"/>
            </a:schemeClr>
          </a:solidFill>
          <a:ln w="12700">
            <a:solidFill>
              <a:schemeClr val="accent1"/>
            </a:solidFill>
            <a:prstDash val="solid"/>
          </a:ln>
        </p:spPr>
      </p:sp>
      <p:sp>
        <p:nvSpPr>
          <p:cNvPr id="18" name="dup-l-1"/>
          <p:cNvSpPr txBox="1"/>
          <p:nvPr/>
        </p:nvSpPr>
        <p:spPr>
          <a:xfrm>
            <a:off x="8183880" y="5166360"/>
            <a:ext cx="914400" cy="347472"/>
          </a:xfrm>
          <a:prstGeom prst="rect">
            <a:avLst/>
          </a:prstGeom>
          <a:noFill/>
          <a:ln/>
        </p:spPr>
        <p:txBody>
          <a:bodyPr wrap="square" lIns="0" tIns="0" rIns="0" bIns="0" rtlCol="0" anchor="ctr"/>
          <a:lstStyle/>
          <a:p>
            <a:pPr algn="ctr" indent="0" marL="0">
              <a:buNone/>
            </a:pPr>
            <a:r>
              <a:rPr lang="en-US" sz="1300" b="1" dirty="0">
                <a:solidFill>
                  <a:schemeClr val="accent1"/>
                </a:solidFill>
              </a:rPr>
              <a:t>학습</a:t>
            </a:r>
            <a:endParaRPr lang="en-US" sz="1300" dirty="0"/>
          </a:p>
        </p:txBody>
      </p:sp>
      <p:sp>
        <p:nvSpPr>
          <p:cNvPr id="19" name="dup-cap"/>
          <p:cNvSpPr txBox="1"/>
          <p:nvPr/>
        </p:nvSpPr>
        <p:spPr>
          <a:xfrm>
            <a:off x="9144000" y="5166360"/>
            <a:ext cx="2468880" cy="347472"/>
          </a:xfrm>
          <a:prstGeom prst="rect">
            <a:avLst/>
          </a:prstGeom>
          <a:noFill/>
          <a:ln/>
        </p:spPr>
        <p:txBody>
          <a:bodyPr wrap="square" lIns="0" tIns="0" rIns="0" bIns="0" rtlCol="0" anchor="ctr"/>
          <a:lstStyle/>
          <a:p>
            <a:pPr algn="r" indent="0" marL="0">
              <a:buNone/>
            </a:pPr>
            <a:r>
              <a:rPr lang="en-US" sz="1200" dirty="0">
                <a:solidFill>
                  <a:schemeClr val="tx2"/>
                </a:solidFill>
              </a:rPr>
              <a:t>dHash 거리 4 / 256</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오류 분석</a:t>
            </a:r>
            <a:endParaRPr lang="en-US" sz="3200" dirty="0"/>
          </a:p>
        </p:txBody>
      </p:sp>
      <p:sp>
        <p:nvSpPr>
          <p:cNvPr id="3" name="concl-0-bg"/>
          <p:cNvSpPr/>
          <p:nvPr/>
        </p:nvSpPr>
        <p:spPr>
          <a:xfrm>
            <a:off x="548640" y="1600200"/>
            <a:ext cx="2240280" cy="502920"/>
          </a:xfrm>
          <a:prstGeom prst="roundRect">
            <a:avLst>
              <a:gd name="adj" fmla="val 9091"/>
            </a:avLst>
          </a:prstGeom>
          <a:solidFill>
            <a:schemeClr val="accent1">
              <a:alpha val="20000"/>
            </a:schemeClr>
          </a:solidFill>
          <a:ln w="12700">
            <a:solidFill>
              <a:schemeClr val="accent1"/>
            </a:solidFill>
            <a:prstDash val="solid"/>
          </a:ln>
        </p:spPr>
      </p:sp>
      <p:sp>
        <p:nvSpPr>
          <p:cNvPr id="4" name="concl-0"/>
          <p:cNvSpPr txBox="1"/>
          <p:nvPr/>
        </p:nvSpPr>
        <p:spPr>
          <a:xfrm>
            <a:off x="548640" y="1600200"/>
            <a:ext cx="2240280" cy="502920"/>
          </a:xfrm>
          <a:prstGeom prst="rect">
            <a:avLst/>
          </a:prstGeom>
          <a:noFill/>
          <a:ln/>
        </p:spPr>
        <p:txBody>
          <a:bodyPr wrap="square" lIns="0" tIns="0" rIns="0" bIns="0" rtlCol="0" anchor="ctr"/>
          <a:lstStyle/>
          <a:p>
            <a:pPr algn="ctr" indent="0" marL="0">
              <a:buNone/>
            </a:pPr>
            <a:r>
              <a:rPr lang="en-US" sz="1300" b="1" dirty="0">
                <a:solidFill>
                  <a:schemeClr val="accent1"/>
                </a:solidFill>
              </a:rPr>
              <a:t>혼동 0건</a:t>
            </a:r>
            <a:endParaRPr lang="en-US" sz="1300" dirty="0"/>
          </a:p>
        </p:txBody>
      </p:sp>
      <p:sp>
        <p:nvSpPr>
          <p:cNvPr id="5" name="concl-1-bg"/>
          <p:cNvSpPr/>
          <p:nvPr/>
        </p:nvSpPr>
        <p:spPr>
          <a:xfrm>
            <a:off x="2926080" y="1600200"/>
            <a:ext cx="2240280" cy="502920"/>
          </a:xfrm>
          <a:prstGeom prst="roundRect">
            <a:avLst>
              <a:gd name="adj" fmla="val 9091"/>
            </a:avLst>
          </a:prstGeom>
          <a:solidFill>
            <a:schemeClr val="accent2">
              <a:alpha val="20000"/>
            </a:schemeClr>
          </a:solidFill>
          <a:ln w="12700">
            <a:solidFill>
              <a:schemeClr val="accent2"/>
            </a:solidFill>
            <a:prstDash val="solid"/>
          </a:ln>
        </p:spPr>
      </p:sp>
      <p:sp>
        <p:nvSpPr>
          <p:cNvPr id="6" name="concl-1"/>
          <p:cNvSpPr txBox="1"/>
          <p:nvPr/>
        </p:nvSpPr>
        <p:spPr>
          <a:xfrm>
            <a:off x="2926080" y="1600200"/>
            <a:ext cx="2240280" cy="502920"/>
          </a:xfrm>
          <a:prstGeom prst="rect">
            <a:avLst/>
          </a:prstGeom>
          <a:noFill/>
          <a:ln/>
        </p:spPr>
        <p:txBody>
          <a:bodyPr wrap="square" lIns="0" tIns="0" rIns="0" bIns="0" rtlCol="0" anchor="ctr"/>
          <a:lstStyle/>
          <a:p>
            <a:pPr algn="ctr" indent="0" marL="0">
              <a:buNone/>
            </a:pPr>
            <a:r>
              <a:rPr lang="en-US" sz="1300" b="1" dirty="0">
                <a:solidFill>
                  <a:schemeClr val="accent2"/>
                </a:solidFill>
              </a:rPr>
              <a:t>놓친 scratch 19</a:t>
            </a:r>
            <a:endParaRPr lang="en-US" sz="1300" dirty="0"/>
          </a:p>
        </p:txBody>
      </p:sp>
      <p:sp>
        <p:nvSpPr>
          <p:cNvPr id="7" name="concl-2-bg"/>
          <p:cNvSpPr/>
          <p:nvPr/>
        </p:nvSpPr>
        <p:spPr>
          <a:xfrm>
            <a:off x="5303520" y="1600200"/>
            <a:ext cx="2240280" cy="502920"/>
          </a:xfrm>
          <a:prstGeom prst="roundRect">
            <a:avLst>
              <a:gd name="adj" fmla="val 9091"/>
            </a:avLst>
          </a:prstGeom>
          <a:solidFill>
            <a:schemeClr val="accent2">
              <a:alpha val="20000"/>
            </a:schemeClr>
          </a:solidFill>
          <a:ln w="12700">
            <a:solidFill>
              <a:schemeClr val="accent2"/>
            </a:solidFill>
            <a:prstDash val="solid"/>
          </a:ln>
        </p:spPr>
      </p:sp>
      <p:sp>
        <p:nvSpPr>
          <p:cNvPr id="8" name="concl-2"/>
          <p:cNvSpPr txBox="1"/>
          <p:nvPr/>
        </p:nvSpPr>
        <p:spPr>
          <a:xfrm>
            <a:off x="5303520" y="1600200"/>
            <a:ext cx="2240280" cy="502920"/>
          </a:xfrm>
          <a:prstGeom prst="rect">
            <a:avLst/>
          </a:prstGeom>
          <a:noFill/>
          <a:ln/>
        </p:spPr>
        <p:txBody>
          <a:bodyPr wrap="square" lIns="0" tIns="0" rIns="0" bIns="0" rtlCol="0" anchor="ctr"/>
          <a:lstStyle/>
          <a:p>
            <a:pPr algn="ctr" indent="0" marL="0">
              <a:buNone/>
            </a:pPr>
            <a:r>
              <a:rPr lang="en-US" sz="1300" b="1" dirty="0">
                <a:solidFill>
                  <a:schemeClr val="accent2"/>
                </a:solidFill>
              </a:rPr>
              <a:t>나무 배경 33%</a:t>
            </a:r>
            <a:endParaRPr lang="en-US" sz="1300" dirty="0"/>
          </a:p>
        </p:txBody>
      </p:sp>
      <p:sp>
        <p:nvSpPr>
          <p:cNvPr id="9" name="ctx"/>
          <p:cNvSpPr txBox="1"/>
          <p:nvPr/>
        </p:nvSpPr>
        <p:spPr>
          <a:xfrm>
            <a:off x="7772400" y="1600200"/>
            <a:ext cx="3867912" cy="502920"/>
          </a:xfrm>
          <a:prstGeom prst="rect">
            <a:avLst/>
          </a:prstGeom>
          <a:noFill/>
          <a:ln/>
        </p:spPr>
        <p:txBody>
          <a:bodyPr wrap="square" lIns="0" tIns="0" rIns="0" bIns="0" rtlCol="0" anchor="ctr"/>
          <a:lstStyle/>
          <a:p>
            <a:pPr algn="r" indent="0" marL="0">
              <a:buNone/>
            </a:pPr>
            <a:r>
              <a:rPr lang="en-US" sz="1200" dirty="0">
                <a:solidFill>
                  <a:schemeClr val="tx2"/>
                </a:solidFill>
              </a:rPr>
              <a:t>ATSS · 기준 0.30</a:t>
            </a:r>
            <a:endParaRPr lang="en-US" sz="1200" dirty="0"/>
          </a:p>
        </p:txBody>
      </p:sp>
      <p:graphicFrame>
        <p:nvGraphicFramePr>
          <p:cNvPr id="7" name="confusion"/>
          <p:cNvGraphicFramePr>
            <a:graphicFrameLocks noGrp="1"/>
          </p:cNvGraphicFramePr>
          <p:nvPr>
            <p:extLst>
              <p:ext uri="{D42A27DB-BD31-4B8C-83A1-F6EECF244321}">
                <p14:modId xmlns:p14="http://schemas.microsoft.com/office/powerpoint/2010/main" val="1579011935"/>
              </p:ext>
            </p:extLst>
          </p:nvPr>
        </p:nvGraphicFramePr>
        <p:xfrm>
          <a:off x="548640" y="2377440"/>
          <a:ext cx="6035040" cy="914400"/>
        </p:xfrm>
        <a:graphic>
          <a:graphicData uri="http://schemas.openxmlformats.org/drawingml/2006/table">
            <a:tbl>
              <a:tblPr/>
              <a:tblGrid>
                <a:gridCol w="1920240"/>
                <a:gridCol w="1371600"/>
                <a:gridCol w="1371600"/>
                <a:gridCol w="1371600"/>
              </a:tblGrid>
              <a:tr h="566928">
                <a:tc>
                  <a:txBody>
                    <a:bodyPr/>
                    <a:lstStyle/>
                    <a:p>
                      <a:pPr algn="l" indent="0" marL="0">
                        <a:buNone/>
                      </a:pPr>
                      <a:r>
                        <a:rPr lang="en-US" sz="1600" b="1" dirty="0">
                          <a:solidFill>
                            <a:schemeClr val="tx2"/>
                          </a:solidFill>
                          <a:latin typeface="Malgun Gothic" pitchFamily="34" charset="0"/>
                          <a:ea typeface="Malgun Gothic" pitchFamily="34" charset="-122"/>
                          <a:cs typeface="Malgun Gothic" pitchFamily="34" charset="-120"/>
                        </a:rPr>
                        <a:t>정답 ↓  예측 →</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600" b="1" dirty="0">
                          <a:solidFill>
                            <a:schemeClr val="tx2"/>
                          </a:solidFill>
                          <a:latin typeface="Malgun Gothic" pitchFamily="34" charset="0"/>
                          <a:ea typeface="Malgun Gothic" pitchFamily="34" charset="-122"/>
                          <a:cs typeface="Malgun Gothic" pitchFamily="34" charset="-120"/>
                        </a:rPr>
                        <a:t>crack</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600" b="1" dirty="0">
                          <a:solidFill>
                            <a:schemeClr val="tx2"/>
                          </a:solidFill>
                          <a:latin typeface="Malgun Gothic" pitchFamily="34" charset="0"/>
                          <a:ea typeface="Malgun Gothic" pitchFamily="34" charset="-122"/>
                          <a:cs typeface="Malgun Gothic" pitchFamily="34" charset="-120"/>
                        </a:rPr>
                        <a:t>scratch</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600" b="1" dirty="0">
                          <a:solidFill>
                            <a:schemeClr val="tx2"/>
                          </a:solidFill>
                          <a:latin typeface="Malgun Gothic" pitchFamily="34" charset="0"/>
                          <a:ea typeface="Malgun Gothic" pitchFamily="34" charset="-122"/>
                          <a:cs typeface="Malgun Gothic" pitchFamily="34" charset="-120"/>
                        </a:rPr>
                        <a:t>놓침</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r>
              <a:tr h="566928">
                <a:tc>
                  <a:txBody>
                    <a:bodyPr/>
                    <a:lstStyle/>
                    <a:p>
                      <a:pPr algn="l" indent="0" marL="0">
                        <a:buNone/>
                      </a:pPr>
                      <a:r>
                        <a:rPr lang="en-US" sz="1600" b="1" dirty="0">
                          <a:solidFill>
                            <a:schemeClr val="tx1"/>
                          </a:solidFill>
                          <a:latin typeface="Malgun Gothic" pitchFamily="34" charset="0"/>
                          <a:ea typeface="Malgun Gothic" pitchFamily="34" charset="-122"/>
                          <a:cs typeface="Malgun Gothic" pitchFamily="34" charset="-120"/>
                        </a:rPr>
                        <a:t>crack</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600" b="1" dirty="0">
                          <a:solidFill>
                            <a:schemeClr val="accent1"/>
                          </a:solidFill>
                          <a:latin typeface="Malgun Gothic" pitchFamily="34" charset="0"/>
                          <a:ea typeface="Malgun Gothic" pitchFamily="34" charset="-122"/>
                          <a:cs typeface="Malgun Gothic" pitchFamily="34" charset="-120"/>
                        </a:rPr>
                        <a:t>45</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600" dirty="0">
                          <a:solidFill>
                            <a:schemeClr val="tx1"/>
                          </a:solidFill>
                          <a:latin typeface="Malgun Gothic" pitchFamily="34" charset="0"/>
                          <a:ea typeface="Malgun Gothic" pitchFamily="34" charset="-122"/>
                          <a:cs typeface="Malgun Gothic" pitchFamily="34" charset="-120"/>
                        </a:rPr>
                        <a:t>0</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600" dirty="0">
                          <a:solidFill>
                            <a:schemeClr val="tx1"/>
                          </a:solidFill>
                          <a:latin typeface="Malgun Gothic" pitchFamily="34" charset="0"/>
                          <a:ea typeface="Malgun Gothic" pitchFamily="34" charset="-122"/>
                          <a:cs typeface="Malgun Gothic" pitchFamily="34" charset="-120"/>
                        </a:rPr>
                        <a:t>0</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566928">
                <a:tc>
                  <a:txBody>
                    <a:bodyPr/>
                    <a:lstStyle/>
                    <a:p>
                      <a:pPr algn="l" indent="0" marL="0">
                        <a:buNone/>
                      </a:pPr>
                      <a:r>
                        <a:rPr lang="en-US" sz="1600" b="1" dirty="0">
                          <a:solidFill>
                            <a:schemeClr val="tx1"/>
                          </a:solidFill>
                          <a:latin typeface="Malgun Gothic" pitchFamily="34" charset="0"/>
                          <a:ea typeface="Malgun Gothic" pitchFamily="34" charset="-122"/>
                          <a:cs typeface="Malgun Gothic" pitchFamily="34" charset="-120"/>
                        </a:rPr>
                        <a:t>scratch</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600" dirty="0">
                          <a:solidFill>
                            <a:schemeClr val="tx1"/>
                          </a:solidFill>
                          <a:latin typeface="Malgun Gothic" pitchFamily="34" charset="0"/>
                          <a:ea typeface="Malgun Gothic" pitchFamily="34" charset="-122"/>
                          <a:cs typeface="Malgun Gothic" pitchFamily="34" charset="-120"/>
                        </a:rPr>
                        <a:t>0</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600" b="1" dirty="0">
                          <a:solidFill>
                            <a:schemeClr val="accent1"/>
                          </a:solidFill>
                          <a:latin typeface="Malgun Gothic" pitchFamily="34" charset="0"/>
                          <a:ea typeface="Malgun Gothic" pitchFamily="34" charset="-122"/>
                          <a:cs typeface="Malgun Gothic" pitchFamily="34" charset="-120"/>
                        </a:rPr>
                        <a:t>59</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600" b="1" dirty="0">
                          <a:solidFill>
                            <a:schemeClr val="accent2"/>
                          </a:solidFill>
                          <a:latin typeface="Malgun Gothic" pitchFamily="34" charset="0"/>
                          <a:ea typeface="Malgun Gothic" pitchFamily="34" charset="-122"/>
                          <a:cs typeface="Malgun Gothic" pitchFamily="34" charset="-120"/>
                        </a:rPr>
                        <a:t>19</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566928">
                <a:tc>
                  <a:txBody>
                    <a:bodyPr/>
                    <a:lstStyle/>
                    <a:p>
                      <a:pPr algn="l" indent="0" marL="0">
                        <a:buNone/>
                      </a:pPr>
                      <a:r>
                        <a:rPr lang="en-US" sz="1600" b="1" dirty="0">
                          <a:solidFill>
                            <a:schemeClr val="tx1"/>
                          </a:solidFill>
                          <a:latin typeface="Malgun Gothic" pitchFamily="34" charset="0"/>
                          <a:ea typeface="Malgun Gothic" pitchFamily="34" charset="-122"/>
                          <a:cs typeface="Malgun Gothic" pitchFamily="34" charset="-120"/>
                        </a:rPr>
                        <a:t>배경 (오검출)</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600" dirty="0">
                          <a:solidFill>
                            <a:schemeClr val="accent3"/>
                          </a:solidFill>
                          <a:latin typeface="Malgun Gothic" pitchFamily="34" charset="0"/>
                          <a:ea typeface="Malgun Gothic" pitchFamily="34" charset="-122"/>
                          <a:cs typeface="Malgun Gothic" pitchFamily="34" charset="-120"/>
                        </a:rPr>
                        <a:t>3</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600" b="1" dirty="0">
                          <a:solidFill>
                            <a:schemeClr val="accent3"/>
                          </a:solidFill>
                          <a:latin typeface="Malgun Gothic" pitchFamily="34" charset="0"/>
                          <a:ea typeface="Malgun Gothic" pitchFamily="34" charset="-122"/>
                          <a:cs typeface="Malgun Gothic" pitchFamily="34" charset="-120"/>
                        </a:rPr>
                        <a:t>13</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600" dirty="0">
                          <a:solidFill>
                            <a:schemeClr val="tx2"/>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bl>
          </a:graphicData>
        </a:graphic>
      </p:graphicFrame>
      <p:sp>
        <p:nvSpPr>
          <p:cNvPr id="11" name="all-models-bg"/>
          <p:cNvSpPr/>
          <p:nvPr/>
        </p:nvSpPr>
        <p:spPr>
          <a:xfrm>
            <a:off x="548640" y="4983480"/>
            <a:ext cx="11094415" cy="457200"/>
          </a:xfrm>
          <a:prstGeom prst="roundRect">
            <a:avLst>
              <a:gd name="adj" fmla="val 10000"/>
            </a:avLst>
          </a:prstGeom>
          <a:solidFill>
            <a:schemeClr val="tx2">
              <a:alpha val="20000"/>
            </a:schemeClr>
          </a:solidFill>
          <a:ln w="12700">
            <a:solidFill>
              <a:schemeClr val="tx2"/>
            </a:solidFill>
            <a:prstDash val="solid"/>
          </a:ln>
        </p:spPr>
      </p:sp>
      <p:sp>
        <p:nvSpPr>
          <p:cNvPr id="12" name="all-models"/>
          <p:cNvSpPr txBox="1"/>
          <p:nvPr/>
        </p:nvSpPr>
        <p:spPr>
          <a:xfrm>
            <a:off x="548640" y="4983480"/>
            <a:ext cx="11094415" cy="457200"/>
          </a:xfrm>
          <a:prstGeom prst="rect">
            <a:avLst/>
          </a:prstGeom>
          <a:noFill/>
          <a:ln/>
        </p:spPr>
        <p:txBody>
          <a:bodyPr wrap="square" lIns="0" tIns="0" rIns="0" bIns="0" rtlCol="0" anchor="ctr"/>
          <a:lstStyle/>
          <a:p>
            <a:pPr algn="ctr" indent="0" marL="0">
              <a:buNone/>
            </a:pPr>
            <a:r>
              <a:rPr lang="en-US" sz="1300" b="1" dirty="0">
                <a:solidFill>
                  <a:schemeClr val="tx2"/>
                </a:solidFill>
              </a:rPr>
              <a:t>세 모델 모두 같은 패턴 · 놓친 scratch: ATSS 19 · YOLOX-S 28 · Tiny 30</a:t>
            </a:r>
            <a:endParaRPr lang="en-US" sz="1300" dirty="0"/>
          </a:p>
        </p:txBody>
      </p:sp>
      <p:sp>
        <p:nvSpPr>
          <p:cNvPr id="13" name="bg-recall-card"/>
          <p:cNvSpPr/>
          <p:nvPr/>
        </p:nvSpPr>
        <p:spPr>
          <a:xfrm>
            <a:off x="6812280" y="2377440"/>
            <a:ext cx="4828032" cy="2267712"/>
          </a:xfrm>
          <a:prstGeom prst="roundRect">
            <a:avLst>
              <a:gd name="adj" fmla="val 3226"/>
            </a:avLst>
          </a:prstGeom>
          <a:solidFill>
            <a:schemeClr val="bg2"/>
          </a:solidFill>
          <a:ln/>
        </p:spPr>
      </p:sp>
      <p:sp>
        <p:nvSpPr>
          <p:cNvPr id="14" name="bgr-h"/>
          <p:cNvSpPr txBox="1"/>
          <p:nvPr/>
        </p:nvSpPr>
        <p:spPr>
          <a:xfrm>
            <a:off x="7086600" y="2514600"/>
            <a:ext cx="4297680" cy="320040"/>
          </a:xfrm>
          <a:prstGeom prst="rect">
            <a:avLst/>
          </a:prstGeom>
          <a:noFill/>
          <a:ln/>
        </p:spPr>
        <p:txBody>
          <a:bodyPr wrap="square" lIns="0" tIns="0" rIns="0" bIns="0" rtlCol="0" anchor="t"/>
          <a:lstStyle/>
          <a:p>
            <a:pPr indent="0" marL="0">
              <a:buNone/>
            </a:pPr>
            <a:r>
              <a:rPr lang="en-US" sz="1600" b="1" dirty="0">
                <a:solidFill>
                  <a:schemeClr val="tx1"/>
                </a:solidFill>
              </a:rPr>
              <a:t>배경별 재현율</a:t>
            </a:r>
            <a:endParaRPr lang="en-US" sz="1600" dirty="0"/>
          </a:p>
        </p:txBody>
      </p:sp>
      <p:sp>
        <p:nvSpPr>
          <p:cNvPr id="15" name="bgr-l-0"/>
          <p:cNvSpPr txBox="1"/>
          <p:nvPr/>
        </p:nvSpPr>
        <p:spPr>
          <a:xfrm>
            <a:off x="7086600" y="3017520"/>
            <a:ext cx="1188720" cy="329184"/>
          </a:xfrm>
          <a:prstGeom prst="rect">
            <a:avLst/>
          </a:prstGeom>
          <a:noFill/>
          <a:ln/>
        </p:spPr>
        <p:txBody>
          <a:bodyPr wrap="square" lIns="0" tIns="0" rIns="0" bIns="0" rtlCol="0" anchor="ctr"/>
          <a:lstStyle/>
          <a:p>
            <a:pPr indent="0" marL="0">
              <a:buNone/>
            </a:pPr>
            <a:r>
              <a:rPr lang="en-US" sz="1400" dirty="0">
                <a:solidFill>
                  <a:schemeClr val="tx2"/>
                </a:solidFill>
              </a:rPr>
              <a:t>초록 매트</a:t>
            </a:r>
            <a:endParaRPr lang="en-US" sz="1400" dirty="0"/>
          </a:p>
        </p:txBody>
      </p:sp>
      <p:sp>
        <p:nvSpPr>
          <p:cNvPr id="16" name="bgr-track-0"/>
          <p:cNvSpPr/>
          <p:nvPr/>
        </p:nvSpPr>
        <p:spPr>
          <a:xfrm>
            <a:off x="8321040" y="3090672"/>
            <a:ext cx="2468880" cy="182880"/>
          </a:xfrm>
          <a:prstGeom prst="rect">
            <a:avLst/>
          </a:prstGeom>
          <a:solidFill>
            <a:srgbClr val="3A3F48"/>
          </a:solidFill>
          <a:ln/>
        </p:spPr>
      </p:sp>
      <p:sp>
        <p:nvSpPr>
          <p:cNvPr id="17" name="bgr-fill-0"/>
          <p:cNvSpPr/>
          <p:nvPr/>
        </p:nvSpPr>
        <p:spPr>
          <a:xfrm>
            <a:off x="8321040" y="3090672"/>
            <a:ext cx="1777594" cy="182880"/>
          </a:xfrm>
          <a:prstGeom prst="rect">
            <a:avLst/>
          </a:prstGeom>
          <a:solidFill>
            <a:schemeClr val="accent1"/>
          </a:solidFill>
          <a:ln/>
        </p:spPr>
      </p:sp>
      <p:sp>
        <p:nvSpPr>
          <p:cNvPr id="18" name="bgr-v-0"/>
          <p:cNvSpPr txBox="1"/>
          <p:nvPr/>
        </p:nvSpPr>
        <p:spPr>
          <a:xfrm>
            <a:off x="10835640" y="3017520"/>
            <a:ext cx="594360" cy="329184"/>
          </a:xfrm>
          <a:prstGeom prst="rect">
            <a:avLst/>
          </a:prstGeom>
          <a:noFill/>
          <a:ln/>
        </p:spPr>
        <p:txBody>
          <a:bodyPr wrap="square" lIns="0" tIns="0" rIns="0" bIns="0" rtlCol="0" anchor="ctr"/>
          <a:lstStyle/>
          <a:p>
            <a:pPr algn="r" indent="0" marL="0">
              <a:buNone/>
            </a:pPr>
            <a:r>
              <a:rPr lang="en-US" sz="1300" b="1" dirty="0">
                <a:solidFill>
                  <a:schemeClr val="tx1"/>
                </a:solidFill>
              </a:rPr>
              <a:t>72%</a:t>
            </a:r>
            <a:endParaRPr lang="en-US" sz="1300" dirty="0"/>
          </a:p>
        </p:txBody>
      </p:sp>
      <p:sp>
        <p:nvSpPr>
          <p:cNvPr id="19" name="bgr-l-1"/>
          <p:cNvSpPr txBox="1"/>
          <p:nvPr/>
        </p:nvSpPr>
        <p:spPr>
          <a:xfrm>
            <a:off x="7086600" y="3493008"/>
            <a:ext cx="1188720" cy="329184"/>
          </a:xfrm>
          <a:prstGeom prst="rect">
            <a:avLst/>
          </a:prstGeom>
          <a:noFill/>
          <a:ln/>
        </p:spPr>
        <p:txBody>
          <a:bodyPr wrap="square" lIns="0" tIns="0" rIns="0" bIns="0" rtlCol="0" anchor="ctr"/>
          <a:lstStyle/>
          <a:p>
            <a:pPr indent="0" marL="0">
              <a:buNone/>
            </a:pPr>
            <a:r>
              <a:rPr lang="en-US" sz="1400" dirty="0">
                <a:solidFill>
                  <a:schemeClr val="tx2"/>
                </a:solidFill>
              </a:rPr>
              <a:t>회색</a:t>
            </a:r>
            <a:endParaRPr lang="en-US" sz="1400" dirty="0"/>
          </a:p>
        </p:txBody>
      </p:sp>
      <p:sp>
        <p:nvSpPr>
          <p:cNvPr id="20" name="bgr-track-1"/>
          <p:cNvSpPr/>
          <p:nvPr/>
        </p:nvSpPr>
        <p:spPr>
          <a:xfrm>
            <a:off x="8321040" y="3566160"/>
            <a:ext cx="2468880" cy="182880"/>
          </a:xfrm>
          <a:prstGeom prst="rect">
            <a:avLst/>
          </a:prstGeom>
          <a:solidFill>
            <a:srgbClr val="3A3F48"/>
          </a:solidFill>
          <a:ln/>
        </p:spPr>
      </p:sp>
      <p:sp>
        <p:nvSpPr>
          <p:cNvPr id="21" name="bgr-fill-1"/>
          <p:cNvSpPr/>
          <p:nvPr/>
        </p:nvSpPr>
        <p:spPr>
          <a:xfrm>
            <a:off x="8321040" y="3566160"/>
            <a:ext cx="1851660" cy="182880"/>
          </a:xfrm>
          <a:prstGeom prst="rect">
            <a:avLst/>
          </a:prstGeom>
          <a:solidFill>
            <a:schemeClr val="accent1"/>
          </a:solidFill>
          <a:ln/>
        </p:spPr>
      </p:sp>
      <p:sp>
        <p:nvSpPr>
          <p:cNvPr id="22" name="bgr-v-1"/>
          <p:cNvSpPr txBox="1"/>
          <p:nvPr/>
        </p:nvSpPr>
        <p:spPr>
          <a:xfrm>
            <a:off x="10835640" y="3493008"/>
            <a:ext cx="594360" cy="329184"/>
          </a:xfrm>
          <a:prstGeom prst="rect">
            <a:avLst/>
          </a:prstGeom>
          <a:noFill/>
          <a:ln/>
        </p:spPr>
        <p:txBody>
          <a:bodyPr wrap="square" lIns="0" tIns="0" rIns="0" bIns="0" rtlCol="0" anchor="ctr"/>
          <a:lstStyle/>
          <a:p>
            <a:pPr algn="r" indent="0" marL="0">
              <a:buNone/>
            </a:pPr>
            <a:r>
              <a:rPr lang="en-US" sz="1300" b="1" dirty="0">
                <a:solidFill>
                  <a:schemeClr val="tx1"/>
                </a:solidFill>
              </a:rPr>
              <a:t>75%</a:t>
            </a:r>
            <a:endParaRPr lang="en-US" sz="1300" dirty="0"/>
          </a:p>
        </p:txBody>
      </p:sp>
      <p:sp>
        <p:nvSpPr>
          <p:cNvPr id="23" name="bgr-l-2"/>
          <p:cNvSpPr txBox="1"/>
          <p:nvPr/>
        </p:nvSpPr>
        <p:spPr>
          <a:xfrm>
            <a:off x="7086600" y="3968496"/>
            <a:ext cx="1188720" cy="329184"/>
          </a:xfrm>
          <a:prstGeom prst="rect">
            <a:avLst/>
          </a:prstGeom>
          <a:noFill/>
          <a:ln/>
        </p:spPr>
        <p:txBody>
          <a:bodyPr wrap="square" lIns="0" tIns="0" rIns="0" bIns="0" rtlCol="0" anchor="ctr"/>
          <a:lstStyle/>
          <a:p>
            <a:pPr indent="0" marL="0">
              <a:buNone/>
            </a:pPr>
            <a:r>
              <a:rPr lang="en-US" sz="1400" dirty="0">
                <a:solidFill>
                  <a:schemeClr val="tx2"/>
                </a:solidFill>
              </a:rPr>
              <a:t>나무 탁상</a:t>
            </a:r>
            <a:endParaRPr lang="en-US" sz="1400" dirty="0"/>
          </a:p>
        </p:txBody>
      </p:sp>
      <p:sp>
        <p:nvSpPr>
          <p:cNvPr id="24" name="bgr-track-2"/>
          <p:cNvSpPr/>
          <p:nvPr/>
        </p:nvSpPr>
        <p:spPr>
          <a:xfrm>
            <a:off x="8321040" y="4041648"/>
            <a:ext cx="2468880" cy="182880"/>
          </a:xfrm>
          <a:prstGeom prst="rect">
            <a:avLst/>
          </a:prstGeom>
          <a:solidFill>
            <a:srgbClr val="3A3F48"/>
          </a:solidFill>
          <a:ln/>
        </p:spPr>
      </p:sp>
      <p:sp>
        <p:nvSpPr>
          <p:cNvPr id="25" name="bgr-fill-2"/>
          <p:cNvSpPr/>
          <p:nvPr/>
        </p:nvSpPr>
        <p:spPr>
          <a:xfrm>
            <a:off x="8321040" y="4041648"/>
            <a:ext cx="814730" cy="182880"/>
          </a:xfrm>
          <a:prstGeom prst="rect">
            <a:avLst/>
          </a:prstGeom>
          <a:solidFill>
            <a:schemeClr val="accent2"/>
          </a:solidFill>
          <a:ln/>
        </p:spPr>
      </p:sp>
      <p:sp>
        <p:nvSpPr>
          <p:cNvPr id="26" name="bgr-v-2"/>
          <p:cNvSpPr txBox="1"/>
          <p:nvPr/>
        </p:nvSpPr>
        <p:spPr>
          <a:xfrm>
            <a:off x="10835640" y="3968496"/>
            <a:ext cx="594360" cy="329184"/>
          </a:xfrm>
          <a:prstGeom prst="rect">
            <a:avLst/>
          </a:prstGeom>
          <a:noFill/>
          <a:ln/>
        </p:spPr>
        <p:txBody>
          <a:bodyPr wrap="square" lIns="0" tIns="0" rIns="0" bIns="0" rtlCol="0" anchor="ctr"/>
          <a:lstStyle/>
          <a:p>
            <a:pPr algn="r" indent="0" marL="0">
              <a:buNone/>
            </a:pPr>
            <a:r>
              <a:rPr lang="en-US" sz="1300" b="1" dirty="0">
                <a:solidFill>
                  <a:schemeClr val="tx1"/>
                </a:solidFill>
              </a:rPr>
              <a:t>33%</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XAI heatmap</a:t>
            </a:r>
            <a:endParaRPr lang="en-US" sz="3200" dirty="0"/>
          </a:p>
        </p:txBody>
      </p:sp>
      <p:pic>
        <p:nvPicPr>
          <p:cNvPr id="3" name="xai-0" descr="C:\Users\user\_se4nchoi\batteryvision\docs\submission\build\img\xai_tp.jpg">    </p:cNvPr>
          <p:cNvPicPr>
            <a:picLocks noChangeAspect="1"/>
          </p:cNvPicPr>
          <p:nvPr/>
        </p:nvPicPr>
        <p:blipFill>
          <a:blip r:embed="rId1"/>
          <a:stretch>
            <a:fillRect/>
          </a:stretch>
        </p:blipFill>
        <p:spPr>
          <a:xfrm>
            <a:off x="548640" y="1508760"/>
            <a:ext cx="3429000" cy="3429000"/>
          </a:xfrm>
          <a:prstGeom prst="rect">
            <a:avLst/>
          </a:prstGeom>
        </p:spPr>
      </p:pic>
      <p:sp>
        <p:nvSpPr>
          <p:cNvPr id="4" name="xai-tag-0-bg"/>
          <p:cNvSpPr/>
          <p:nvPr/>
        </p:nvSpPr>
        <p:spPr>
          <a:xfrm>
            <a:off x="548640" y="5074920"/>
            <a:ext cx="1005840" cy="384048"/>
          </a:xfrm>
          <a:prstGeom prst="roundRect">
            <a:avLst>
              <a:gd name="adj" fmla="val 11905"/>
            </a:avLst>
          </a:prstGeom>
          <a:solidFill>
            <a:schemeClr val="accent6">
              <a:alpha val="20000"/>
            </a:schemeClr>
          </a:solidFill>
          <a:ln w="12700">
            <a:solidFill>
              <a:schemeClr val="accent6"/>
            </a:solidFill>
            <a:prstDash val="solid"/>
          </a:ln>
        </p:spPr>
      </p:sp>
      <p:sp>
        <p:nvSpPr>
          <p:cNvPr id="5" name="xai-tag-0"/>
          <p:cNvSpPr txBox="1"/>
          <p:nvPr/>
        </p:nvSpPr>
        <p:spPr>
          <a:xfrm>
            <a:off x="548640" y="5074920"/>
            <a:ext cx="1005840" cy="384048"/>
          </a:xfrm>
          <a:prstGeom prst="rect">
            <a:avLst/>
          </a:prstGeom>
          <a:noFill/>
          <a:ln/>
        </p:spPr>
        <p:txBody>
          <a:bodyPr wrap="square" lIns="0" tIns="0" rIns="0" bIns="0" rtlCol="0" anchor="ctr"/>
          <a:lstStyle/>
          <a:p>
            <a:pPr algn="ctr" indent="0" marL="0">
              <a:buNone/>
            </a:pPr>
            <a:r>
              <a:rPr lang="en-US" sz="1300" b="1" dirty="0">
                <a:solidFill>
                  <a:schemeClr val="accent6"/>
                </a:solidFill>
              </a:rPr>
              <a:t>맞힘</a:t>
            </a:r>
            <a:endParaRPr lang="en-US" sz="1300" dirty="0"/>
          </a:p>
        </p:txBody>
      </p:sp>
      <p:sp>
        <p:nvSpPr>
          <p:cNvPr id="6" name="xai-d-0"/>
          <p:cNvSpPr txBox="1"/>
          <p:nvPr/>
        </p:nvSpPr>
        <p:spPr>
          <a:xfrm>
            <a:off x="1691640" y="5074920"/>
            <a:ext cx="2423160" cy="384048"/>
          </a:xfrm>
          <a:prstGeom prst="rect">
            <a:avLst/>
          </a:prstGeom>
          <a:noFill/>
          <a:ln/>
        </p:spPr>
        <p:txBody>
          <a:bodyPr wrap="square" lIns="0" tIns="0" rIns="0" bIns="0" rtlCol="0" anchor="ctr"/>
          <a:lstStyle/>
          <a:p>
            <a:pPr indent="0" marL="0">
              <a:buNone/>
            </a:pPr>
            <a:r>
              <a:rPr lang="en-US" sz="1500" dirty="0">
                <a:solidFill>
                  <a:schemeClr val="tx1"/>
                </a:solidFill>
              </a:rPr>
              <a:t>결함 주변에 반응</a:t>
            </a:r>
            <a:endParaRPr lang="en-US" sz="1500" dirty="0"/>
          </a:p>
        </p:txBody>
      </p:sp>
      <p:pic>
        <p:nvPicPr>
          <p:cNvPr id="7" name="xai-1" descr="C:\Users\user\_se4nchoi\batteryvision\docs\submission\build\img\xai_fp.jpg">    </p:cNvPr>
          <p:cNvPicPr>
            <a:picLocks noChangeAspect="1"/>
          </p:cNvPicPr>
          <p:nvPr/>
        </p:nvPicPr>
        <p:blipFill>
          <a:blip r:embed="rId2"/>
          <a:stretch>
            <a:fillRect/>
          </a:stretch>
        </p:blipFill>
        <p:spPr>
          <a:xfrm>
            <a:off x="4297680" y="1508760"/>
            <a:ext cx="3429000" cy="3429000"/>
          </a:xfrm>
          <a:prstGeom prst="rect">
            <a:avLst/>
          </a:prstGeom>
        </p:spPr>
      </p:pic>
      <p:sp>
        <p:nvSpPr>
          <p:cNvPr id="8" name="xai-tag-1-bg"/>
          <p:cNvSpPr/>
          <p:nvPr/>
        </p:nvSpPr>
        <p:spPr>
          <a:xfrm>
            <a:off x="4297680" y="5074920"/>
            <a:ext cx="1005840" cy="384048"/>
          </a:xfrm>
          <a:prstGeom prst="roundRect">
            <a:avLst>
              <a:gd name="adj" fmla="val 11905"/>
            </a:avLst>
          </a:prstGeom>
          <a:solidFill>
            <a:schemeClr val="accent3">
              <a:alpha val="20000"/>
            </a:schemeClr>
          </a:solidFill>
          <a:ln w="12700">
            <a:solidFill>
              <a:schemeClr val="accent3"/>
            </a:solidFill>
            <a:prstDash val="solid"/>
          </a:ln>
        </p:spPr>
      </p:sp>
      <p:sp>
        <p:nvSpPr>
          <p:cNvPr id="9" name="xai-tag-1"/>
          <p:cNvSpPr txBox="1"/>
          <p:nvPr/>
        </p:nvSpPr>
        <p:spPr>
          <a:xfrm>
            <a:off x="4297680" y="5074920"/>
            <a:ext cx="1005840" cy="384048"/>
          </a:xfrm>
          <a:prstGeom prst="rect">
            <a:avLst/>
          </a:prstGeom>
          <a:noFill/>
          <a:ln/>
        </p:spPr>
        <p:txBody>
          <a:bodyPr wrap="square" lIns="0" tIns="0" rIns="0" bIns="0" rtlCol="0" anchor="ctr"/>
          <a:lstStyle/>
          <a:p>
            <a:pPr algn="ctr" indent="0" marL="0">
              <a:buNone/>
            </a:pPr>
            <a:r>
              <a:rPr lang="en-US" sz="1300" b="1" dirty="0">
                <a:solidFill>
                  <a:schemeClr val="accent3"/>
                </a:solidFill>
              </a:rPr>
              <a:t>오검출</a:t>
            </a:r>
            <a:endParaRPr lang="en-US" sz="1300" dirty="0"/>
          </a:p>
        </p:txBody>
      </p:sp>
      <p:sp>
        <p:nvSpPr>
          <p:cNvPr id="10" name="xai-d-1"/>
          <p:cNvSpPr txBox="1"/>
          <p:nvPr/>
        </p:nvSpPr>
        <p:spPr>
          <a:xfrm>
            <a:off x="5440680" y="5074920"/>
            <a:ext cx="2423160" cy="384048"/>
          </a:xfrm>
          <a:prstGeom prst="rect">
            <a:avLst/>
          </a:prstGeom>
          <a:noFill/>
          <a:ln/>
        </p:spPr>
        <p:txBody>
          <a:bodyPr wrap="square" lIns="0" tIns="0" rIns="0" bIns="0" rtlCol="0" anchor="ctr"/>
          <a:lstStyle/>
          <a:p>
            <a:pPr indent="0" marL="0">
              <a:buNone/>
            </a:pPr>
            <a:r>
              <a:rPr lang="en-US" sz="1500" dirty="0">
                <a:solidFill>
                  <a:schemeClr val="tx1"/>
                </a:solidFill>
              </a:rPr>
              <a:t>정상 셀에 반응</a:t>
            </a:r>
            <a:endParaRPr lang="en-US" sz="1500" dirty="0"/>
          </a:p>
        </p:txBody>
      </p:sp>
      <p:pic>
        <p:nvPicPr>
          <p:cNvPr id="11" name="xai-2" descr="C:\Users\user\_se4nchoi\batteryvision\docs\submission\build\img\xai_fn.jpg">    </p:cNvPr>
          <p:cNvPicPr>
            <a:picLocks noChangeAspect="1"/>
          </p:cNvPicPr>
          <p:nvPr/>
        </p:nvPicPr>
        <p:blipFill>
          <a:blip r:embed="rId3"/>
          <a:stretch>
            <a:fillRect/>
          </a:stretch>
        </p:blipFill>
        <p:spPr>
          <a:xfrm>
            <a:off x="8046720" y="1508760"/>
            <a:ext cx="3429000" cy="3429000"/>
          </a:xfrm>
          <a:prstGeom prst="rect">
            <a:avLst/>
          </a:prstGeom>
        </p:spPr>
      </p:pic>
      <p:sp>
        <p:nvSpPr>
          <p:cNvPr id="12" name="xai-tag-2-bg"/>
          <p:cNvSpPr/>
          <p:nvPr/>
        </p:nvSpPr>
        <p:spPr>
          <a:xfrm>
            <a:off x="8046720" y="5074920"/>
            <a:ext cx="1005840" cy="384048"/>
          </a:xfrm>
          <a:prstGeom prst="roundRect">
            <a:avLst>
              <a:gd name="adj" fmla="val 11905"/>
            </a:avLst>
          </a:prstGeom>
          <a:solidFill>
            <a:schemeClr val="accent2">
              <a:alpha val="20000"/>
            </a:schemeClr>
          </a:solidFill>
          <a:ln w="12700">
            <a:solidFill>
              <a:schemeClr val="accent2"/>
            </a:solidFill>
            <a:prstDash val="solid"/>
          </a:ln>
        </p:spPr>
      </p:sp>
      <p:sp>
        <p:nvSpPr>
          <p:cNvPr id="13" name="xai-tag-2"/>
          <p:cNvSpPr txBox="1"/>
          <p:nvPr/>
        </p:nvSpPr>
        <p:spPr>
          <a:xfrm>
            <a:off x="8046720" y="5074920"/>
            <a:ext cx="1005840" cy="384048"/>
          </a:xfrm>
          <a:prstGeom prst="rect">
            <a:avLst/>
          </a:prstGeom>
          <a:noFill/>
          <a:ln/>
        </p:spPr>
        <p:txBody>
          <a:bodyPr wrap="square" lIns="0" tIns="0" rIns="0" bIns="0" rtlCol="0" anchor="ctr"/>
          <a:lstStyle/>
          <a:p>
            <a:pPr algn="ctr" indent="0" marL="0">
              <a:buNone/>
            </a:pPr>
            <a:r>
              <a:rPr lang="en-US" sz="1300" b="1" dirty="0">
                <a:solidFill>
                  <a:schemeClr val="accent2"/>
                </a:solidFill>
              </a:rPr>
              <a:t>놓침</a:t>
            </a:r>
            <a:endParaRPr lang="en-US" sz="1300" dirty="0"/>
          </a:p>
        </p:txBody>
      </p:sp>
      <p:sp>
        <p:nvSpPr>
          <p:cNvPr id="14" name="xai-d-2"/>
          <p:cNvSpPr txBox="1"/>
          <p:nvPr/>
        </p:nvSpPr>
        <p:spPr>
          <a:xfrm>
            <a:off x="9189720" y="5074920"/>
            <a:ext cx="2423160" cy="384048"/>
          </a:xfrm>
          <a:prstGeom prst="rect">
            <a:avLst/>
          </a:prstGeom>
          <a:noFill/>
          <a:ln/>
        </p:spPr>
        <p:txBody>
          <a:bodyPr wrap="square" lIns="0" tIns="0" rIns="0" bIns="0" rtlCol="0" anchor="ctr"/>
          <a:lstStyle/>
          <a:p>
            <a:pPr indent="0" marL="0">
              <a:buNone/>
            </a:pPr>
            <a:r>
              <a:rPr lang="en-US" sz="1500" dirty="0">
                <a:solidFill>
                  <a:schemeClr val="tx1"/>
                </a:solidFill>
              </a:rPr>
              <a:t>결함 대신 벨트를 봄</a:t>
            </a:r>
            <a:endParaRPr lang="en-US" sz="1500" dirty="0"/>
          </a:p>
        </p:txBody>
      </p:sp>
      <p:sp>
        <p:nvSpPr>
          <p:cNvPr id="15" name="xai-what-bg"/>
          <p:cNvSpPr/>
          <p:nvPr/>
        </p:nvSpPr>
        <p:spPr>
          <a:xfrm>
            <a:off x="548640" y="5760720"/>
            <a:ext cx="5120640" cy="420624"/>
          </a:xfrm>
          <a:prstGeom prst="roundRect">
            <a:avLst>
              <a:gd name="adj" fmla="val 10870"/>
            </a:avLst>
          </a:prstGeom>
          <a:solidFill>
            <a:schemeClr val="accent1">
              <a:alpha val="20000"/>
            </a:schemeClr>
          </a:solidFill>
          <a:ln w="12700">
            <a:solidFill>
              <a:schemeClr val="accent1"/>
            </a:solidFill>
            <a:prstDash val="solid"/>
          </a:ln>
        </p:spPr>
      </p:sp>
      <p:sp>
        <p:nvSpPr>
          <p:cNvPr id="16" name="xai-what"/>
          <p:cNvSpPr txBox="1"/>
          <p:nvPr/>
        </p:nvSpPr>
        <p:spPr>
          <a:xfrm>
            <a:off x="548640" y="5760720"/>
            <a:ext cx="5120640" cy="420624"/>
          </a:xfrm>
          <a:prstGeom prst="rect">
            <a:avLst/>
          </a:prstGeom>
          <a:noFill/>
          <a:ln/>
        </p:spPr>
        <p:txBody>
          <a:bodyPr wrap="square" lIns="0" tIns="0" rIns="0" bIns="0" rtlCol="0" anchor="ctr"/>
          <a:lstStyle/>
          <a:p>
            <a:pPr algn="ctr" indent="0" marL="0">
              <a:buNone/>
            </a:pPr>
            <a:r>
              <a:rPr lang="en-US" sz="1300" b="1" dirty="0">
                <a:solidFill>
                  <a:schemeClr val="accent1"/>
                </a:solidFill>
              </a:rPr>
              <a:t>heatmap = 판단 근거가 아닌 위치 힌트</a:t>
            </a:r>
            <a:endParaRPr lang="en-US" sz="1300" dirty="0"/>
          </a:p>
        </p:txBody>
      </p:sp>
      <p:sp>
        <p:nvSpPr>
          <p:cNvPr id="17" name="xai-legend"/>
          <p:cNvSpPr txBox="1"/>
          <p:nvPr/>
        </p:nvSpPr>
        <p:spPr>
          <a:xfrm>
            <a:off x="5897880" y="5760720"/>
            <a:ext cx="5742432" cy="420624"/>
          </a:xfrm>
          <a:prstGeom prst="rect">
            <a:avLst/>
          </a:prstGeom>
          <a:noFill/>
          <a:ln/>
        </p:spPr>
        <p:txBody>
          <a:bodyPr wrap="square" lIns="0" tIns="0" rIns="0" bIns="0" rtlCol="0" anchor="ctr"/>
          <a:lstStyle/>
          <a:p>
            <a:pPr algn="r" indent="0" marL="0">
              <a:buNone/>
            </a:pPr>
            <a:r>
              <a:rPr lang="en-US" sz="1100" dirty="0">
                <a:solidFill>
                  <a:schemeClr val="tx2"/>
                </a:solidFill>
              </a:rPr>
              <a:t>YOLOX-S FP16+XAI · scratch 채널 · 흰 박스 = 정답, 주황 박스 = 모델</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벤치마크</a:t>
            </a:r>
            <a:endParaRPr lang="en-US" sz="3200" dirty="0"/>
          </a:p>
        </p:txBody>
      </p:sp>
      <p:pic>
        <p:nvPicPr>
          <p:cNvPr id="3" name="bench-detail" descr="C:\Users\user\_se4nchoi\batteryvision\docs\submission\build\img\bench_detail.png">    </p:cNvPr>
          <p:cNvPicPr>
            <a:picLocks noChangeAspect="1"/>
          </p:cNvPicPr>
          <p:nvPr/>
        </p:nvPicPr>
        <p:blipFill>
          <a:blip r:embed="rId1"/>
          <a:stretch>
            <a:fillRect/>
          </a:stretch>
        </p:blipFill>
        <p:spPr>
          <a:xfrm>
            <a:off x="548640" y="1508760"/>
            <a:ext cx="6080760" cy="2921731"/>
          </a:xfrm>
          <a:prstGeom prst="rect">
            <a:avLst/>
          </a:prstGeom>
        </p:spPr>
      </p:pic>
      <p:pic>
        <p:nvPicPr>
          <p:cNvPr id="4" name="bench-all" descr="C:\Users\user\_se4nchoi\batteryvision\docs\submission\build\img\bench_all.png">    </p:cNvPr>
          <p:cNvPicPr>
            <a:picLocks noChangeAspect="1"/>
          </p:cNvPicPr>
          <p:nvPr/>
        </p:nvPicPr>
        <p:blipFill>
          <a:blip r:embed="rId2"/>
          <a:stretch>
            <a:fillRect/>
          </a:stretch>
        </p:blipFill>
        <p:spPr>
          <a:xfrm>
            <a:off x="548640" y="4521931"/>
            <a:ext cx="6080760" cy="1786923"/>
          </a:xfrm>
          <a:prstGeom prst="rect">
            <a:avLst/>
          </a:prstGeom>
        </p:spPr>
      </p:pic>
      <p:sp>
        <p:nvSpPr>
          <p:cNvPr id="5" name="bm-h"/>
          <p:cNvSpPr txBox="1"/>
          <p:nvPr/>
        </p:nvSpPr>
        <p:spPr>
          <a:xfrm>
            <a:off x="6949440" y="1508760"/>
            <a:ext cx="4693615" cy="365760"/>
          </a:xfrm>
          <a:prstGeom prst="rect">
            <a:avLst/>
          </a:prstGeom>
          <a:noFill/>
          <a:ln/>
        </p:spPr>
        <p:txBody>
          <a:bodyPr wrap="square" lIns="0" tIns="0" rIns="0" bIns="0" rtlCol="0" anchor="t"/>
          <a:lstStyle/>
          <a:p>
            <a:pPr indent="0" marL="0">
              <a:buNone/>
            </a:pPr>
            <a:r>
              <a:rPr lang="en-US" sz="1800" b="1" dirty="0">
                <a:solidFill>
                  <a:schemeClr val="accent3"/>
                </a:solidFill>
              </a:rPr>
              <a:t>benchmark.py</a:t>
            </a:r>
            <a:endParaRPr lang="en-US" sz="1800" dirty="0"/>
          </a:p>
        </p:txBody>
      </p:sp>
      <p:sp>
        <p:nvSpPr>
          <p:cNvPr id="6" name="flow-0-bg"/>
          <p:cNvSpPr/>
          <p:nvPr/>
        </p:nvSpPr>
        <p:spPr>
          <a:xfrm>
            <a:off x="6949440" y="2011680"/>
            <a:ext cx="4693615" cy="365760"/>
          </a:xfrm>
          <a:prstGeom prst="roundRect">
            <a:avLst>
              <a:gd name="adj" fmla="val 12500"/>
            </a:avLst>
          </a:prstGeom>
          <a:solidFill>
            <a:schemeClr val="accent1">
              <a:alpha val="20000"/>
            </a:schemeClr>
          </a:solidFill>
          <a:ln w="12700">
            <a:solidFill>
              <a:schemeClr val="accent1"/>
            </a:solidFill>
            <a:prstDash val="solid"/>
          </a:ln>
        </p:spPr>
      </p:sp>
      <p:sp>
        <p:nvSpPr>
          <p:cNvPr id="7" name="flow-0"/>
          <p:cNvSpPr txBox="1"/>
          <p:nvPr/>
        </p:nvSpPr>
        <p:spPr>
          <a:xfrm>
            <a:off x="6949440" y="2011680"/>
            <a:ext cx="4693615" cy="365760"/>
          </a:xfrm>
          <a:prstGeom prst="rect">
            <a:avLst/>
          </a:prstGeom>
          <a:noFill/>
          <a:ln/>
        </p:spPr>
        <p:txBody>
          <a:bodyPr wrap="square" lIns="0" tIns="0" rIns="0" bIns="0" rtlCol="0" anchor="ctr"/>
          <a:lstStyle/>
          <a:p>
            <a:pPr algn="ctr" indent="0" marL="0">
              <a:buNone/>
            </a:pPr>
            <a:r>
              <a:rPr lang="en-US" sz="1300" b="1" dirty="0">
                <a:solidFill>
                  <a:schemeClr val="accent1"/>
                </a:solidFill>
              </a:rPr>
              <a:t>모델 9개</a:t>
            </a:r>
            <a:endParaRPr lang="en-US" sz="1300" dirty="0"/>
          </a:p>
        </p:txBody>
      </p:sp>
      <p:sp>
        <p:nvSpPr>
          <p:cNvPr id="8" name="flow-1-bg"/>
          <p:cNvSpPr/>
          <p:nvPr/>
        </p:nvSpPr>
        <p:spPr>
          <a:xfrm>
            <a:off x="6949440" y="2468880"/>
            <a:ext cx="4693615" cy="365760"/>
          </a:xfrm>
          <a:prstGeom prst="roundRect">
            <a:avLst>
              <a:gd name="adj" fmla="val 12500"/>
            </a:avLst>
          </a:prstGeom>
          <a:solidFill>
            <a:schemeClr val="accent1">
              <a:alpha val="20000"/>
            </a:schemeClr>
          </a:solidFill>
          <a:ln w="12700">
            <a:solidFill>
              <a:schemeClr val="accent1"/>
            </a:solidFill>
            <a:prstDash val="solid"/>
          </a:ln>
        </p:spPr>
      </p:sp>
      <p:sp>
        <p:nvSpPr>
          <p:cNvPr id="9" name="flow-1"/>
          <p:cNvSpPr txBox="1"/>
          <p:nvPr/>
        </p:nvSpPr>
        <p:spPr>
          <a:xfrm>
            <a:off x="6949440" y="2468880"/>
            <a:ext cx="4693615" cy="365760"/>
          </a:xfrm>
          <a:prstGeom prst="rect">
            <a:avLst/>
          </a:prstGeom>
          <a:noFill/>
          <a:ln/>
        </p:spPr>
        <p:txBody>
          <a:bodyPr wrap="square" lIns="0" tIns="0" rIns="0" bIns="0" rtlCol="0" anchor="ctr"/>
          <a:lstStyle/>
          <a:p>
            <a:pPr algn="ctr" indent="0" marL="0">
              <a:buNone/>
            </a:pPr>
            <a:r>
              <a:rPr lang="en-US" sz="1300" b="1" dirty="0">
                <a:solidFill>
                  <a:schemeClr val="accent1"/>
                </a:solidFill>
              </a:rPr>
              <a:t>131장 + 45장 · 같은 기준</a:t>
            </a:r>
            <a:endParaRPr lang="en-US" sz="1300" dirty="0"/>
          </a:p>
        </p:txBody>
      </p:sp>
      <p:sp>
        <p:nvSpPr>
          <p:cNvPr id="10" name="flow-2-bg"/>
          <p:cNvSpPr/>
          <p:nvPr/>
        </p:nvSpPr>
        <p:spPr>
          <a:xfrm>
            <a:off x="6949440" y="2926080"/>
            <a:ext cx="4693615" cy="365760"/>
          </a:xfrm>
          <a:prstGeom prst="roundRect">
            <a:avLst>
              <a:gd name="adj" fmla="val 12500"/>
            </a:avLst>
          </a:prstGeom>
          <a:solidFill>
            <a:schemeClr val="accent6">
              <a:alpha val="20000"/>
            </a:schemeClr>
          </a:solidFill>
          <a:ln w="12700">
            <a:solidFill>
              <a:schemeClr val="accent6"/>
            </a:solidFill>
            <a:prstDash val="solid"/>
          </a:ln>
        </p:spPr>
      </p:sp>
      <p:sp>
        <p:nvSpPr>
          <p:cNvPr id="11" name="flow-2"/>
          <p:cNvSpPr txBox="1"/>
          <p:nvPr/>
        </p:nvSpPr>
        <p:spPr>
          <a:xfrm>
            <a:off x="6949440" y="2926080"/>
            <a:ext cx="4693615" cy="365760"/>
          </a:xfrm>
          <a:prstGeom prst="rect">
            <a:avLst/>
          </a:prstGeom>
          <a:noFill/>
          <a:ln/>
        </p:spPr>
        <p:txBody>
          <a:bodyPr wrap="square" lIns="0" tIns="0" rIns="0" bIns="0" rtlCol="0" anchor="ctr"/>
          <a:lstStyle/>
          <a:p>
            <a:pPr algn="ctr" indent="0" marL="0">
              <a:buNone/>
            </a:pPr>
            <a:r>
              <a:rPr lang="en-US" sz="1300" b="1" dirty="0">
                <a:solidFill>
                  <a:schemeClr val="accent6"/>
                </a:solidFill>
              </a:rPr>
              <a:t>결과 → 대시보드</a:t>
            </a:r>
            <a:endParaRPr lang="en-US" sz="1300" dirty="0"/>
          </a:p>
        </p:txBody>
      </p:sp>
      <p:sp>
        <p:nvSpPr>
          <p:cNvPr id="12" name="bm-m-h"/>
          <p:cNvSpPr txBox="1"/>
          <p:nvPr/>
        </p:nvSpPr>
        <p:spPr>
          <a:xfrm>
            <a:off x="6949440" y="3474720"/>
            <a:ext cx="4693615" cy="320040"/>
          </a:xfrm>
          <a:prstGeom prst="rect">
            <a:avLst/>
          </a:prstGeom>
          <a:noFill/>
          <a:ln/>
        </p:spPr>
        <p:txBody>
          <a:bodyPr wrap="square" lIns="0" tIns="0" rIns="0" bIns="0" rtlCol="0" anchor="t"/>
          <a:lstStyle/>
          <a:p>
            <a:pPr indent="0" marL="0">
              <a:buNone/>
            </a:pPr>
            <a:r>
              <a:rPr lang="en-US" sz="1600" b="1" dirty="0">
                <a:solidFill>
                  <a:schemeClr val="tx1"/>
                </a:solidFill>
              </a:rPr>
              <a:t>측정</a:t>
            </a:r>
            <a:endParaRPr lang="en-US" sz="1600" dirty="0"/>
          </a:p>
        </p:txBody>
      </p:sp>
      <p:sp>
        <p:nvSpPr>
          <p:cNvPr id="13" name="bm-k-0"/>
          <p:cNvSpPr txBox="1"/>
          <p:nvPr/>
        </p:nvSpPr>
        <p:spPr>
          <a:xfrm>
            <a:off x="6949440" y="3886200"/>
            <a:ext cx="1508760" cy="347472"/>
          </a:xfrm>
          <a:prstGeom prst="rect">
            <a:avLst/>
          </a:prstGeom>
          <a:noFill/>
          <a:ln/>
        </p:spPr>
        <p:txBody>
          <a:bodyPr wrap="square" lIns="0" tIns="0" rIns="0" bIns="0" rtlCol="0" anchor="ctr"/>
          <a:lstStyle/>
          <a:p>
            <a:pPr indent="0" marL="0">
              <a:buNone/>
            </a:pPr>
            <a:r>
              <a:rPr lang="en-US" sz="1400" b="1" dirty="0">
                <a:solidFill>
                  <a:schemeClr val="accent4"/>
                </a:solidFill>
              </a:rPr>
              <a:t>정확도</a:t>
            </a:r>
            <a:endParaRPr lang="en-US" sz="1400" dirty="0"/>
          </a:p>
        </p:txBody>
      </p:sp>
      <p:sp>
        <p:nvSpPr>
          <p:cNvPr id="14" name="bm-v-0"/>
          <p:cNvSpPr txBox="1"/>
          <p:nvPr/>
        </p:nvSpPr>
        <p:spPr>
          <a:xfrm>
            <a:off x="8503920" y="3886200"/>
            <a:ext cx="3139135" cy="347472"/>
          </a:xfrm>
          <a:prstGeom prst="rect">
            <a:avLst/>
          </a:prstGeom>
          <a:noFill/>
          <a:ln/>
        </p:spPr>
        <p:txBody>
          <a:bodyPr wrap="square" lIns="0" tIns="0" rIns="0" bIns="0" rtlCol="0" anchor="ctr"/>
          <a:lstStyle/>
          <a:p>
            <a:pPr indent="0" marL="0">
              <a:buNone/>
            </a:pPr>
            <a:r>
              <a:rPr lang="en-US" sz="1400" dirty="0">
                <a:solidFill>
                  <a:schemeClr val="tx2"/>
                </a:solidFill>
              </a:rPr>
              <a:t>mAP · 클래스별 AP</a:t>
            </a:r>
            <a:endParaRPr lang="en-US" sz="1400" dirty="0"/>
          </a:p>
        </p:txBody>
      </p:sp>
      <p:sp>
        <p:nvSpPr>
          <p:cNvPr id="15" name="bm-k-1"/>
          <p:cNvSpPr txBox="1"/>
          <p:nvPr/>
        </p:nvSpPr>
        <p:spPr>
          <a:xfrm>
            <a:off x="6949440" y="4288536"/>
            <a:ext cx="1508760" cy="347472"/>
          </a:xfrm>
          <a:prstGeom prst="rect">
            <a:avLst/>
          </a:prstGeom>
          <a:noFill/>
          <a:ln/>
        </p:spPr>
        <p:txBody>
          <a:bodyPr wrap="square" lIns="0" tIns="0" rIns="0" bIns="0" rtlCol="0" anchor="ctr"/>
          <a:lstStyle/>
          <a:p>
            <a:pPr indent="0" marL="0">
              <a:buNone/>
            </a:pPr>
            <a:r>
              <a:rPr lang="en-US" sz="1400" b="1" dirty="0">
                <a:solidFill>
                  <a:schemeClr val="accent2"/>
                </a:solidFill>
              </a:rPr>
              <a:t>판정</a:t>
            </a:r>
            <a:endParaRPr lang="en-US" sz="1400" dirty="0"/>
          </a:p>
        </p:txBody>
      </p:sp>
      <p:sp>
        <p:nvSpPr>
          <p:cNvPr id="16" name="bm-v-1"/>
          <p:cNvSpPr txBox="1"/>
          <p:nvPr/>
        </p:nvSpPr>
        <p:spPr>
          <a:xfrm>
            <a:off x="8503920" y="4288536"/>
            <a:ext cx="3139135" cy="347472"/>
          </a:xfrm>
          <a:prstGeom prst="rect">
            <a:avLst/>
          </a:prstGeom>
          <a:noFill/>
          <a:ln/>
        </p:spPr>
        <p:txBody>
          <a:bodyPr wrap="square" lIns="0" tIns="0" rIns="0" bIns="0" rtlCol="0" anchor="ctr"/>
          <a:lstStyle/>
          <a:p>
            <a:pPr indent="0" marL="0">
              <a:buNone/>
            </a:pPr>
            <a:r>
              <a:rPr lang="en-US" sz="1400" dirty="0">
                <a:solidFill>
                  <a:schemeClr val="tx2"/>
                </a:solidFill>
              </a:rPr>
              <a:t>PASS · REVIEW · REJECT</a:t>
            </a:r>
            <a:endParaRPr lang="en-US" sz="1400" dirty="0"/>
          </a:p>
        </p:txBody>
      </p:sp>
      <p:sp>
        <p:nvSpPr>
          <p:cNvPr id="17" name="bm-k-2"/>
          <p:cNvSpPr txBox="1"/>
          <p:nvPr/>
        </p:nvSpPr>
        <p:spPr>
          <a:xfrm>
            <a:off x="6949440" y="4690872"/>
            <a:ext cx="1508760" cy="347472"/>
          </a:xfrm>
          <a:prstGeom prst="rect">
            <a:avLst/>
          </a:prstGeom>
          <a:noFill/>
          <a:ln/>
        </p:spPr>
        <p:txBody>
          <a:bodyPr wrap="square" lIns="0" tIns="0" rIns="0" bIns="0" rtlCol="0" anchor="ctr"/>
          <a:lstStyle/>
          <a:p>
            <a:pPr indent="0" marL="0">
              <a:buNone/>
            </a:pPr>
            <a:r>
              <a:rPr lang="en-US" sz="1400" b="1" dirty="0">
                <a:solidFill>
                  <a:schemeClr val="accent3"/>
                </a:solidFill>
              </a:rPr>
              <a:t>기준값 sweep</a:t>
            </a:r>
            <a:endParaRPr lang="en-US" sz="1400" dirty="0"/>
          </a:p>
        </p:txBody>
      </p:sp>
      <p:sp>
        <p:nvSpPr>
          <p:cNvPr id="18" name="bm-v-2"/>
          <p:cNvSpPr txBox="1"/>
          <p:nvPr/>
        </p:nvSpPr>
        <p:spPr>
          <a:xfrm>
            <a:off x="8503920" y="4690872"/>
            <a:ext cx="3139135" cy="347472"/>
          </a:xfrm>
          <a:prstGeom prst="rect">
            <a:avLst/>
          </a:prstGeom>
          <a:noFill/>
          <a:ln/>
        </p:spPr>
        <p:txBody>
          <a:bodyPr wrap="square" lIns="0" tIns="0" rIns="0" bIns="0" rtlCol="0" anchor="ctr"/>
          <a:lstStyle/>
          <a:p>
            <a:pPr indent="0" marL="0">
              <a:buNone/>
            </a:pPr>
            <a:r>
              <a:rPr lang="en-US" sz="1400" dirty="0">
                <a:solidFill>
                  <a:schemeClr val="tx2"/>
                </a:solidFill>
              </a:rPr>
              <a:t>0.05 ~ 0.95</a:t>
            </a:r>
            <a:endParaRPr lang="en-US" sz="1400" dirty="0"/>
          </a:p>
        </p:txBody>
      </p:sp>
      <p:sp>
        <p:nvSpPr>
          <p:cNvPr id="19" name="bm-k-3"/>
          <p:cNvSpPr txBox="1"/>
          <p:nvPr/>
        </p:nvSpPr>
        <p:spPr>
          <a:xfrm>
            <a:off x="6949440" y="5093208"/>
            <a:ext cx="1508760" cy="347472"/>
          </a:xfrm>
          <a:prstGeom prst="rect">
            <a:avLst/>
          </a:prstGeom>
          <a:noFill/>
          <a:ln/>
        </p:spPr>
        <p:txBody>
          <a:bodyPr wrap="square" lIns="0" tIns="0" rIns="0" bIns="0" rtlCol="0" anchor="ctr"/>
          <a:lstStyle/>
          <a:p>
            <a:pPr indent="0" marL="0">
              <a:buNone/>
            </a:pPr>
            <a:r>
              <a:rPr lang="en-US" sz="1400" b="1" dirty="0">
                <a:solidFill>
                  <a:schemeClr val="accent5"/>
                </a:solidFill>
              </a:rPr>
              <a:t>견고성</a:t>
            </a:r>
            <a:endParaRPr lang="en-US" sz="1400" dirty="0"/>
          </a:p>
        </p:txBody>
      </p:sp>
      <p:sp>
        <p:nvSpPr>
          <p:cNvPr id="20" name="bm-v-3"/>
          <p:cNvSpPr txBox="1"/>
          <p:nvPr/>
        </p:nvSpPr>
        <p:spPr>
          <a:xfrm>
            <a:off x="8503920" y="5093208"/>
            <a:ext cx="3139135" cy="347472"/>
          </a:xfrm>
          <a:prstGeom prst="rect">
            <a:avLst/>
          </a:prstGeom>
          <a:noFill/>
          <a:ln/>
        </p:spPr>
        <p:txBody>
          <a:bodyPr wrap="square" lIns="0" tIns="0" rIns="0" bIns="0" rtlCol="0" anchor="ctr"/>
          <a:lstStyle/>
          <a:p>
            <a:pPr indent="0" marL="0">
              <a:buNone/>
            </a:pPr>
            <a:r>
              <a:rPr lang="en-US" sz="1400" dirty="0">
                <a:solidFill>
                  <a:schemeClr val="tx2"/>
                </a:solidFill>
              </a:rPr>
              <a:t>blur · 노이즈 · JPEG</a:t>
            </a:r>
            <a:endParaRPr lang="en-US" sz="1400" dirty="0"/>
          </a:p>
        </p:txBody>
      </p:sp>
      <p:sp>
        <p:nvSpPr>
          <p:cNvPr id="21" name="bm-k-4"/>
          <p:cNvSpPr txBox="1"/>
          <p:nvPr/>
        </p:nvSpPr>
        <p:spPr>
          <a:xfrm>
            <a:off x="6949440" y="5495544"/>
            <a:ext cx="1508760" cy="347472"/>
          </a:xfrm>
          <a:prstGeom prst="rect">
            <a:avLst/>
          </a:prstGeom>
          <a:noFill/>
          <a:ln/>
        </p:spPr>
        <p:txBody>
          <a:bodyPr wrap="square" lIns="0" tIns="0" rIns="0" bIns="0" rtlCol="0" anchor="ctr"/>
          <a:lstStyle/>
          <a:p>
            <a:pPr indent="0" marL="0">
              <a:buNone/>
            </a:pPr>
            <a:r>
              <a:rPr lang="en-US" sz="1400" b="1" dirty="0">
                <a:solidFill>
                  <a:schemeClr val="accent3"/>
                </a:solidFill>
              </a:rPr>
              <a:t>중복 검사</a:t>
            </a:r>
            <a:endParaRPr lang="en-US" sz="1400" dirty="0"/>
          </a:p>
        </p:txBody>
      </p:sp>
      <p:sp>
        <p:nvSpPr>
          <p:cNvPr id="22" name="bm-v-4"/>
          <p:cNvSpPr txBox="1"/>
          <p:nvPr/>
        </p:nvSpPr>
        <p:spPr>
          <a:xfrm>
            <a:off x="8503920" y="5495544"/>
            <a:ext cx="3139135" cy="347472"/>
          </a:xfrm>
          <a:prstGeom prst="rect">
            <a:avLst/>
          </a:prstGeom>
          <a:noFill/>
          <a:ln/>
        </p:spPr>
        <p:txBody>
          <a:bodyPr wrap="square" lIns="0" tIns="0" rIns="0" bIns="0" rtlCol="0" anchor="ctr"/>
          <a:lstStyle/>
          <a:p>
            <a:pPr indent="0" marL="0">
              <a:buNone/>
            </a:pPr>
            <a:r>
              <a:rPr lang="en-US" sz="1400" dirty="0">
                <a:solidFill>
                  <a:schemeClr val="tx2"/>
                </a:solidFill>
              </a:rPr>
              <a:t>복사본 22장 발견</a:t>
            </a:r>
            <a:endParaRPr lang="en-US" sz="1400" dirty="0"/>
          </a:p>
        </p:txBody>
      </p:sp>
      <p:sp>
        <p:nvSpPr>
          <p:cNvPr id="23" name="bm-k-5"/>
          <p:cNvSpPr txBox="1"/>
          <p:nvPr/>
        </p:nvSpPr>
        <p:spPr>
          <a:xfrm>
            <a:off x="6949440" y="5897880"/>
            <a:ext cx="1508760" cy="347472"/>
          </a:xfrm>
          <a:prstGeom prst="rect">
            <a:avLst/>
          </a:prstGeom>
          <a:noFill/>
          <a:ln/>
        </p:spPr>
        <p:txBody>
          <a:bodyPr wrap="square" lIns="0" tIns="0" rIns="0" bIns="0" rtlCol="0" anchor="ctr"/>
          <a:lstStyle/>
          <a:p>
            <a:pPr indent="0" marL="0">
              <a:buNone/>
            </a:pPr>
            <a:r>
              <a:rPr lang="en-US" sz="1400" b="1" dirty="0">
                <a:solidFill>
                  <a:schemeClr val="accent6"/>
                </a:solidFill>
              </a:rPr>
              <a:t>속도</a:t>
            </a:r>
            <a:endParaRPr lang="en-US" sz="1400" dirty="0"/>
          </a:p>
        </p:txBody>
      </p:sp>
      <p:sp>
        <p:nvSpPr>
          <p:cNvPr id="24" name="bm-v-5"/>
          <p:cNvSpPr txBox="1"/>
          <p:nvPr/>
        </p:nvSpPr>
        <p:spPr>
          <a:xfrm>
            <a:off x="8503920" y="5897880"/>
            <a:ext cx="3139135" cy="347472"/>
          </a:xfrm>
          <a:prstGeom prst="rect">
            <a:avLst/>
          </a:prstGeom>
          <a:noFill/>
          <a:ln/>
        </p:spPr>
        <p:txBody>
          <a:bodyPr wrap="square" lIns="0" tIns="0" rIns="0" bIns="0" rtlCol="0" anchor="ctr"/>
          <a:lstStyle/>
          <a:p>
            <a:pPr indent="0" marL="0">
              <a:buNone/>
            </a:pPr>
            <a:r>
              <a:rPr lang="en-US" sz="1400" dirty="0">
                <a:solidFill>
                  <a:schemeClr val="tx2"/>
                </a:solidFill>
              </a:rPr>
              <a:t>CPU · iGPU</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INT8 장단점</a:t>
            </a:r>
            <a:endParaRPr lang="en-US" sz="32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ctr"/>
          <a:lstStyle/>
          <a:p>
            <a:pPr algn="l" indent="0" marL="0">
              <a:buNone/>
            </a:pPr>
            <a:r>
              <a:rPr lang="en-US" sz="1500" dirty="0">
                <a:solidFill>
                  <a:schemeClr val="tx2"/>
                </a:solidFill>
              </a:rPr>
              <a:t>Self benchmark</a:t>
            </a:r>
            <a:endParaRPr lang="en-US" sz="1500" dirty="0"/>
          </a:p>
        </p:txBody>
      </p:sp>
      <p:graphicFrame>
        <p:nvGraphicFramePr>
          <p:cNvPr id="4" name="speed-chart" descr=""/>
          <p:cNvGraphicFramePr/>
          <p:nvPr/>
        </p:nvGraphicFramePr>
        <p:xfrm>
          <a:off x="548640" y="1554480"/>
          <a:ext cx="576072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int8-table"/>
          <p:cNvGraphicFramePr>
            <a:graphicFrameLocks noGrp="1"/>
          </p:cNvGraphicFramePr>
          <p:nvPr>
            <p:extLst>
              <p:ext uri="{D42A27DB-BD31-4B8C-83A1-F6EECF244321}">
                <p14:modId xmlns:p14="http://schemas.microsoft.com/office/powerpoint/2010/main" val="1579011935"/>
              </p:ext>
            </p:extLst>
          </p:nvPr>
        </p:nvGraphicFramePr>
        <p:xfrm>
          <a:off x="6537960" y="1828800"/>
          <a:ext cx="5102352" cy="914400"/>
        </p:xfrm>
        <a:graphic>
          <a:graphicData uri="http://schemas.openxmlformats.org/drawingml/2006/table">
            <a:tbl>
              <a:tblPr/>
              <a:tblGrid>
                <a:gridCol w="1188720"/>
                <a:gridCol w="731520"/>
                <a:gridCol w="1051560"/>
                <a:gridCol w="1307592"/>
                <a:gridCol w="822960"/>
              </a:tblGrid>
              <a:tr h="566928">
                <a:tc>
                  <a:txBody>
                    <a:bodyPr/>
                    <a:lstStyle/>
                    <a:p>
                      <a:pPr algn="l" indent="0" marL="0">
                        <a:buNone/>
                      </a:pPr>
                      <a:r>
                        <a:rPr lang="en-US" sz="1300" b="1" dirty="0">
                          <a:solidFill>
                            <a:schemeClr val="tx2"/>
                          </a:solidFill>
                          <a:latin typeface="Malgun Gothic" pitchFamily="34" charset="0"/>
                          <a:ea typeface="Malgun Gothic" pitchFamily="34" charset="-122"/>
                          <a:cs typeface="Malgun Gothic" pitchFamily="34" charset="-120"/>
                        </a:rPr>
                        <a:t>모델</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300" b="1" dirty="0">
                          <a:solidFill>
                            <a:schemeClr val="tx2"/>
                          </a:solidFill>
                          <a:latin typeface="Malgun Gothic" pitchFamily="34" charset="0"/>
                          <a:ea typeface="Malgun Gothic" pitchFamily="34" charset="-122"/>
                          <a:cs typeface="Malgun Gothic" pitchFamily="34" charset="-120"/>
                        </a:rPr>
                        <a:t>속도</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300" b="1" dirty="0">
                          <a:solidFill>
                            <a:schemeClr val="tx2"/>
                          </a:solidFill>
                          <a:latin typeface="Malgun Gothic" pitchFamily="34" charset="0"/>
                          <a:ea typeface="Malgun Gothic" pitchFamily="34" charset="-122"/>
                          <a:cs typeface="Malgun Gothic" pitchFamily="34" charset="-120"/>
                        </a:rPr>
                        <a:t>크기 MB</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300" b="1" dirty="0">
                          <a:solidFill>
                            <a:schemeClr val="tx2"/>
                          </a:solidFill>
                          <a:latin typeface="Malgun Gothic" pitchFamily="34" charset="0"/>
                          <a:ea typeface="Malgun Gothic" pitchFamily="34" charset="-122"/>
                          <a:cs typeface="Malgun Gothic" pitchFamily="34" charset="-120"/>
                        </a:rPr>
                        <a:t>mAP@50</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300" b="1" dirty="0">
                          <a:solidFill>
                            <a:schemeClr val="tx2"/>
                          </a:solidFill>
                          <a:latin typeface="Malgun Gothic" pitchFamily="34" charset="0"/>
                          <a:ea typeface="Malgun Gothic" pitchFamily="34" charset="-122"/>
                          <a:cs typeface="Malgun Gothic" pitchFamily="34" charset="-120"/>
                        </a:rPr>
                        <a:t>놓친 셀</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r>
              <a:tr h="566928">
                <a:tc>
                  <a:txBody>
                    <a:bodyPr/>
                    <a:lstStyle/>
                    <a:p>
                      <a:pPr algn="l" indent="0" marL="0">
                        <a:buNone/>
                      </a:pPr>
                      <a:r>
                        <a:rPr lang="en-US" sz="1300" b="1" dirty="0">
                          <a:solidFill>
                            <a:schemeClr val="accent4"/>
                          </a:solidFill>
                          <a:latin typeface="Malgun Gothic" pitchFamily="34" charset="0"/>
                          <a:ea typeface="Malgun Gothic" pitchFamily="34" charset="-122"/>
                          <a:cs typeface="Malgun Gothic" pitchFamily="34" charset="-120"/>
                        </a:rPr>
                        <a:t>ATSS</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b="1" dirty="0">
                          <a:solidFill>
                            <a:schemeClr val="accent1"/>
                          </a:solidFill>
                          <a:latin typeface="Malgun Gothic" pitchFamily="34" charset="0"/>
                          <a:ea typeface="Malgun Gothic" pitchFamily="34" charset="-122"/>
                          <a:cs typeface="Malgun Gothic" pitchFamily="34" charset="-120"/>
                        </a:rPr>
                        <a:t>2.2×</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tx1"/>
                          </a:solidFill>
                          <a:latin typeface="Malgun Gothic" pitchFamily="34" charset="0"/>
                          <a:ea typeface="Malgun Gothic" pitchFamily="34" charset="-122"/>
                          <a:cs typeface="Malgun Gothic" pitchFamily="34" charset="-120"/>
                        </a:rPr>
                        <a:t>5.7 → 3.9</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tx1"/>
                          </a:solidFill>
                          <a:latin typeface="Malgun Gothic" pitchFamily="34" charset="0"/>
                          <a:ea typeface="Malgun Gothic" pitchFamily="34" charset="-122"/>
                          <a:cs typeface="Malgun Gothic" pitchFamily="34" charset="-120"/>
                        </a:rPr>
                        <a:t>0.929 → 0.929</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accent2"/>
                          </a:solidFill>
                          <a:latin typeface="Malgun Gothic" pitchFamily="34" charset="0"/>
                          <a:ea typeface="Malgun Gothic" pitchFamily="34" charset="-122"/>
                          <a:cs typeface="Malgun Gothic" pitchFamily="34" charset="-120"/>
                        </a:rPr>
                        <a:t>0 → 1</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566928">
                <a:tc>
                  <a:txBody>
                    <a:bodyPr/>
                    <a:lstStyle/>
                    <a:p>
                      <a:pPr algn="l" indent="0" marL="0">
                        <a:buNone/>
                      </a:pPr>
                      <a:r>
                        <a:rPr lang="en-US" sz="1300" b="1" dirty="0">
                          <a:solidFill>
                            <a:schemeClr val="accent5"/>
                          </a:solidFill>
                          <a:latin typeface="Malgun Gothic" pitchFamily="34" charset="0"/>
                          <a:ea typeface="Malgun Gothic" pitchFamily="34" charset="-122"/>
                          <a:cs typeface="Malgun Gothic" pitchFamily="34" charset="-120"/>
                        </a:rPr>
                        <a:t>YOLOX-S</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b="1" dirty="0">
                          <a:solidFill>
                            <a:schemeClr val="accent1"/>
                          </a:solidFill>
                          <a:latin typeface="Malgun Gothic" pitchFamily="34" charset="0"/>
                          <a:ea typeface="Malgun Gothic" pitchFamily="34" charset="-122"/>
                          <a:cs typeface="Malgun Gothic" pitchFamily="34" charset="-120"/>
                        </a:rPr>
                        <a:t>2.0×</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tx1"/>
                          </a:solidFill>
                          <a:latin typeface="Malgun Gothic" pitchFamily="34" charset="0"/>
                          <a:ea typeface="Malgun Gothic" pitchFamily="34" charset="-122"/>
                          <a:cs typeface="Malgun Gothic" pitchFamily="34" charset="-120"/>
                        </a:rPr>
                        <a:t>18.4 → 9.8</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tx1"/>
                          </a:solidFill>
                          <a:latin typeface="Malgun Gothic" pitchFamily="34" charset="0"/>
                          <a:ea typeface="Malgun Gothic" pitchFamily="34" charset="-122"/>
                          <a:cs typeface="Malgun Gothic" pitchFamily="34" charset="-120"/>
                        </a:rPr>
                        <a:t>0.892 → 0.902</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accent2"/>
                          </a:solidFill>
                          <a:latin typeface="Malgun Gothic" pitchFamily="34" charset="0"/>
                          <a:ea typeface="Malgun Gothic" pitchFamily="34" charset="-122"/>
                          <a:cs typeface="Malgun Gothic" pitchFamily="34" charset="-120"/>
                        </a:rPr>
                        <a:t>6 → 8</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566928">
                <a:tc>
                  <a:txBody>
                    <a:bodyPr/>
                    <a:lstStyle/>
                    <a:p>
                      <a:pPr algn="l" indent="0" marL="0">
                        <a:buNone/>
                      </a:pPr>
                      <a:r>
                        <a:rPr lang="en-US" sz="1300" b="1" dirty="0">
                          <a:solidFill>
                            <a:schemeClr val="accent6"/>
                          </a:solidFill>
                          <a:latin typeface="Malgun Gothic" pitchFamily="34" charset="0"/>
                          <a:ea typeface="Malgun Gothic" pitchFamily="34" charset="-122"/>
                          <a:cs typeface="Malgun Gothic" pitchFamily="34" charset="-120"/>
                        </a:rPr>
                        <a:t>YOLOX-Tiny</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b="1" dirty="0">
                          <a:solidFill>
                            <a:schemeClr val="accent1"/>
                          </a:solidFill>
                          <a:latin typeface="Malgun Gothic" pitchFamily="34" charset="0"/>
                          <a:ea typeface="Malgun Gothic" pitchFamily="34" charset="-122"/>
                          <a:cs typeface="Malgun Gothic" pitchFamily="34" charset="-120"/>
                        </a:rPr>
                        <a:t>4.0×</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tx1"/>
                          </a:solidFill>
                          <a:latin typeface="Malgun Gothic" pitchFamily="34" charset="0"/>
                          <a:ea typeface="Malgun Gothic" pitchFamily="34" charset="-122"/>
                          <a:cs typeface="Malgun Gothic" pitchFamily="34" charset="-120"/>
                        </a:rPr>
                        <a:t>10.6 → 5.8</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tx1"/>
                          </a:solidFill>
                          <a:latin typeface="Malgun Gothic" pitchFamily="34" charset="0"/>
                          <a:ea typeface="Malgun Gothic" pitchFamily="34" charset="-122"/>
                          <a:cs typeface="Malgun Gothic" pitchFamily="34" charset="-120"/>
                        </a:rPr>
                        <a:t>0.832 → 0.829</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300" dirty="0">
                          <a:solidFill>
                            <a:schemeClr val="tx1"/>
                          </a:solidFill>
                          <a:latin typeface="Malgun Gothic" pitchFamily="34" charset="0"/>
                          <a:ea typeface="Malgun Gothic" pitchFamily="34" charset="-122"/>
                          <a:cs typeface="Malgun Gothic" pitchFamily="34" charset="-120"/>
                        </a:rPr>
                        <a:t>1 → 0</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bl>
          </a:graphicData>
        </a:graphic>
      </p:graphicFrame>
      <p:sp>
        <p:nvSpPr>
          <p:cNvPr id="6" name="pro-card"/>
          <p:cNvSpPr/>
          <p:nvPr/>
        </p:nvSpPr>
        <p:spPr>
          <a:xfrm>
            <a:off x="548640" y="5074920"/>
            <a:ext cx="5440680" cy="914400"/>
          </a:xfrm>
          <a:prstGeom prst="roundRect">
            <a:avLst>
              <a:gd name="adj" fmla="val 8000"/>
            </a:avLst>
          </a:prstGeom>
          <a:solidFill>
            <a:schemeClr val="bg2"/>
          </a:solidFill>
          <a:ln/>
        </p:spPr>
      </p:sp>
      <p:sp>
        <p:nvSpPr>
          <p:cNvPr id="7" name="pro"/>
          <p:cNvSpPr txBox="1"/>
          <p:nvPr/>
        </p:nvSpPr>
        <p:spPr>
          <a:xfrm>
            <a:off x="822960" y="5074920"/>
            <a:ext cx="5029200" cy="914400"/>
          </a:xfrm>
          <a:prstGeom prst="rect">
            <a:avLst/>
          </a:prstGeom>
          <a:noFill/>
          <a:ln/>
        </p:spPr>
        <p:txBody>
          <a:bodyPr wrap="square" lIns="0" tIns="0" rIns="0" bIns="0" rtlCol="0" anchor="ctr"/>
          <a:lstStyle/>
          <a:p>
            <a:pPr indent="0" marL="0">
              <a:buNone/>
            </a:pPr>
            <a:r>
              <a:rPr lang="en-US" sz="1600" b="1" dirty="0">
                <a:solidFill>
                  <a:schemeClr val="accent6"/>
                </a:solidFill>
              </a:rPr>
              <a:t>장점  </a:t>
            </a:r>
            <a:pPr indent="0" marL="0">
              <a:buNone/>
            </a:pPr>
            <a:r>
              <a:rPr lang="en-US" sz="1600" dirty="0">
                <a:solidFill>
                  <a:schemeClr val="tx1"/>
                </a:solidFill>
              </a:rPr>
              <a:t>2–4배 빠름 · 크기 ½ · mAP 유지</a:t>
            </a:r>
            <a:endParaRPr lang="en-US" sz="1600" dirty="0"/>
          </a:p>
        </p:txBody>
      </p:sp>
      <p:sp>
        <p:nvSpPr>
          <p:cNvPr id="8" name="con-card"/>
          <p:cNvSpPr/>
          <p:nvPr/>
        </p:nvSpPr>
        <p:spPr>
          <a:xfrm>
            <a:off x="6199632" y="5074920"/>
            <a:ext cx="5440680" cy="914400"/>
          </a:xfrm>
          <a:prstGeom prst="roundRect">
            <a:avLst>
              <a:gd name="adj" fmla="val 8000"/>
            </a:avLst>
          </a:prstGeom>
          <a:solidFill>
            <a:schemeClr val="bg2"/>
          </a:solidFill>
          <a:ln/>
        </p:spPr>
      </p:sp>
      <p:sp>
        <p:nvSpPr>
          <p:cNvPr id="9" name="con"/>
          <p:cNvSpPr txBox="1"/>
          <p:nvPr/>
        </p:nvSpPr>
        <p:spPr>
          <a:xfrm>
            <a:off x="6473952" y="5074920"/>
            <a:ext cx="5029200" cy="914400"/>
          </a:xfrm>
          <a:prstGeom prst="rect">
            <a:avLst/>
          </a:prstGeom>
          <a:noFill/>
          <a:ln/>
        </p:spPr>
        <p:txBody>
          <a:bodyPr wrap="square" lIns="0" tIns="0" rIns="0" bIns="0" rtlCol="0" anchor="ctr"/>
          <a:lstStyle/>
          <a:p>
            <a:pPr indent="0" marL="0">
              <a:buNone/>
            </a:pPr>
            <a:r>
              <a:rPr lang="en-US" sz="1600" b="1" dirty="0">
                <a:solidFill>
                  <a:schemeClr val="accent2"/>
                </a:solidFill>
              </a:rPr>
              <a:t>단점  </a:t>
            </a:r>
            <a:pPr indent="0" marL="0">
              <a:buNone/>
            </a:pPr>
            <a:r>
              <a:rPr lang="en-US" sz="1600" dirty="0">
                <a:solidFill>
                  <a:schemeClr val="tx1"/>
                </a:solidFill>
              </a:rPr>
              <a:t>놓침 증가 · 기준값 재설정</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2차 데이터셋</a:t>
            </a:r>
            <a:endParaRPr lang="en-US" sz="3200" dirty="0"/>
          </a:p>
        </p:txBody>
      </p:sp>
      <p:pic>
        <p:nvPicPr>
          <p:cNvPr id="3" name="rf-0" descr="C:\Users\user\_se4nchoi\batteryvision\docs\submission\build\img\roboflow_v8.png">    </p:cNvPr>
          <p:cNvPicPr>
            <a:picLocks noChangeAspect="1"/>
          </p:cNvPicPr>
          <p:nvPr/>
        </p:nvPicPr>
        <p:blipFill>
          <a:blip r:embed="rId1"/>
          <a:stretch>
            <a:fillRect/>
          </a:stretch>
        </p:blipFill>
        <p:spPr>
          <a:xfrm>
            <a:off x="548640" y="1600200"/>
            <a:ext cx="5440680" cy="3459761"/>
          </a:xfrm>
          <a:prstGeom prst="rect">
            <a:avLst/>
          </a:prstGeom>
        </p:spPr>
      </p:pic>
      <p:sp>
        <p:nvSpPr>
          <p:cNvPr id="4" name="rf-tag-0-bg"/>
          <p:cNvSpPr/>
          <p:nvPr/>
        </p:nvSpPr>
        <p:spPr>
          <a:xfrm>
            <a:off x="548640" y="5197121"/>
            <a:ext cx="731520" cy="347472"/>
          </a:xfrm>
          <a:prstGeom prst="roundRect">
            <a:avLst>
              <a:gd name="adj" fmla="val 13158"/>
            </a:avLst>
          </a:prstGeom>
          <a:solidFill>
            <a:schemeClr val="accent1">
              <a:alpha val="20000"/>
            </a:schemeClr>
          </a:solidFill>
          <a:ln w="12700">
            <a:solidFill>
              <a:schemeClr val="accent1"/>
            </a:solidFill>
            <a:prstDash val="solid"/>
          </a:ln>
        </p:spPr>
      </p:sp>
      <p:sp>
        <p:nvSpPr>
          <p:cNvPr id="5" name="rf-tag-0"/>
          <p:cNvSpPr txBox="1"/>
          <p:nvPr/>
        </p:nvSpPr>
        <p:spPr>
          <a:xfrm>
            <a:off x="548640" y="5197121"/>
            <a:ext cx="731520" cy="347472"/>
          </a:xfrm>
          <a:prstGeom prst="rect">
            <a:avLst/>
          </a:prstGeom>
          <a:noFill/>
          <a:ln/>
        </p:spPr>
        <p:txBody>
          <a:bodyPr wrap="square" lIns="0" tIns="0" rIns="0" bIns="0" rtlCol="0" anchor="ctr"/>
          <a:lstStyle/>
          <a:p>
            <a:pPr algn="ctr" indent="0" marL="0">
              <a:buNone/>
            </a:pPr>
            <a:r>
              <a:rPr lang="en-US" sz="1300" b="1" dirty="0">
                <a:solidFill>
                  <a:schemeClr val="accent1"/>
                </a:solidFill>
              </a:rPr>
              <a:t>1차</a:t>
            </a:r>
            <a:endParaRPr lang="en-US" sz="1300" dirty="0"/>
          </a:p>
        </p:txBody>
      </p:sp>
      <p:sp>
        <p:nvSpPr>
          <p:cNvPr id="6" name="rf-cap-0"/>
          <p:cNvSpPr txBox="1"/>
          <p:nvPr/>
        </p:nvSpPr>
        <p:spPr>
          <a:xfrm>
            <a:off x="1417320" y="5197121"/>
            <a:ext cx="4526280" cy="347472"/>
          </a:xfrm>
          <a:prstGeom prst="rect">
            <a:avLst/>
          </a:prstGeom>
          <a:noFill/>
          <a:ln/>
        </p:spPr>
        <p:txBody>
          <a:bodyPr wrap="square" lIns="0" tIns="0" rIns="0" bIns="0" rtlCol="0" anchor="ctr"/>
          <a:lstStyle/>
          <a:p>
            <a:pPr indent="0" marL="0">
              <a:buNone/>
            </a:pPr>
            <a:r>
              <a:rPr lang="en-US" sz="1500" dirty="0">
                <a:solidFill>
                  <a:schemeClr val="tx1"/>
                </a:solidFill>
              </a:rPr>
              <a:t>v8 · 3,673장 · 학습</a:t>
            </a:r>
            <a:endParaRPr lang="en-US" sz="1500" dirty="0"/>
          </a:p>
        </p:txBody>
      </p:sp>
      <p:pic>
        <p:nvPicPr>
          <p:cNvPr id="7" name="rf-1" descr="C:\Users\user\_se4nchoi\batteryvision\docs\submission\build\img\roboflow_v2.png">    </p:cNvPr>
          <p:cNvPicPr>
            <a:picLocks noChangeAspect="1"/>
          </p:cNvPicPr>
          <p:nvPr/>
        </p:nvPicPr>
        <p:blipFill>
          <a:blip r:embed="rId2"/>
          <a:stretch>
            <a:fillRect/>
          </a:stretch>
        </p:blipFill>
        <p:spPr>
          <a:xfrm>
            <a:off x="6190488" y="1600200"/>
            <a:ext cx="5440680" cy="3320210"/>
          </a:xfrm>
          <a:prstGeom prst="rect">
            <a:avLst/>
          </a:prstGeom>
        </p:spPr>
      </p:pic>
      <p:sp>
        <p:nvSpPr>
          <p:cNvPr id="8" name="rf-tag-1-bg"/>
          <p:cNvSpPr/>
          <p:nvPr/>
        </p:nvSpPr>
        <p:spPr>
          <a:xfrm>
            <a:off x="6190488" y="5057570"/>
            <a:ext cx="731520" cy="347472"/>
          </a:xfrm>
          <a:prstGeom prst="roundRect">
            <a:avLst>
              <a:gd name="adj" fmla="val 13158"/>
            </a:avLst>
          </a:prstGeom>
          <a:solidFill>
            <a:schemeClr val="accent3">
              <a:alpha val="20000"/>
            </a:schemeClr>
          </a:solidFill>
          <a:ln w="12700">
            <a:solidFill>
              <a:schemeClr val="accent3"/>
            </a:solidFill>
            <a:prstDash val="solid"/>
          </a:ln>
        </p:spPr>
      </p:sp>
      <p:sp>
        <p:nvSpPr>
          <p:cNvPr id="9" name="rf-tag-1"/>
          <p:cNvSpPr txBox="1"/>
          <p:nvPr/>
        </p:nvSpPr>
        <p:spPr>
          <a:xfrm>
            <a:off x="6190488" y="5057570"/>
            <a:ext cx="731520" cy="347472"/>
          </a:xfrm>
          <a:prstGeom prst="rect">
            <a:avLst/>
          </a:prstGeom>
          <a:noFill/>
          <a:ln/>
        </p:spPr>
        <p:txBody>
          <a:bodyPr wrap="square" lIns="0" tIns="0" rIns="0" bIns="0" rtlCol="0" anchor="ctr"/>
          <a:lstStyle/>
          <a:p>
            <a:pPr algn="ctr" indent="0" marL="0">
              <a:buNone/>
            </a:pPr>
            <a:r>
              <a:rPr lang="en-US" sz="1300" b="1" dirty="0">
                <a:solidFill>
                  <a:schemeClr val="accent3"/>
                </a:solidFill>
              </a:rPr>
              <a:t>2차</a:t>
            </a:r>
            <a:endParaRPr lang="en-US" sz="1300" dirty="0"/>
          </a:p>
        </p:txBody>
      </p:sp>
      <p:sp>
        <p:nvSpPr>
          <p:cNvPr id="10" name="rf-cap-1"/>
          <p:cNvSpPr txBox="1"/>
          <p:nvPr/>
        </p:nvSpPr>
        <p:spPr>
          <a:xfrm>
            <a:off x="7059168" y="5057570"/>
            <a:ext cx="4526280" cy="347472"/>
          </a:xfrm>
          <a:prstGeom prst="rect">
            <a:avLst/>
          </a:prstGeom>
          <a:noFill/>
          <a:ln/>
        </p:spPr>
        <p:txBody>
          <a:bodyPr wrap="square" lIns="0" tIns="0" rIns="0" bIns="0" rtlCol="0" anchor="ctr"/>
          <a:lstStyle/>
          <a:p>
            <a:pPr indent="0" marL="0">
              <a:buNone/>
            </a:pPr>
            <a:r>
              <a:rPr lang="en-US" sz="1500" dirty="0">
                <a:solidFill>
                  <a:schemeClr val="tx1"/>
                </a:solidFill>
              </a:rPr>
              <a:t>v2 · 720장 · 테스트만</a:t>
            </a:r>
            <a:endParaRPr lang="en-US" sz="1500" dirty="0"/>
          </a:p>
        </p:txBody>
      </p:sp>
      <p:sp>
        <p:nvSpPr>
          <p:cNvPr id="11" name="dedup-bg"/>
          <p:cNvSpPr/>
          <p:nvPr/>
        </p:nvSpPr>
        <p:spPr>
          <a:xfrm>
            <a:off x="548640" y="5715000"/>
            <a:ext cx="2743200" cy="457200"/>
          </a:xfrm>
          <a:prstGeom prst="roundRect">
            <a:avLst>
              <a:gd name="adj" fmla="val 10000"/>
            </a:avLst>
          </a:prstGeom>
          <a:solidFill>
            <a:schemeClr val="accent3">
              <a:alpha val="20000"/>
            </a:schemeClr>
          </a:solidFill>
          <a:ln w="12700">
            <a:solidFill>
              <a:schemeClr val="accent3"/>
            </a:solidFill>
            <a:prstDash val="solid"/>
          </a:ln>
        </p:spPr>
      </p:sp>
      <p:sp>
        <p:nvSpPr>
          <p:cNvPr id="12" name="dedup"/>
          <p:cNvSpPr txBox="1"/>
          <p:nvPr/>
        </p:nvSpPr>
        <p:spPr>
          <a:xfrm>
            <a:off x="548640" y="5715000"/>
            <a:ext cx="2743200" cy="457200"/>
          </a:xfrm>
          <a:prstGeom prst="rect">
            <a:avLst/>
          </a:prstGeom>
          <a:noFill/>
          <a:ln/>
        </p:spPr>
        <p:txBody>
          <a:bodyPr wrap="square" lIns="0" tIns="0" rIns="0" bIns="0" rtlCol="0" anchor="ctr"/>
          <a:lstStyle/>
          <a:p>
            <a:pPr algn="ctr" indent="0" marL="0">
              <a:buNone/>
            </a:pPr>
            <a:r>
              <a:rPr lang="en-US" sz="1300" b="1" dirty="0">
                <a:solidFill>
                  <a:schemeClr val="accent3"/>
                </a:solidFill>
              </a:rPr>
              <a:t>중복 140장 제거</a:t>
            </a:r>
            <a:endParaRPr lang="en-US" sz="1300" dirty="0"/>
          </a:p>
        </p:txBody>
      </p:sp>
      <p:sp>
        <p:nvSpPr>
          <p:cNvPr id="13" name="dedup-arrow"/>
          <p:cNvSpPr txBox="1"/>
          <p:nvPr/>
        </p:nvSpPr>
        <p:spPr>
          <a:xfrm>
            <a:off x="3337560" y="5715000"/>
            <a:ext cx="457200" cy="45720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14" name="clean45-bg"/>
          <p:cNvSpPr/>
          <p:nvPr/>
        </p:nvSpPr>
        <p:spPr>
          <a:xfrm>
            <a:off x="3840480" y="5715000"/>
            <a:ext cx="3840480" cy="457200"/>
          </a:xfrm>
          <a:prstGeom prst="roundRect">
            <a:avLst>
              <a:gd name="adj" fmla="val 10000"/>
            </a:avLst>
          </a:prstGeom>
          <a:solidFill>
            <a:schemeClr val="accent1">
              <a:alpha val="20000"/>
            </a:schemeClr>
          </a:solidFill>
          <a:ln w="12700">
            <a:solidFill>
              <a:schemeClr val="accent1"/>
            </a:solidFill>
            <a:prstDash val="solid"/>
          </a:ln>
        </p:spPr>
      </p:sp>
      <p:sp>
        <p:nvSpPr>
          <p:cNvPr id="15" name="clean45"/>
          <p:cNvSpPr txBox="1"/>
          <p:nvPr/>
        </p:nvSpPr>
        <p:spPr>
          <a:xfrm>
            <a:off x="3840480" y="5715000"/>
            <a:ext cx="3840480" cy="457200"/>
          </a:xfrm>
          <a:prstGeom prst="rect">
            <a:avLst/>
          </a:prstGeom>
          <a:noFill/>
          <a:ln/>
        </p:spPr>
        <p:txBody>
          <a:bodyPr wrap="square" lIns="0" tIns="0" rIns="0" bIns="0" rtlCol="0" anchor="ctr"/>
          <a:lstStyle/>
          <a:p>
            <a:pPr algn="ctr" indent="0" marL="0">
              <a:buNone/>
            </a:pPr>
            <a:r>
              <a:rPr lang="en-US" sz="1300" b="1" dirty="0">
                <a:solidFill>
                  <a:schemeClr val="accent1"/>
                </a:solidFill>
              </a:rPr>
              <a:t>45장 (결함 30 · 정상 15)</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2차 세트 결과</a:t>
            </a:r>
            <a:endParaRPr lang="en-US" sz="3200" dirty="0"/>
          </a:p>
        </p:txBody>
      </p:sp>
      <p:sp>
        <p:nvSpPr>
          <p:cNvPr id="3" name="holdout-card"/>
          <p:cNvSpPr/>
          <p:nvPr/>
        </p:nvSpPr>
        <p:spPr>
          <a:xfrm>
            <a:off x="548640" y="1600200"/>
            <a:ext cx="6035040" cy="2514600"/>
          </a:xfrm>
          <a:prstGeom prst="roundRect">
            <a:avLst>
              <a:gd name="adj" fmla="val 2909"/>
            </a:avLst>
          </a:prstGeom>
          <a:solidFill>
            <a:schemeClr val="bg2"/>
          </a:solidFill>
          <a:ln/>
        </p:spPr>
      </p:sp>
      <p:sp>
        <p:nvSpPr>
          <p:cNvPr id="4" name="ho-h"/>
          <p:cNvSpPr txBox="1"/>
          <p:nvPr/>
        </p:nvSpPr>
        <p:spPr>
          <a:xfrm>
            <a:off x="822960" y="1709928"/>
            <a:ext cx="5486400" cy="320040"/>
          </a:xfrm>
          <a:prstGeom prst="rect">
            <a:avLst/>
          </a:prstGeom>
          <a:noFill/>
          <a:ln/>
        </p:spPr>
        <p:txBody>
          <a:bodyPr wrap="square" lIns="0" tIns="0" rIns="0" bIns="0" rtlCol="0" anchor="t"/>
          <a:lstStyle/>
          <a:p>
            <a:pPr indent="0" marL="0">
              <a:buNone/>
            </a:pPr>
            <a:r>
              <a:rPr lang="en-US" sz="1600" b="1" dirty="0">
                <a:solidFill>
                  <a:schemeClr val="tx1"/>
                </a:solidFill>
              </a:rPr>
              <a:t>결함 셀 검출률</a:t>
            </a:r>
            <a:endParaRPr lang="en-US" sz="1600" dirty="0"/>
          </a:p>
        </p:txBody>
      </p:sp>
      <p:sp>
        <p:nvSpPr>
          <p:cNvPr id="5" name="ho-c1"/>
          <p:cNvSpPr txBox="1"/>
          <p:nvPr/>
        </p:nvSpPr>
        <p:spPr>
          <a:xfrm>
            <a:off x="2926080" y="2057400"/>
            <a:ext cx="1463040" cy="274320"/>
          </a:xfrm>
          <a:prstGeom prst="rect">
            <a:avLst/>
          </a:prstGeom>
          <a:noFill/>
          <a:ln/>
        </p:spPr>
        <p:txBody>
          <a:bodyPr wrap="square" lIns="0" tIns="0" rIns="0" bIns="0" rtlCol="0" anchor="t"/>
          <a:lstStyle/>
          <a:p>
            <a:pPr algn="r" indent="0" marL="0">
              <a:buNone/>
            </a:pPr>
            <a:r>
              <a:rPr lang="en-US" sz="1200" dirty="0">
                <a:solidFill>
                  <a:schemeClr val="tx2"/>
                </a:solidFill>
              </a:rPr>
              <a:t>1차</a:t>
            </a:r>
            <a:endParaRPr lang="en-US" sz="1200" dirty="0"/>
          </a:p>
        </p:txBody>
      </p:sp>
      <p:sp>
        <p:nvSpPr>
          <p:cNvPr id="6" name="ho-c2"/>
          <p:cNvSpPr txBox="1"/>
          <p:nvPr/>
        </p:nvSpPr>
        <p:spPr>
          <a:xfrm>
            <a:off x="4754880" y="2057400"/>
            <a:ext cx="1463040" cy="274320"/>
          </a:xfrm>
          <a:prstGeom prst="rect">
            <a:avLst/>
          </a:prstGeom>
          <a:noFill/>
          <a:ln/>
        </p:spPr>
        <p:txBody>
          <a:bodyPr wrap="square" lIns="0" tIns="0" rIns="0" bIns="0" rtlCol="0" anchor="t"/>
          <a:lstStyle/>
          <a:p>
            <a:pPr algn="r" indent="0" marL="0">
              <a:buNone/>
            </a:pPr>
            <a:r>
              <a:rPr lang="en-US" sz="1200" dirty="0">
                <a:solidFill>
                  <a:schemeClr val="tx2"/>
                </a:solidFill>
              </a:rPr>
              <a:t>2차</a:t>
            </a:r>
            <a:endParaRPr lang="en-US" sz="1200" dirty="0"/>
          </a:p>
        </p:txBody>
      </p:sp>
      <p:sp>
        <p:nvSpPr>
          <p:cNvPr id="7" name="ho-dot-0"/>
          <p:cNvSpPr/>
          <p:nvPr/>
        </p:nvSpPr>
        <p:spPr>
          <a:xfrm>
            <a:off x="822960" y="2551176"/>
            <a:ext cx="146304" cy="146304"/>
          </a:xfrm>
          <a:prstGeom prst="ellipse">
            <a:avLst/>
          </a:prstGeom>
          <a:solidFill>
            <a:schemeClr val="accent4"/>
          </a:solidFill>
          <a:ln/>
        </p:spPr>
      </p:sp>
      <p:sp>
        <p:nvSpPr>
          <p:cNvPr id="8" name="ho-n-0"/>
          <p:cNvSpPr txBox="1"/>
          <p:nvPr/>
        </p:nvSpPr>
        <p:spPr>
          <a:xfrm>
            <a:off x="1060704" y="2377440"/>
            <a:ext cx="1828800" cy="502920"/>
          </a:xfrm>
          <a:prstGeom prst="rect">
            <a:avLst/>
          </a:prstGeom>
          <a:noFill/>
          <a:ln/>
        </p:spPr>
        <p:txBody>
          <a:bodyPr wrap="square" lIns="0" tIns="0" rIns="0" bIns="0" rtlCol="0" anchor="ctr"/>
          <a:lstStyle/>
          <a:p>
            <a:pPr indent="0" marL="0">
              <a:buNone/>
            </a:pPr>
            <a:r>
              <a:rPr lang="en-US" sz="1600" b="1" dirty="0">
                <a:solidFill>
                  <a:schemeClr val="tx1"/>
                </a:solidFill>
              </a:rPr>
              <a:t>ATSS</a:t>
            </a:r>
            <a:endParaRPr lang="en-US" sz="1600" dirty="0"/>
          </a:p>
        </p:txBody>
      </p:sp>
      <p:sp>
        <p:nvSpPr>
          <p:cNvPr id="9" name="ho-a-0"/>
          <p:cNvSpPr txBox="1"/>
          <p:nvPr/>
        </p:nvSpPr>
        <p:spPr>
          <a:xfrm>
            <a:off x="2926080" y="2377440"/>
            <a:ext cx="1463040" cy="502920"/>
          </a:xfrm>
          <a:prstGeom prst="rect">
            <a:avLst/>
          </a:prstGeom>
          <a:noFill/>
          <a:ln/>
        </p:spPr>
        <p:txBody>
          <a:bodyPr wrap="square" lIns="0" tIns="0" rIns="0" bIns="0" rtlCol="0" anchor="ctr"/>
          <a:lstStyle/>
          <a:p>
            <a:pPr algn="r" indent="0" marL="0">
              <a:buNone/>
            </a:pPr>
            <a:r>
              <a:rPr lang="en-US" sz="2600" b="1" dirty="0">
                <a:solidFill>
                  <a:schemeClr val="tx2"/>
                </a:solidFill>
              </a:rPr>
              <a:t>100%</a:t>
            </a:r>
            <a:endParaRPr lang="en-US" sz="2600" dirty="0"/>
          </a:p>
        </p:txBody>
      </p:sp>
      <p:sp>
        <p:nvSpPr>
          <p:cNvPr id="10" name="ho-b-0"/>
          <p:cNvSpPr txBox="1"/>
          <p:nvPr/>
        </p:nvSpPr>
        <p:spPr>
          <a:xfrm>
            <a:off x="4754880" y="2377440"/>
            <a:ext cx="1463040" cy="502920"/>
          </a:xfrm>
          <a:prstGeom prst="rect">
            <a:avLst/>
          </a:prstGeom>
          <a:noFill/>
          <a:ln/>
        </p:spPr>
        <p:txBody>
          <a:bodyPr wrap="square" lIns="0" tIns="0" rIns="0" bIns="0" rtlCol="0" anchor="ctr"/>
          <a:lstStyle/>
          <a:p>
            <a:pPr algn="r" indent="0" marL="0">
              <a:buNone/>
            </a:pPr>
            <a:r>
              <a:rPr lang="en-US" sz="2600" b="1" dirty="0">
                <a:solidFill>
                  <a:schemeClr val="accent2"/>
                </a:solidFill>
              </a:rPr>
              <a:t>47%</a:t>
            </a:r>
            <a:endParaRPr lang="en-US" sz="2600" dirty="0"/>
          </a:p>
        </p:txBody>
      </p:sp>
      <p:sp>
        <p:nvSpPr>
          <p:cNvPr id="11" name="ho-dot-1"/>
          <p:cNvSpPr/>
          <p:nvPr/>
        </p:nvSpPr>
        <p:spPr>
          <a:xfrm>
            <a:off x="822960" y="3099816"/>
            <a:ext cx="146304" cy="146304"/>
          </a:xfrm>
          <a:prstGeom prst="ellipse">
            <a:avLst/>
          </a:prstGeom>
          <a:solidFill>
            <a:schemeClr val="accent5"/>
          </a:solidFill>
          <a:ln/>
        </p:spPr>
      </p:sp>
      <p:sp>
        <p:nvSpPr>
          <p:cNvPr id="12" name="ho-n-1"/>
          <p:cNvSpPr txBox="1"/>
          <p:nvPr/>
        </p:nvSpPr>
        <p:spPr>
          <a:xfrm>
            <a:off x="1060704" y="2926080"/>
            <a:ext cx="1828800" cy="502920"/>
          </a:xfrm>
          <a:prstGeom prst="rect">
            <a:avLst/>
          </a:prstGeom>
          <a:noFill/>
          <a:ln/>
        </p:spPr>
        <p:txBody>
          <a:bodyPr wrap="square" lIns="0" tIns="0" rIns="0" bIns="0" rtlCol="0" anchor="ctr"/>
          <a:lstStyle/>
          <a:p>
            <a:pPr indent="0" marL="0">
              <a:buNone/>
            </a:pPr>
            <a:r>
              <a:rPr lang="en-US" sz="1600" b="1" dirty="0">
                <a:solidFill>
                  <a:schemeClr val="tx1"/>
                </a:solidFill>
              </a:rPr>
              <a:t>YOLOX-S</a:t>
            </a:r>
            <a:endParaRPr lang="en-US" sz="1600" dirty="0"/>
          </a:p>
        </p:txBody>
      </p:sp>
      <p:sp>
        <p:nvSpPr>
          <p:cNvPr id="13" name="ho-a-1"/>
          <p:cNvSpPr txBox="1"/>
          <p:nvPr/>
        </p:nvSpPr>
        <p:spPr>
          <a:xfrm>
            <a:off x="2926080" y="2926080"/>
            <a:ext cx="1463040" cy="502920"/>
          </a:xfrm>
          <a:prstGeom prst="rect">
            <a:avLst/>
          </a:prstGeom>
          <a:noFill/>
          <a:ln/>
        </p:spPr>
        <p:txBody>
          <a:bodyPr wrap="square" lIns="0" tIns="0" rIns="0" bIns="0" rtlCol="0" anchor="ctr"/>
          <a:lstStyle/>
          <a:p>
            <a:pPr algn="r" indent="0" marL="0">
              <a:buNone/>
            </a:pPr>
            <a:r>
              <a:rPr lang="en-US" sz="2600" b="1" dirty="0">
                <a:solidFill>
                  <a:schemeClr val="tx2"/>
                </a:solidFill>
              </a:rPr>
              <a:t>94%</a:t>
            </a:r>
            <a:endParaRPr lang="en-US" sz="2600" dirty="0"/>
          </a:p>
        </p:txBody>
      </p:sp>
      <p:sp>
        <p:nvSpPr>
          <p:cNvPr id="14" name="ho-b-1"/>
          <p:cNvSpPr txBox="1"/>
          <p:nvPr/>
        </p:nvSpPr>
        <p:spPr>
          <a:xfrm>
            <a:off x="4754880" y="2926080"/>
            <a:ext cx="1463040" cy="502920"/>
          </a:xfrm>
          <a:prstGeom prst="rect">
            <a:avLst/>
          </a:prstGeom>
          <a:noFill/>
          <a:ln/>
        </p:spPr>
        <p:txBody>
          <a:bodyPr wrap="square" lIns="0" tIns="0" rIns="0" bIns="0" rtlCol="0" anchor="ctr"/>
          <a:lstStyle/>
          <a:p>
            <a:pPr algn="r" indent="0" marL="0">
              <a:buNone/>
            </a:pPr>
            <a:r>
              <a:rPr lang="en-US" sz="2600" b="1" dirty="0">
                <a:solidFill>
                  <a:schemeClr val="accent2"/>
                </a:solidFill>
              </a:rPr>
              <a:t>3%</a:t>
            </a:r>
            <a:endParaRPr lang="en-US" sz="2600" dirty="0"/>
          </a:p>
        </p:txBody>
      </p:sp>
      <p:sp>
        <p:nvSpPr>
          <p:cNvPr id="15" name="ho-dot-2"/>
          <p:cNvSpPr/>
          <p:nvPr/>
        </p:nvSpPr>
        <p:spPr>
          <a:xfrm>
            <a:off x="822960" y="3648456"/>
            <a:ext cx="146304" cy="146304"/>
          </a:xfrm>
          <a:prstGeom prst="ellipse">
            <a:avLst/>
          </a:prstGeom>
          <a:solidFill>
            <a:schemeClr val="accent6"/>
          </a:solidFill>
          <a:ln/>
        </p:spPr>
      </p:sp>
      <p:sp>
        <p:nvSpPr>
          <p:cNvPr id="16" name="ho-n-2"/>
          <p:cNvSpPr txBox="1"/>
          <p:nvPr/>
        </p:nvSpPr>
        <p:spPr>
          <a:xfrm>
            <a:off x="1060704" y="3474720"/>
            <a:ext cx="1828800" cy="502920"/>
          </a:xfrm>
          <a:prstGeom prst="rect">
            <a:avLst/>
          </a:prstGeom>
          <a:noFill/>
          <a:ln/>
        </p:spPr>
        <p:txBody>
          <a:bodyPr wrap="square" lIns="0" tIns="0" rIns="0" bIns="0" rtlCol="0" anchor="ctr"/>
          <a:lstStyle/>
          <a:p>
            <a:pPr indent="0" marL="0">
              <a:buNone/>
            </a:pPr>
            <a:r>
              <a:rPr lang="en-US" sz="1600" b="1" dirty="0">
                <a:solidFill>
                  <a:schemeClr val="tx1"/>
                </a:solidFill>
              </a:rPr>
              <a:t>YOLOX-Tiny</a:t>
            </a:r>
            <a:endParaRPr lang="en-US" sz="1600" dirty="0"/>
          </a:p>
        </p:txBody>
      </p:sp>
      <p:sp>
        <p:nvSpPr>
          <p:cNvPr id="17" name="ho-a-2"/>
          <p:cNvSpPr txBox="1"/>
          <p:nvPr/>
        </p:nvSpPr>
        <p:spPr>
          <a:xfrm>
            <a:off x="2926080" y="3474720"/>
            <a:ext cx="1463040" cy="502920"/>
          </a:xfrm>
          <a:prstGeom prst="rect">
            <a:avLst/>
          </a:prstGeom>
          <a:noFill/>
          <a:ln/>
        </p:spPr>
        <p:txBody>
          <a:bodyPr wrap="square" lIns="0" tIns="0" rIns="0" bIns="0" rtlCol="0" anchor="ctr"/>
          <a:lstStyle/>
          <a:p>
            <a:pPr algn="r" indent="0" marL="0">
              <a:buNone/>
            </a:pPr>
            <a:r>
              <a:rPr lang="en-US" sz="2600" b="1" dirty="0">
                <a:solidFill>
                  <a:schemeClr val="tx2"/>
                </a:solidFill>
              </a:rPr>
              <a:t>99%</a:t>
            </a:r>
            <a:endParaRPr lang="en-US" sz="2600" dirty="0"/>
          </a:p>
        </p:txBody>
      </p:sp>
      <p:sp>
        <p:nvSpPr>
          <p:cNvPr id="18" name="ho-b-2"/>
          <p:cNvSpPr txBox="1"/>
          <p:nvPr/>
        </p:nvSpPr>
        <p:spPr>
          <a:xfrm>
            <a:off x="4754880" y="3474720"/>
            <a:ext cx="1463040" cy="502920"/>
          </a:xfrm>
          <a:prstGeom prst="rect">
            <a:avLst/>
          </a:prstGeom>
          <a:noFill/>
          <a:ln/>
        </p:spPr>
        <p:txBody>
          <a:bodyPr wrap="square" lIns="0" tIns="0" rIns="0" bIns="0" rtlCol="0" anchor="ctr"/>
          <a:lstStyle/>
          <a:p>
            <a:pPr algn="r" indent="0" marL="0">
              <a:buNone/>
            </a:pPr>
            <a:r>
              <a:rPr lang="en-US" sz="2600" b="1" dirty="0">
                <a:solidFill>
                  <a:schemeClr val="accent2"/>
                </a:solidFill>
              </a:rPr>
              <a:t>47%</a:t>
            </a:r>
            <a:endParaRPr lang="en-US" sz="2600" dirty="0"/>
          </a:p>
        </p:txBody>
      </p:sp>
      <p:pic>
        <p:nvPicPr>
          <p:cNvPr id="19" name="miss-img" descr="C:\Users\user\_se4nchoi\batteryvision\docs\submission\build\img\holdout_miss.jpg">    </p:cNvPr>
          <p:cNvPicPr>
            <a:picLocks noChangeAspect="1"/>
          </p:cNvPicPr>
          <p:nvPr/>
        </p:nvPicPr>
        <p:blipFill>
          <a:blip r:embed="rId1"/>
          <a:stretch>
            <a:fillRect/>
          </a:stretch>
        </p:blipFill>
        <p:spPr>
          <a:xfrm>
            <a:off x="548640" y="4297680"/>
            <a:ext cx="1920240" cy="1920240"/>
          </a:xfrm>
          <a:prstGeom prst="rect">
            <a:avLst/>
          </a:prstGeom>
        </p:spPr>
      </p:pic>
      <p:sp>
        <p:nvSpPr>
          <p:cNvPr id="20" name="miss-cap"/>
          <p:cNvSpPr txBox="1"/>
          <p:nvPr/>
        </p:nvSpPr>
        <p:spPr>
          <a:xfrm>
            <a:off x="2697480" y="4297680"/>
            <a:ext cx="3886200" cy="192024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chemeClr val="tx1"/>
                </a:solidFill>
              </a:rPr>
              <a:t>놓친 scratch (0.21)</a:t>
            </a:r>
            <a:endParaRPr lang="en-US" sz="1500" dirty="0"/>
          </a:p>
          <a:p>
            <a:pPr marL="342900" indent="-342900">
              <a:spcAft>
                <a:spcPts val="600"/>
              </a:spcAft>
              <a:buSzPct val="100000"/>
              <a:buChar char="•"/>
            </a:pPr>
            <a:r>
              <a:rPr lang="en-US" sz="1500" b="1" dirty="0">
                <a:solidFill>
                  <a:schemeClr val="accent2"/>
                </a:solidFill>
              </a:rPr>
              <a:t>crack 30×26px → 1/15</a:t>
            </a:r>
            <a:endParaRPr lang="en-US" sz="1500" dirty="0"/>
          </a:p>
          <a:p>
            <a:pPr marL="342900" indent="-342900">
              <a:spcAft>
                <a:spcPts val="600"/>
              </a:spcAft>
              <a:buSzPct val="100000"/>
              <a:buChar char="•"/>
            </a:pPr>
            <a:r>
              <a:rPr lang="en-US" sz="1500" dirty="0">
                <a:solidFill>
                  <a:schemeClr val="tx1"/>
                </a:solidFill>
              </a:rPr>
              <a:t>클래스 착각 0</a:t>
            </a:r>
            <a:endParaRPr lang="en-US" sz="1500" dirty="0"/>
          </a:p>
          <a:p>
            <a:pPr marL="342900" indent="-342900">
              <a:spcAft>
                <a:spcPts val="600"/>
              </a:spcAft>
              <a:buSzPct val="100000"/>
              <a:buChar char="•"/>
            </a:pPr>
            <a:r>
              <a:rPr lang="en-US" sz="1500" dirty="0">
                <a:solidFill>
                  <a:schemeClr val="tx1"/>
                </a:solidFill>
              </a:rPr>
              <a:t>정상 불합격 0</a:t>
            </a:r>
            <a:endParaRPr lang="en-US" sz="1500" dirty="0"/>
          </a:p>
        </p:txBody>
      </p:sp>
      <p:sp>
        <p:nvSpPr>
          <p:cNvPr id="21" name="th-h"/>
          <p:cNvSpPr txBox="1"/>
          <p:nvPr/>
        </p:nvSpPr>
        <p:spPr>
          <a:xfrm>
            <a:off x="6812280" y="1600200"/>
            <a:ext cx="4846320" cy="320040"/>
          </a:xfrm>
          <a:prstGeom prst="rect">
            <a:avLst/>
          </a:prstGeom>
          <a:noFill/>
          <a:ln/>
        </p:spPr>
        <p:txBody>
          <a:bodyPr wrap="square" lIns="0" tIns="0" rIns="0" bIns="0" rtlCol="0" anchor="t"/>
          <a:lstStyle/>
          <a:p>
            <a:pPr indent="0" marL="0">
              <a:buNone/>
            </a:pPr>
            <a:r>
              <a:rPr lang="en-US" sz="1600" b="1" dirty="0">
                <a:solidFill>
                  <a:schemeClr val="tx1"/>
                </a:solidFill>
              </a:rPr>
              <a:t>기준값을 바꾸면?</a:t>
            </a:r>
            <a:endParaRPr lang="en-US" sz="1600" dirty="0"/>
          </a:p>
        </p:txBody>
      </p:sp>
      <p:graphicFrame>
        <p:nvGraphicFramePr>
          <p:cNvPr id="12" name="th-table"/>
          <p:cNvGraphicFramePr>
            <a:graphicFrameLocks noGrp="1"/>
          </p:cNvGraphicFramePr>
          <p:nvPr>
            <p:extLst>
              <p:ext uri="{D42A27DB-BD31-4B8C-83A1-F6EECF244321}">
                <p14:modId xmlns:p14="http://schemas.microsoft.com/office/powerpoint/2010/main" val="1579011935"/>
              </p:ext>
            </p:extLst>
          </p:nvPr>
        </p:nvGraphicFramePr>
        <p:xfrm>
          <a:off x="6812280" y="2011680"/>
          <a:ext cx="4828032" cy="914400"/>
        </p:xfrm>
        <a:graphic>
          <a:graphicData uri="http://schemas.openxmlformats.org/drawingml/2006/table">
            <a:tbl>
              <a:tblPr/>
              <a:tblGrid>
                <a:gridCol w="1280160"/>
                <a:gridCol w="1188720"/>
                <a:gridCol w="1133856"/>
                <a:gridCol w="1225296"/>
              </a:tblGrid>
              <a:tr h="384048">
                <a:tc>
                  <a:txBody>
                    <a:bodyPr/>
                    <a:lstStyle/>
                    <a:p>
                      <a:pPr algn="l" indent="0" marL="0">
                        <a:buNone/>
                      </a:pPr>
                      <a:r>
                        <a:rPr lang="en-US" sz="1400" b="1" dirty="0">
                          <a:solidFill>
                            <a:schemeClr val="tx2"/>
                          </a:solidFill>
                          <a:latin typeface="Malgun Gothic" pitchFamily="34" charset="0"/>
                          <a:ea typeface="Malgun Gothic" pitchFamily="34" charset="-122"/>
                          <a:cs typeface="Malgun Gothic" pitchFamily="34" charset="-120"/>
                        </a:rPr>
                        <a:t>모델</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400" b="1" dirty="0">
                          <a:solidFill>
                            <a:schemeClr val="tx2"/>
                          </a:solidFill>
                          <a:latin typeface="Malgun Gothic" pitchFamily="34" charset="0"/>
                          <a:ea typeface="Malgun Gothic" pitchFamily="34" charset="-122"/>
                          <a:cs typeface="Malgun Gothic" pitchFamily="34" charset="-120"/>
                        </a:rPr>
                        <a:t>기준값</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400" b="1" dirty="0">
                          <a:solidFill>
                            <a:schemeClr val="tx2"/>
                          </a:solidFill>
                          <a:latin typeface="Malgun Gothic" pitchFamily="34" charset="0"/>
                          <a:ea typeface="Malgun Gothic" pitchFamily="34" charset="-122"/>
                          <a:cs typeface="Malgun Gothic" pitchFamily="34" charset="-120"/>
                        </a:rPr>
                        <a:t>결함 검출</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400" b="1" dirty="0">
                          <a:solidFill>
                            <a:schemeClr val="tx2"/>
                          </a:solidFill>
                          <a:latin typeface="Malgun Gothic" pitchFamily="34" charset="0"/>
                          <a:ea typeface="Malgun Gothic" pitchFamily="34" charset="-122"/>
                          <a:cs typeface="Malgun Gothic" pitchFamily="34" charset="-120"/>
                        </a:rPr>
                        <a:t>정상 오검출</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r>
              <a:tr h="384048">
                <a:tc>
                  <a:txBody>
                    <a:bodyPr/>
                    <a:lstStyle/>
                    <a:p>
                      <a:pPr algn="l" indent="0" marL="0">
                        <a:buNone/>
                      </a:pPr>
                      <a:r>
                        <a:rPr lang="en-US" sz="1400" b="1" dirty="0">
                          <a:solidFill>
                            <a:schemeClr val="accent4"/>
                          </a:solidFill>
                          <a:latin typeface="Malgun Gothic" pitchFamily="34" charset="0"/>
                          <a:ea typeface="Malgun Gothic" pitchFamily="34" charset="-122"/>
                          <a:cs typeface="Malgun Gothic" pitchFamily="34" charset="-120"/>
                        </a:rPr>
                        <a:t>ATSS</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0.30 (현재)</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2"/>
                          </a:solidFill>
                          <a:latin typeface="Malgun Gothic" pitchFamily="34" charset="0"/>
                          <a:ea typeface="Malgun Gothic" pitchFamily="34" charset="-122"/>
                          <a:cs typeface="Malgun Gothic" pitchFamily="34" charset="-120"/>
                        </a:rPr>
                        <a:t>47%</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13%</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384048">
                <a:tc>
                  <a:txBody>
                    <a:bodyPr/>
                    <a:lstStyle/>
                    <a:p>
                      <a:pPr algn="l" indent="0" marL="0">
                        <a:buNone/>
                      </a:pPr>
                      <a:r>
                        <a:rPr lang="en-US" sz="1400" b="1" dirty="0">
                          <a:solidFill>
                            <a:schemeClr val="accent4"/>
                          </a:solidFill>
                          <a:latin typeface="Malgun Gothic" pitchFamily="34" charset="0"/>
                          <a:ea typeface="Malgun Gothic" pitchFamily="34" charset="-122"/>
                          <a:cs typeface="Malgun Gothic" pitchFamily="34" charset="-120"/>
                        </a:rPr>
                        <a:t>ATSS</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0.20</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87%</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3"/>
                          </a:solidFill>
                          <a:latin typeface="Malgun Gothic" pitchFamily="34" charset="0"/>
                          <a:ea typeface="Malgun Gothic" pitchFamily="34" charset="-122"/>
                          <a:cs typeface="Malgun Gothic" pitchFamily="34" charset="-120"/>
                        </a:rPr>
                        <a:t>73%</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384048">
                <a:tc>
                  <a:txBody>
                    <a:bodyPr/>
                    <a:lstStyle/>
                    <a:p>
                      <a:pPr algn="l" indent="0" marL="0">
                        <a:buNone/>
                      </a:pPr>
                      <a:r>
                        <a:rPr lang="en-US" sz="1400" b="1" dirty="0">
                          <a:solidFill>
                            <a:schemeClr val="accent4"/>
                          </a:solidFill>
                          <a:latin typeface="Malgun Gothic" pitchFamily="34" charset="0"/>
                          <a:ea typeface="Malgun Gothic" pitchFamily="34" charset="-122"/>
                          <a:cs typeface="Malgun Gothic" pitchFamily="34" charset="-120"/>
                        </a:rPr>
                        <a:t>ATSS</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0.15</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97%</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2"/>
                          </a:solidFill>
                          <a:latin typeface="Malgun Gothic" pitchFamily="34" charset="0"/>
                          <a:ea typeface="Malgun Gothic" pitchFamily="34" charset="-122"/>
                          <a:cs typeface="Malgun Gothic" pitchFamily="34" charset="-120"/>
                        </a:rPr>
                        <a:t>87%</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384048">
                <a:tc>
                  <a:txBody>
                    <a:bodyPr/>
                    <a:lstStyle/>
                    <a:p>
                      <a:pPr algn="l" indent="0" marL="0">
                        <a:buNone/>
                      </a:pPr>
                      <a:r>
                        <a:rPr lang="en-US" sz="1400" b="1" dirty="0">
                          <a:solidFill>
                            <a:schemeClr val="accent5"/>
                          </a:solidFill>
                          <a:latin typeface="Malgun Gothic" pitchFamily="34" charset="0"/>
                          <a:ea typeface="Malgun Gothic" pitchFamily="34" charset="-122"/>
                          <a:cs typeface="Malgun Gothic" pitchFamily="34" charset="-120"/>
                        </a:rPr>
                        <a:t>YOLOX-S</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0.30 (현재)</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2"/>
                          </a:solidFill>
                          <a:latin typeface="Malgun Gothic" pitchFamily="34" charset="0"/>
                          <a:ea typeface="Malgun Gothic" pitchFamily="34" charset="-122"/>
                          <a:cs typeface="Malgun Gothic" pitchFamily="34" charset="-120"/>
                        </a:rPr>
                        <a:t>3%</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384048">
                <a:tc>
                  <a:txBody>
                    <a:bodyPr/>
                    <a:lstStyle/>
                    <a:p>
                      <a:pPr algn="l" indent="0" marL="0">
                        <a:buNone/>
                      </a:pPr>
                      <a:r>
                        <a:rPr lang="en-US" sz="1400" b="1" dirty="0">
                          <a:solidFill>
                            <a:schemeClr val="accent5"/>
                          </a:solidFill>
                          <a:latin typeface="Malgun Gothic" pitchFamily="34" charset="0"/>
                          <a:ea typeface="Malgun Gothic" pitchFamily="34" charset="-122"/>
                          <a:cs typeface="Malgun Gothic" pitchFamily="34" charset="-120"/>
                        </a:rPr>
                        <a:t>YOLOX-S</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dirty="0">
                          <a:solidFill>
                            <a:schemeClr val="tx1"/>
                          </a:solidFill>
                          <a:latin typeface="Malgun Gothic" pitchFamily="34" charset="0"/>
                          <a:ea typeface="Malgun Gothic" pitchFamily="34" charset="-122"/>
                          <a:cs typeface="Malgun Gothic" pitchFamily="34" charset="-120"/>
                        </a:rPr>
                        <a:t>0.05</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57%</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400" b="1" dirty="0">
                          <a:solidFill>
                            <a:schemeClr val="accent1"/>
                          </a:solidFill>
                          <a:latin typeface="Malgun Gothic" pitchFamily="34" charset="0"/>
                          <a:ea typeface="Malgun Gothic" pitchFamily="34" charset="-122"/>
                          <a:cs typeface="Malgun Gothic" pitchFamily="34" charset="-120"/>
                        </a:rPr>
                        <a:t>0%</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bl>
          </a:graphicData>
        </a:graphic>
      </p:graphicFrame>
      <p:sp>
        <p:nvSpPr>
          <p:cNvPr id="23" name="th-cap"/>
          <p:cNvSpPr txBox="1"/>
          <p:nvPr/>
        </p:nvSpPr>
        <p:spPr>
          <a:xfrm>
            <a:off x="6812280" y="4526280"/>
            <a:ext cx="4828032" cy="146304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 모델별로 다른 기준값 적용</a:t>
            </a:r>
            <a:endParaRPr lang="en-US" sz="1600" dirty="0"/>
          </a:p>
          <a:p>
            <a:pPr indent="0" marL="0">
              <a:spcAft>
                <a:spcPts val="600"/>
              </a:spcAft>
              <a:buNone/>
            </a:pPr>
            <a:r>
              <a:rPr lang="en-US" sz="1600" b="1" dirty="0">
                <a:solidFill>
                  <a:schemeClr val="accent1"/>
                </a:solidFill>
              </a:rPr>
              <a:t>→ 결과치 불충분</a:t>
            </a:r>
            <a:endParaRPr lang="en-US" sz="1600" dirty="0"/>
          </a:p>
          <a:p>
            <a:pPr indent="0" marL="0">
              <a:spcAft>
                <a:spcPts val="600"/>
              </a:spcAft>
              <a:buNone/>
            </a:pPr>
            <a:r>
              <a:rPr lang="en-US" sz="1600" b="1" dirty="0">
                <a:solidFill>
                  <a:schemeClr val="accent1"/>
                </a:solidFill>
              </a:rPr>
              <a:t>→ 재학습</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결과 분석</a:t>
            </a:r>
            <a:endParaRPr lang="en-US" sz="3200" dirty="0"/>
          </a:p>
        </p:txBody>
      </p:sp>
      <p:graphicFrame>
        <p:nvGraphicFramePr>
          <p:cNvPr id="13" name="causes-table"/>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502920"/>
                <a:gridCol w="3108960"/>
                <a:gridCol w="6611112"/>
                <a:gridCol w="868680"/>
              </a:tblGrid>
              <a:tr h="420624">
                <a:tc>
                  <a:txBody>
                    <a:bodyPr/>
                    <a:lstStyle/>
                    <a:p>
                      <a:pPr algn="ctr" indent="0" marL="0">
                        <a:buNone/>
                      </a:pPr>
                      <a:r>
                        <a:rPr lang="en-US" sz="1500" b="1" dirty="0">
                          <a:solidFill>
                            <a:schemeClr val="tx2"/>
                          </a:solidFill>
                          <a:latin typeface="Malgun Gothic" pitchFamily="34" charset="0"/>
                          <a:ea typeface="Malgun Gothic" pitchFamily="34" charset="-122"/>
                          <a:cs typeface="Malgun Gothic" pitchFamily="34" charset="-120"/>
                        </a:rPr>
                        <a:t>장</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indent="0" marL="0">
                        <a:buNone/>
                      </a:pPr>
                      <a:r>
                        <a:rPr lang="en-US" sz="1500" b="1" dirty="0">
                          <a:solidFill>
                            <a:schemeClr val="tx2"/>
                          </a:solidFill>
                          <a:latin typeface="Malgun Gothic" pitchFamily="34" charset="0"/>
                          <a:ea typeface="Malgun Gothic" pitchFamily="34" charset="-122"/>
                          <a:cs typeface="Malgun Gothic" pitchFamily="34" charset="-120"/>
                        </a:rPr>
                        <a:t>결과</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indent="0" marL="0">
                        <a:buNone/>
                      </a:pPr>
                      <a:r>
                        <a:rPr lang="en-US" sz="1500" b="1" dirty="0">
                          <a:solidFill>
                            <a:schemeClr val="tx2"/>
                          </a:solidFill>
                          <a:latin typeface="Malgun Gothic" pitchFamily="34" charset="0"/>
                          <a:ea typeface="Malgun Gothic" pitchFamily="34" charset="-122"/>
                          <a:cs typeface="Malgun Gothic" pitchFamily="34" charset="-120"/>
                        </a:rPr>
                        <a:t>원인</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algn="ctr" indent="0" marL="0">
                        <a:buNone/>
                      </a:pPr>
                      <a:r>
                        <a:rPr lang="en-US" sz="1500" b="1" dirty="0">
                          <a:solidFill>
                            <a:schemeClr val="tx2"/>
                          </a:solidFill>
                          <a:latin typeface="Malgun Gothic" pitchFamily="34" charset="0"/>
                          <a:ea typeface="Malgun Gothic" pitchFamily="34" charset="-122"/>
                          <a:cs typeface="Malgun Gothic" pitchFamily="34" charset="-120"/>
                        </a:rPr>
                        <a:t>근거</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r>
              <a:tr h="420624">
                <a:tc>
                  <a:txBody>
                    <a:bodyPr/>
                    <a:lstStyle/>
                    <a:p>
                      <a:pPr algn="ctr" indent="0" marL="0">
                        <a:buNone/>
                      </a:pPr>
                      <a:r>
                        <a:rPr lang="en-US" sz="1500" dirty="0">
                          <a:solidFill>
                            <a:schemeClr val="tx2"/>
                          </a:solidFill>
                          <a:latin typeface="Malgun Gothic" pitchFamily="34" charset="0"/>
                          <a:ea typeface="Malgun Gothic" pitchFamily="34" charset="-122"/>
                          <a:cs typeface="Malgun Gothic" pitchFamily="34" charset="-120"/>
                        </a:rPr>
                        <a:t>2</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b="1" dirty="0">
                          <a:solidFill>
                            <a:schemeClr val="tx1"/>
                          </a:solidFill>
                          <a:latin typeface="Malgun Gothic" pitchFamily="34" charset="0"/>
                          <a:ea typeface="Malgun Gothic" pitchFamily="34" charset="-122"/>
                          <a:cs typeface="Malgun Gothic" pitchFamily="34" charset="-120"/>
                        </a:rPr>
                        <a:t>Scratch 식별 어려움</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dirty="0">
                          <a:solidFill>
                            <a:schemeClr val="tx1"/>
                          </a:solidFill>
                          <a:latin typeface="Malgun Gothic" pitchFamily="34" charset="0"/>
                          <a:ea typeface="Malgun Gothic" pitchFamily="34" charset="-122"/>
                          <a:cs typeface="Malgun Gothic" pitchFamily="34" charset="-120"/>
                        </a:rPr>
                        <a:t>반사·나무결 같은 가는 선</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b="1" dirty="0">
                          <a:solidFill>
                            <a:schemeClr val="accent6"/>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20624">
                <a:tc>
                  <a:txBody>
                    <a:bodyPr/>
                    <a:lstStyle/>
                    <a:p>
                      <a:pPr algn="ctr" indent="0" marL="0">
                        <a:buNone/>
                      </a:pPr>
                      <a:r>
                        <a:rPr lang="en-US" sz="1500" dirty="0">
                          <a:solidFill>
                            <a:schemeClr val="tx2"/>
                          </a:solidFill>
                          <a:latin typeface="Malgun Gothic" pitchFamily="34" charset="0"/>
                          <a:ea typeface="Malgun Gothic" pitchFamily="34" charset="-122"/>
                          <a:cs typeface="Malgun Gothic" pitchFamily="34" charset="-120"/>
                        </a:rPr>
                        <a:t>4</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b="1" dirty="0">
                          <a:solidFill>
                            <a:schemeClr val="tx1"/>
                          </a:solidFill>
                          <a:latin typeface="Malgun Gothic" pitchFamily="34" charset="0"/>
                          <a:ea typeface="Malgun Gothic" pitchFamily="34" charset="-122"/>
                          <a:cs typeface="Malgun Gothic" pitchFamily="34" charset="-120"/>
                        </a:rPr>
                        <a:t>낙관적인 Geti score</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dirty="0">
                          <a:solidFill>
                            <a:schemeClr val="tx1"/>
                          </a:solidFill>
                          <a:latin typeface="Malgun Gothic" pitchFamily="34" charset="0"/>
                          <a:ea typeface="Malgun Gothic" pitchFamily="34" charset="-122"/>
                          <a:cs typeface="Malgun Gothic" pitchFamily="34" charset="-120"/>
                        </a:rPr>
                        <a:t>증강본이 학습·테스트에 섞임</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b="1" dirty="0">
                          <a:solidFill>
                            <a:schemeClr val="accent3"/>
                          </a:solidFill>
                          <a:latin typeface="Malgun Gothic" pitchFamily="34" charset="0"/>
                          <a:ea typeface="Malgun Gothic" pitchFamily="34" charset="-122"/>
                          <a:cs typeface="Malgun Gothic" pitchFamily="34" charset="-120"/>
                        </a:rPr>
                        <a:t>추정</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20624">
                <a:tc>
                  <a:txBody>
                    <a:bodyPr/>
                    <a:lstStyle/>
                    <a:p>
                      <a:pPr algn="ctr" indent="0" marL="0">
                        <a:buNone/>
                      </a:pPr>
                      <a:r>
                        <a:rPr lang="en-US" sz="1500" dirty="0">
                          <a:solidFill>
                            <a:schemeClr val="tx2"/>
                          </a:solidFill>
                          <a:latin typeface="Malgun Gothic" pitchFamily="34" charset="0"/>
                          <a:ea typeface="Malgun Gothic" pitchFamily="34" charset="-122"/>
                          <a:cs typeface="Malgun Gothic" pitchFamily="34" charset="-120"/>
                        </a:rPr>
                        <a:t>4</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b="1" dirty="0">
                          <a:solidFill>
                            <a:schemeClr val="tx1"/>
                          </a:solidFill>
                          <a:latin typeface="Malgun Gothic" pitchFamily="34" charset="0"/>
                          <a:ea typeface="Malgun Gothic" pitchFamily="34" charset="-122"/>
                          <a:cs typeface="Malgun Gothic" pitchFamily="34" charset="-120"/>
                        </a:rPr>
                        <a:t>ATSS 최고평가</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dirty="0">
                          <a:solidFill>
                            <a:schemeClr val="tx1"/>
                          </a:solidFill>
                          <a:latin typeface="Malgun Gothic" pitchFamily="34" charset="0"/>
                          <a:ea typeface="Malgun Gothic" pitchFamily="34" charset="-122"/>
                          <a:cs typeface="Malgun Gothic" pitchFamily="34" charset="-120"/>
                        </a:rPr>
                        <a:t>입력 해상도 992×800 vs 640×640</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b="1" dirty="0">
                          <a:solidFill>
                            <a:schemeClr val="accent3"/>
                          </a:solidFill>
                          <a:latin typeface="Malgun Gothic" pitchFamily="34" charset="0"/>
                          <a:ea typeface="Malgun Gothic" pitchFamily="34" charset="-122"/>
                          <a:cs typeface="Malgun Gothic" pitchFamily="34" charset="-120"/>
                        </a:rPr>
                        <a:t>추정</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20624">
                <a:tc>
                  <a:txBody>
                    <a:bodyPr/>
                    <a:lstStyle/>
                    <a:p>
                      <a:pPr algn="ctr" indent="0" marL="0">
                        <a:buNone/>
                      </a:pPr>
                      <a:r>
                        <a:rPr lang="en-US" sz="1500" dirty="0">
                          <a:solidFill>
                            <a:schemeClr val="tx2"/>
                          </a:solidFill>
                          <a:latin typeface="Malgun Gothic" pitchFamily="34" charset="0"/>
                          <a:ea typeface="Malgun Gothic" pitchFamily="34" charset="-122"/>
                          <a:cs typeface="Malgun Gothic" pitchFamily="34" charset="-120"/>
                        </a:rPr>
                        <a:t>5</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b="1" dirty="0">
                          <a:solidFill>
                            <a:schemeClr val="tx1"/>
                          </a:solidFill>
                          <a:latin typeface="Malgun Gothic" pitchFamily="34" charset="0"/>
                          <a:ea typeface="Malgun Gothic" pitchFamily="34" charset="-122"/>
                          <a:cs typeface="Malgun Gothic" pitchFamily="34" charset="-120"/>
                        </a:rPr>
                        <a:t>과대평가 수치 (93%)</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dirty="0">
                          <a:solidFill>
                            <a:schemeClr val="tx1"/>
                          </a:solidFill>
                          <a:latin typeface="Malgun Gothic" pitchFamily="34" charset="0"/>
                          <a:ea typeface="Malgun Gothic" pitchFamily="34" charset="-122"/>
                          <a:cs typeface="Malgun Gothic" pitchFamily="34" charset="-120"/>
                        </a:rPr>
                        <a:t>테스트 사진 학습 포함 · 복사본 22장</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b="1" dirty="0">
                          <a:solidFill>
                            <a:schemeClr val="accent6"/>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20624">
                <a:tc>
                  <a:txBody>
                    <a:bodyPr/>
                    <a:lstStyle/>
                    <a:p>
                      <a:pPr algn="ctr" indent="0" marL="0">
                        <a:buNone/>
                      </a:pPr>
                      <a:r>
                        <a:rPr lang="en-US" sz="1500" dirty="0">
                          <a:solidFill>
                            <a:schemeClr val="tx2"/>
                          </a:solidFill>
                          <a:latin typeface="Malgun Gothic" pitchFamily="34" charset="0"/>
                          <a:ea typeface="Malgun Gothic" pitchFamily="34" charset="-122"/>
                          <a:cs typeface="Malgun Gothic" pitchFamily="34" charset="-120"/>
                        </a:rPr>
                        <a:t>6</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b="1" dirty="0">
                          <a:solidFill>
                            <a:schemeClr val="tx1"/>
                          </a:solidFill>
                          <a:latin typeface="Malgun Gothic" pitchFamily="34" charset="0"/>
                          <a:ea typeface="Malgun Gothic" pitchFamily="34" charset="-122"/>
                          <a:cs typeface="Malgun Gothic" pitchFamily="34" charset="-120"/>
                        </a:rPr>
                        <a:t>나무 배경 취약 (33%)</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dirty="0">
                          <a:solidFill>
                            <a:schemeClr val="tx1"/>
                          </a:solidFill>
                          <a:latin typeface="Malgun Gothic" pitchFamily="34" charset="0"/>
                          <a:ea typeface="Malgun Gothic" pitchFamily="34" charset="-122"/>
                          <a:cs typeface="Malgun Gothic" pitchFamily="34" charset="-120"/>
                        </a:rPr>
                        <a:t>나무결 = 가는 선</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b="1" dirty="0">
                          <a:solidFill>
                            <a:schemeClr val="accent3"/>
                          </a:solidFill>
                          <a:latin typeface="Malgun Gothic" pitchFamily="34" charset="0"/>
                          <a:ea typeface="Malgun Gothic" pitchFamily="34" charset="-122"/>
                          <a:cs typeface="Malgun Gothic" pitchFamily="34" charset="-120"/>
                        </a:rPr>
                        <a:t>추정</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20624">
                <a:tc>
                  <a:txBody>
                    <a:bodyPr/>
                    <a:lstStyle/>
                    <a:p>
                      <a:pPr algn="ctr" indent="0" marL="0">
                        <a:buNone/>
                      </a:pPr>
                      <a:r>
                        <a:rPr lang="en-US" sz="1500" dirty="0">
                          <a:solidFill>
                            <a:schemeClr val="tx2"/>
                          </a:solidFill>
                          <a:latin typeface="Malgun Gothic" pitchFamily="34" charset="0"/>
                          <a:ea typeface="Malgun Gothic" pitchFamily="34" charset="-122"/>
                          <a:cs typeface="Malgun Gothic" pitchFamily="34" charset="-120"/>
                        </a:rPr>
                        <a:t>9</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b="1" dirty="0">
                          <a:solidFill>
                            <a:schemeClr val="tx1"/>
                          </a:solidFill>
                          <a:latin typeface="Malgun Gothic" pitchFamily="34" charset="0"/>
                          <a:ea typeface="Malgun Gothic" pitchFamily="34" charset="-122"/>
                          <a:cs typeface="Malgun Gothic" pitchFamily="34" charset="-120"/>
                        </a:rPr>
                        <a:t>INT8 놓침 증가</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dirty="0">
                          <a:solidFill>
                            <a:schemeClr val="tx1"/>
                          </a:solidFill>
                          <a:latin typeface="Malgun Gothic" pitchFamily="34" charset="0"/>
                          <a:ea typeface="Malgun Gothic" pitchFamily="34" charset="-122"/>
                          <a:cs typeface="Malgun Gothic" pitchFamily="34" charset="-120"/>
                        </a:rPr>
                        <a:t>양자화로 점수 소폭 하락</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b="1" dirty="0">
                          <a:solidFill>
                            <a:schemeClr val="accent3"/>
                          </a:solidFill>
                          <a:latin typeface="Malgun Gothic" pitchFamily="34" charset="0"/>
                          <a:ea typeface="Malgun Gothic" pitchFamily="34" charset="-122"/>
                          <a:cs typeface="Malgun Gothic" pitchFamily="34" charset="-120"/>
                        </a:rPr>
                        <a:t>추정</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20624">
                <a:tc>
                  <a:txBody>
                    <a:bodyPr/>
                    <a:lstStyle/>
                    <a:p>
                      <a:pPr algn="ctr" indent="0" marL="0">
                        <a:buNone/>
                      </a:pPr>
                      <a:r>
                        <a:rPr lang="en-US" sz="1500" dirty="0">
                          <a:solidFill>
                            <a:schemeClr val="tx2"/>
                          </a:solidFill>
                          <a:latin typeface="Malgun Gothic" pitchFamily="34" charset="0"/>
                          <a:ea typeface="Malgun Gothic" pitchFamily="34" charset="-122"/>
                          <a:cs typeface="Malgun Gothic" pitchFamily="34" charset="-120"/>
                        </a:rPr>
                        <a:t>11</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b="1" dirty="0">
                          <a:solidFill>
                            <a:schemeClr val="tx1"/>
                          </a:solidFill>
                          <a:latin typeface="Malgun Gothic" pitchFamily="34" charset="0"/>
                          <a:ea typeface="Malgun Gothic" pitchFamily="34" charset="-122"/>
                          <a:cs typeface="Malgun Gothic" pitchFamily="34" charset="-120"/>
                        </a:rPr>
                        <a:t>2차 세트 검출 47%</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dirty="0">
                          <a:solidFill>
                            <a:schemeClr val="tx1"/>
                          </a:solidFill>
                          <a:latin typeface="Malgun Gothic" pitchFamily="34" charset="0"/>
                          <a:ea typeface="Malgun Gothic" pitchFamily="34" charset="-122"/>
                          <a:cs typeface="Malgun Gothic" pitchFamily="34" charset="-120"/>
                        </a:rPr>
                        <a:t>작아진 crack (30×26px) · 새 환경</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b="1" dirty="0">
                          <a:solidFill>
                            <a:schemeClr val="accent6"/>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20624">
                <a:tc>
                  <a:txBody>
                    <a:bodyPr/>
                    <a:lstStyle/>
                    <a:p>
                      <a:pPr algn="ctr" indent="0" marL="0">
                        <a:buNone/>
                      </a:pPr>
                      <a:r>
                        <a:rPr lang="en-US" sz="1500" dirty="0">
                          <a:solidFill>
                            <a:schemeClr val="tx2"/>
                          </a:solidFill>
                          <a:latin typeface="Malgun Gothic" pitchFamily="34" charset="0"/>
                          <a:ea typeface="Malgun Gothic" pitchFamily="34" charset="-122"/>
                          <a:cs typeface="Malgun Gothic" pitchFamily="34" charset="-120"/>
                        </a:rPr>
                        <a:t>11</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b="1" dirty="0">
                          <a:solidFill>
                            <a:schemeClr val="tx1"/>
                          </a:solidFill>
                          <a:latin typeface="Malgun Gothic" pitchFamily="34" charset="0"/>
                          <a:ea typeface="Malgun Gothic" pitchFamily="34" charset="-122"/>
                          <a:cs typeface="Malgun Gothic" pitchFamily="34" charset="-120"/>
                        </a:rPr>
                        <a:t>YOLOX-S 낮은 점수</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dirty="0">
                          <a:solidFill>
                            <a:schemeClr val="tx1"/>
                          </a:solidFill>
                          <a:latin typeface="Malgun Gothic" pitchFamily="34" charset="0"/>
                          <a:ea typeface="Malgun Gothic" pitchFamily="34" charset="-122"/>
                          <a:cs typeface="Malgun Gothic" pitchFamily="34" charset="-120"/>
                        </a:rPr>
                        <a:t>점수 = 두 확률의 곱</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b="1" dirty="0">
                          <a:solidFill>
                            <a:schemeClr val="accent3"/>
                          </a:solidFill>
                          <a:latin typeface="Malgun Gothic" pitchFamily="34" charset="0"/>
                          <a:ea typeface="Malgun Gothic" pitchFamily="34" charset="-122"/>
                          <a:cs typeface="Malgun Gothic" pitchFamily="34" charset="-120"/>
                        </a:rPr>
                        <a:t>추정</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r h="420624">
                <a:tc>
                  <a:txBody>
                    <a:bodyPr/>
                    <a:lstStyle/>
                    <a:p>
                      <a:pPr algn="ctr" indent="0" marL="0">
                        <a:buNone/>
                      </a:pPr>
                      <a:r>
                        <a:rPr lang="en-US" sz="1500" dirty="0">
                          <a:solidFill>
                            <a:schemeClr val="tx2"/>
                          </a:solidFill>
                          <a:latin typeface="Malgun Gothic" pitchFamily="34" charset="0"/>
                          <a:ea typeface="Malgun Gothic" pitchFamily="34" charset="-122"/>
                          <a:cs typeface="Malgun Gothic" pitchFamily="34" charset="-120"/>
                        </a:rPr>
                        <a:t>11</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b="1" dirty="0">
                          <a:solidFill>
                            <a:schemeClr val="tx1"/>
                          </a:solidFill>
                          <a:latin typeface="Malgun Gothic" pitchFamily="34" charset="0"/>
                          <a:ea typeface="Malgun Gothic" pitchFamily="34" charset="-122"/>
                          <a:cs typeface="Malgun Gothic" pitchFamily="34" charset="-120"/>
                        </a:rPr>
                        <a:t>기준값 조정으로 해결 불가</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indent="0" marL="0">
                        <a:buNone/>
                      </a:pPr>
                      <a:r>
                        <a:rPr lang="en-US" sz="1500" dirty="0">
                          <a:solidFill>
                            <a:schemeClr val="tx1"/>
                          </a:solidFill>
                          <a:latin typeface="Malgun Gothic" pitchFamily="34" charset="0"/>
                          <a:ea typeface="Malgun Gothic" pitchFamily="34" charset="-122"/>
                          <a:cs typeface="Malgun Gothic" pitchFamily="34" charset="-120"/>
                        </a:rPr>
                        <a:t>결함·정상 점수 겹침</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algn="ctr" indent="0" marL="0">
                        <a:buNone/>
                      </a:pPr>
                      <a:r>
                        <a:rPr lang="en-US" sz="1500" b="1" dirty="0">
                          <a:solidFill>
                            <a:schemeClr val="accent6"/>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r>
            </a:tbl>
          </a:graphicData>
        </a:graphic>
      </p:graphicFrame>
      <p:sp>
        <p:nvSpPr>
          <p:cNvPr id="4" name="lg-1-bg"/>
          <p:cNvSpPr/>
          <p:nvPr/>
        </p:nvSpPr>
        <p:spPr>
          <a:xfrm>
            <a:off x="548640" y="5943600"/>
            <a:ext cx="1463040" cy="310896"/>
          </a:xfrm>
          <a:prstGeom prst="roundRect">
            <a:avLst>
              <a:gd name="adj" fmla="val 14706"/>
            </a:avLst>
          </a:prstGeom>
          <a:solidFill>
            <a:schemeClr val="accent6">
              <a:alpha val="20000"/>
            </a:schemeClr>
          </a:solidFill>
          <a:ln w="12700">
            <a:solidFill>
              <a:schemeClr val="accent6"/>
            </a:solidFill>
            <a:prstDash val="solid"/>
          </a:ln>
        </p:spPr>
      </p:sp>
      <p:sp>
        <p:nvSpPr>
          <p:cNvPr id="5" name="lg-1"/>
          <p:cNvSpPr txBox="1"/>
          <p:nvPr/>
        </p:nvSpPr>
        <p:spPr>
          <a:xfrm>
            <a:off x="548640" y="5943600"/>
            <a:ext cx="1463040" cy="310896"/>
          </a:xfrm>
          <a:prstGeom prst="rect">
            <a:avLst/>
          </a:prstGeom>
          <a:noFill/>
          <a:ln/>
        </p:spPr>
        <p:txBody>
          <a:bodyPr wrap="square" lIns="0" tIns="0" rIns="0" bIns="0" rtlCol="0" anchor="ctr"/>
          <a:lstStyle/>
          <a:p>
            <a:pPr algn="ctr" indent="0" marL="0">
              <a:buNone/>
            </a:pPr>
            <a:r>
              <a:rPr lang="en-US" sz="1300" b="1" dirty="0">
                <a:solidFill>
                  <a:schemeClr val="accent6"/>
                </a:solidFill>
              </a:rPr>
              <a:t>확인 = 데이터</a:t>
            </a:r>
            <a:endParaRPr lang="en-US" sz="1300" dirty="0"/>
          </a:p>
        </p:txBody>
      </p:sp>
      <p:sp>
        <p:nvSpPr>
          <p:cNvPr id="6" name="lg-2-bg"/>
          <p:cNvSpPr/>
          <p:nvPr/>
        </p:nvSpPr>
        <p:spPr>
          <a:xfrm>
            <a:off x="2148840" y="5943600"/>
            <a:ext cx="1463040" cy="310896"/>
          </a:xfrm>
          <a:prstGeom prst="roundRect">
            <a:avLst>
              <a:gd name="adj" fmla="val 14706"/>
            </a:avLst>
          </a:prstGeom>
          <a:solidFill>
            <a:schemeClr val="accent3">
              <a:alpha val="20000"/>
            </a:schemeClr>
          </a:solidFill>
          <a:ln w="12700">
            <a:solidFill>
              <a:schemeClr val="accent3"/>
            </a:solidFill>
            <a:prstDash val="solid"/>
          </a:ln>
        </p:spPr>
      </p:sp>
      <p:sp>
        <p:nvSpPr>
          <p:cNvPr id="7" name="lg-2"/>
          <p:cNvSpPr txBox="1"/>
          <p:nvPr/>
        </p:nvSpPr>
        <p:spPr>
          <a:xfrm>
            <a:off x="2148840" y="5943600"/>
            <a:ext cx="1463040" cy="310896"/>
          </a:xfrm>
          <a:prstGeom prst="rect">
            <a:avLst/>
          </a:prstGeom>
          <a:noFill/>
          <a:ln/>
        </p:spPr>
        <p:txBody>
          <a:bodyPr wrap="square" lIns="0" tIns="0" rIns="0" bIns="0" rtlCol="0" anchor="ctr"/>
          <a:lstStyle/>
          <a:p>
            <a:pPr algn="ctr" indent="0" marL="0">
              <a:buNone/>
            </a:pPr>
            <a:r>
              <a:rPr lang="en-US" sz="1300" b="1" dirty="0">
                <a:solidFill>
                  <a:schemeClr val="accent3"/>
                </a:solidFill>
              </a:rPr>
              <a:t>추정 = 정황</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Lesson Learned</a:t>
            </a:r>
            <a:endParaRPr lang="en-US" sz="3200" dirty="0"/>
          </a:p>
        </p:txBody>
      </p:sp>
      <p:sp>
        <p:nvSpPr>
          <p:cNvPr id="3" name="lesson-0"/>
          <p:cNvSpPr/>
          <p:nvPr/>
        </p:nvSpPr>
        <p:spPr>
          <a:xfrm>
            <a:off x="548640" y="1600200"/>
            <a:ext cx="5440680" cy="2194560"/>
          </a:xfrm>
          <a:prstGeom prst="roundRect">
            <a:avLst>
              <a:gd name="adj" fmla="val 3333"/>
            </a:avLst>
          </a:prstGeom>
          <a:solidFill>
            <a:schemeClr val="bg2"/>
          </a:solidFill>
          <a:ln/>
        </p:spPr>
      </p:sp>
      <p:sp>
        <p:nvSpPr>
          <p:cNvPr id="4" name="lesson-n-0"/>
          <p:cNvSpPr txBox="1"/>
          <p:nvPr/>
        </p:nvSpPr>
        <p:spPr>
          <a:xfrm>
            <a:off x="914400" y="1600200"/>
            <a:ext cx="1188720" cy="2194560"/>
          </a:xfrm>
          <a:prstGeom prst="rect">
            <a:avLst/>
          </a:prstGeom>
          <a:noFill/>
          <a:ln/>
        </p:spPr>
        <p:txBody>
          <a:bodyPr wrap="square" lIns="0" tIns="0" rIns="0" bIns="0" rtlCol="0" anchor="ctr"/>
          <a:lstStyle/>
          <a:p>
            <a:pPr indent="0" marL="0">
              <a:buNone/>
            </a:pPr>
            <a:r>
              <a:rPr lang="en-US" sz="4400" b="1" dirty="0">
                <a:solidFill>
                  <a:schemeClr val="accent1"/>
                </a:solidFill>
              </a:rPr>
              <a:t>01</a:t>
            </a:r>
            <a:endParaRPr lang="en-US" sz="4400" dirty="0"/>
          </a:p>
        </p:txBody>
      </p:sp>
      <p:sp>
        <p:nvSpPr>
          <p:cNvPr id="5" name="lesson-h-0"/>
          <p:cNvSpPr txBox="1"/>
          <p:nvPr/>
        </p:nvSpPr>
        <p:spPr>
          <a:xfrm>
            <a:off x="2194560" y="1600200"/>
            <a:ext cx="3657600" cy="2194560"/>
          </a:xfrm>
          <a:prstGeom prst="rect">
            <a:avLst/>
          </a:prstGeom>
          <a:noFill/>
          <a:ln/>
        </p:spPr>
        <p:txBody>
          <a:bodyPr wrap="square" lIns="0" tIns="0" rIns="0" bIns="0" rtlCol="0" anchor="ctr"/>
          <a:lstStyle/>
          <a:p>
            <a:pPr indent="0" marL="0">
              <a:buNone/>
            </a:pPr>
            <a:r>
              <a:rPr lang="en-US" sz="2600" b="1" dirty="0">
                <a:solidFill>
                  <a:schemeClr val="tx1"/>
                </a:solidFill>
              </a:rPr>
              <a:t>테스트셋 먼저 분리</a:t>
            </a:r>
            <a:endParaRPr lang="en-US" sz="2600" dirty="0"/>
          </a:p>
        </p:txBody>
      </p:sp>
      <p:sp>
        <p:nvSpPr>
          <p:cNvPr id="6" name="lesson-1"/>
          <p:cNvSpPr/>
          <p:nvPr/>
        </p:nvSpPr>
        <p:spPr>
          <a:xfrm>
            <a:off x="6190488" y="1600200"/>
            <a:ext cx="5440680" cy="2194560"/>
          </a:xfrm>
          <a:prstGeom prst="roundRect">
            <a:avLst>
              <a:gd name="adj" fmla="val 3333"/>
            </a:avLst>
          </a:prstGeom>
          <a:solidFill>
            <a:schemeClr val="bg2"/>
          </a:solidFill>
          <a:ln/>
        </p:spPr>
      </p:sp>
      <p:sp>
        <p:nvSpPr>
          <p:cNvPr id="7" name="lesson-n-1"/>
          <p:cNvSpPr txBox="1"/>
          <p:nvPr/>
        </p:nvSpPr>
        <p:spPr>
          <a:xfrm>
            <a:off x="6556248" y="1600200"/>
            <a:ext cx="1188720" cy="2194560"/>
          </a:xfrm>
          <a:prstGeom prst="rect">
            <a:avLst/>
          </a:prstGeom>
          <a:noFill/>
          <a:ln/>
        </p:spPr>
        <p:txBody>
          <a:bodyPr wrap="square" lIns="0" tIns="0" rIns="0" bIns="0" rtlCol="0" anchor="ctr"/>
          <a:lstStyle/>
          <a:p>
            <a:pPr indent="0" marL="0">
              <a:buNone/>
            </a:pPr>
            <a:r>
              <a:rPr lang="en-US" sz="4400" b="1" dirty="0">
                <a:solidFill>
                  <a:schemeClr val="accent2"/>
                </a:solidFill>
              </a:rPr>
              <a:t>02</a:t>
            </a:r>
            <a:endParaRPr lang="en-US" sz="4400" dirty="0"/>
          </a:p>
        </p:txBody>
      </p:sp>
      <p:sp>
        <p:nvSpPr>
          <p:cNvPr id="8" name="lesson-h-1"/>
          <p:cNvSpPr txBox="1"/>
          <p:nvPr/>
        </p:nvSpPr>
        <p:spPr>
          <a:xfrm>
            <a:off x="7836408" y="1600200"/>
            <a:ext cx="3657600" cy="2194560"/>
          </a:xfrm>
          <a:prstGeom prst="rect">
            <a:avLst/>
          </a:prstGeom>
          <a:noFill/>
          <a:ln/>
        </p:spPr>
        <p:txBody>
          <a:bodyPr wrap="square" lIns="0" tIns="0" rIns="0" bIns="0" rtlCol="0" anchor="ctr"/>
          <a:lstStyle/>
          <a:p>
            <a:pPr indent="0" marL="0">
              <a:buNone/>
            </a:pPr>
            <a:r>
              <a:rPr lang="en-US" sz="2600" b="1" dirty="0">
                <a:solidFill>
                  <a:schemeClr val="tx1"/>
                </a:solidFill>
              </a:rPr>
              <a:t>새 환경은 새로 검증</a:t>
            </a:r>
            <a:endParaRPr lang="en-US" sz="2600" dirty="0"/>
          </a:p>
        </p:txBody>
      </p:sp>
      <p:sp>
        <p:nvSpPr>
          <p:cNvPr id="9" name="lesson-2"/>
          <p:cNvSpPr/>
          <p:nvPr/>
        </p:nvSpPr>
        <p:spPr>
          <a:xfrm>
            <a:off x="548640" y="3977640"/>
            <a:ext cx="5440680" cy="2194560"/>
          </a:xfrm>
          <a:prstGeom prst="roundRect">
            <a:avLst>
              <a:gd name="adj" fmla="val 3333"/>
            </a:avLst>
          </a:prstGeom>
          <a:solidFill>
            <a:schemeClr val="bg2"/>
          </a:solidFill>
          <a:ln/>
        </p:spPr>
      </p:sp>
      <p:sp>
        <p:nvSpPr>
          <p:cNvPr id="10" name="lesson-n-2"/>
          <p:cNvSpPr txBox="1"/>
          <p:nvPr/>
        </p:nvSpPr>
        <p:spPr>
          <a:xfrm>
            <a:off x="914400" y="3977640"/>
            <a:ext cx="1188720" cy="2194560"/>
          </a:xfrm>
          <a:prstGeom prst="rect">
            <a:avLst/>
          </a:prstGeom>
          <a:noFill/>
          <a:ln/>
        </p:spPr>
        <p:txBody>
          <a:bodyPr wrap="square" lIns="0" tIns="0" rIns="0" bIns="0" rtlCol="0" anchor="ctr"/>
          <a:lstStyle/>
          <a:p>
            <a:pPr indent="0" marL="0">
              <a:buNone/>
            </a:pPr>
            <a:r>
              <a:rPr lang="en-US" sz="4400" b="1" dirty="0">
                <a:solidFill>
                  <a:schemeClr val="accent3"/>
                </a:solidFill>
              </a:rPr>
              <a:t>03</a:t>
            </a:r>
            <a:endParaRPr lang="en-US" sz="4400" dirty="0"/>
          </a:p>
        </p:txBody>
      </p:sp>
      <p:sp>
        <p:nvSpPr>
          <p:cNvPr id="11" name="lesson-h-2"/>
          <p:cNvSpPr txBox="1"/>
          <p:nvPr/>
        </p:nvSpPr>
        <p:spPr>
          <a:xfrm>
            <a:off x="2194560" y="3977640"/>
            <a:ext cx="3657600" cy="2194560"/>
          </a:xfrm>
          <a:prstGeom prst="rect">
            <a:avLst/>
          </a:prstGeom>
          <a:noFill/>
          <a:ln/>
        </p:spPr>
        <p:txBody>
          <a:bodyPr wrap="square" lIns="0" tIns="0" rIns="0" bIns="0" rtlCol="0" anchor="ctr"/>
          <a:lstStyle/>
          <a:p>
            <a:pPr indent="0" marL="0">
              <a:buNone/>
            </a:pPr>
            <a:r>
              <a:rPr lang="en-US" sz="2600" b="1" dirty="0">
                <a:solidFill>
                  <a:schemeClr val="tx1"/>
                </a:solidFill>
              </a:rPr>
              <a:t>기준값은 모델별로</a:t>
            </a:r>
            <a:endParaRPr lang="en-US" sz="2600" dirty="0"/>
          </a:p>
        </p:txBody>
      </p:sp>
      <p:sp>
        <p:nvSpPr>
          <p:cNvPr id="12" name="lesson-3"/>
          <p:cNvSpPr/>
          <p:nvPr/>
        </p:nvSpPr>
        <p:spPr>
          <a:xfrm>
            <a:off x="6190488" y="3977640"/>
            <a:ext cx="5440680" cy="2194560"/>
          </a:xfrm>
          <a:prstGeom prst="roundRect">
            <a:avLst>
              <a:gd name="adj" fmla="val 3333"/>
            </a:avLst>
          </a:prstGeom>
          <a:solidFill>
            <a:schemeClr val="bg2"/>
          </a:solidFill>
          <a:ln/>
        </p:spPr>
      </p:sp>
      <p:sp>
        <p:nvSpPr>
          <p:cNvPr id="13" name="lesson-n-3"/>
          <p:cNvSpPr txBox="1"/>
          <p:nvPr/>
        </p:nvSpPr>
        <p:spPr>
          <a:xfrm>
            <a:off x="6556248" y="3977640"/>
            <a:ext cx="1188720" cy="2194560"/>
          </a:xfrm>
          <a:prstGeom prst="rect">
            <a:avLst/>
          </a:prstGeom>
          <a:noFill/>
          <a:ln/>
        </p:spPr>
        <p:txBody>
          <a:bodyPr wrap="square" lIns="0" tIns="0" rIns="0" bIns="0" rtlCol="0" anchor="ctr"/>
          <a:lstStyle/>
          <a:p>
            <a:pPr indent="0" marL="0">
              <a:buNone/>
            </a:pPr>
            <a:r>
              <a:rPr lang="en-US" sz="4400" b="1" dirty="0">
                <a:solidFill>
                  <a:schemeClr val="accent4"/>
                </a:solidFill>
              </a:rPr>
              <a:t>04</a:t>
            </a:r>
            <a:endParaRPr lang="en-US" sz="4400" dirty="0"/>
          </a:p>
        </p:txBody>
      </p:sp>
      <p:sp>
        <p:nvSpPr>
          <p:cNvPr id="14" name="lesson-h-3"/>
          <p:cNvSpPr txBox="1"/>
          <p:nvPr/>
        </p:nvSpPr>
        <p:spPr>
          <a:xfrm>
            <a:off x="7836408" y="3977640"/>
            <a:ext cx="3657600" cy="2194560"/>
          </a:xfrm>
          <a:prstGeom prst="rect">
            <a:avLst/>
          </a:prstGeom>
          <a:noFill/>
          <a:ln/>
        </p:spPr>
        <p:txBody>
          <a:bodyPr wrap="square" lIns="0" tIns="0" rIns="0" bIns="0" rtlCol="0" anchor="ctr"/>
          <a:lstStyle/>
          <a:p>
            <a:pPr indent="0" marL="0">
              <a:buNone/>
            </a:pPr>
            <a:r>
              <a:rPr lang="en-US" sz="2600" b="1" dirty="0">
                <a:solidFill>
                  <a:schemeClr val="tx1"/>
                </a:solidFill>
              </a:rPr>
              <a:t>크기보다 맞는 모델</a:t>
            </a:r>
            <a:endParaRPr lang="en-US" sz="2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데모</a:t>
            </a:r>
            <a:endParaRPr lang="en-US" sz="3200" dirty="0"/>
          </a:p>
        </p:txBody>
      </p:sp>
      <p:pic>
        <p:nvPicPr>
          <p:cNvPr id="3" name="dashboard" descr="C:\Users\user\_se4nchoi\batteryvision\docs\submission\build\img\dashboard.jpg">    </p:cNvPr>
          <p:cNvPicPr>
            <a:picLocks noChangeAspect="1"/>
          </p:cNvPicPr>
          <p:nvPr/>
        </p:nvPicPr>
        <p:blipFill>
          <a:blip r:embed="rId1"/>
          <a:stretch>
            <a:fillRect/>
          </a:stretch>
        </p:blipFill>
        <p:spPr>
          <a:xfrm>
            <a:off x="548640" y="1600200"/>
            <a:ext cx="8321040" cy="4134326"/>
          </a:xfrm>
          <a:prstGeom prst="rect">
            <a:avLst/>
          </a:prstGeom>
        </p:spPr>
      </p:pic>
      <p:sp>
        <p:nvSpPr>
          <p:cNvPr id="4" name="demo-card"/>
          <p:cNvSpPr/>
          <p:nvPr/>
        </p:nvSpPr>
        <p:spPr>
          <a:xfrm>
            <a:off x="9052560" y="1600200"/>
            <a:ext cx="2587752" cy="4134326"/>
          </a:xfrm>
          <a:prstGeom prst="roundRect">
            <a:avLst>
              <a:gd name="adj" fmla="val 2827"/>
            </a:avLst>
          </a:prstGeom>
          <a:solidFill>
            <a:schemeClr val="bg2"/>
          </a:solidFill>
          <a:ln/>
        </p:spPr>
      </p:sp>
      <p:sp>
        <p:nvSpPr>
          <p:cNvPr id="5" name="demo-b"/>
          <p:cNvSpPr txBox="1"/>
          <p:nvPr/>
        </p:nvSpPr>
        <p:spPr>
          <a:xfrm>
            <a:off x="9281160" y="1828800"/>
            <a:ext cx="2240280" cy="365760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SIMULATED</a:t>
            </a:r>
            <a:endParaRPr lang="en-US" sz="1400" dirty="0"/>
          </a:p>
          <a:p>
            <a:pPr marL="342900" indent="-342900">
              <a:spcAft>
                <a:spcPts val="1000"/>
              </a:spcAft>
              <a:buSzPct val="100000"/>
              <a:buChar char="•"/>
            </a:pPr>
            <a:r>
              <a:rPr lang="en-US" sz="1400" dirty="0">
                <a:solidFill>
                  <a:schemeClr val="tx1"/>
                </a:solidFill>
              </a:rPr>
              <a:t>카메라 → 모델 → 판정</a:t>
            </a:r>
            <a:endParaRPr lang="en-US" sz="1400" dirty="0"/>
          </a:p>
          <a:p>
            <a:pPr marL="342900" indent="-342900">
              <a:spcAft>
                <a:spcPts val="1000"/>
              </a:spcAft>
              <a:buSzPct val="100000"/>
              <a:buChar char="•"/>
            </a:pPr>
            <a:r>
              <a:rPr lang="en-US" sz="1400" dirty="0">
                <a:solidFill>
                  <a:schemeClr val="tx1"/>
                </a:solidFill>
              </a:rPr>
              <a:t>heatmap · 해시 기록</a:t>
            </a:r>
            <a:endParaRPr lang="en-US" sz="1400" dirty="0"/>
          </a:p>
          <a:p>
            <a:pPr marL="342900" indent="-342900">
              <a:spcAft>
                <a:spcPts val="1000"/>
              </a:spcAft>
              <a:buSzPct val="100000"/>
              <a:buChar char="•"/>
            </a:pPr>
            <a:r>
              <a:rPr lang="en-US" sz="1400" dirty="0">
                <a:solidFill>
                  <a:schemeClr val="tx1"/>
                </a:solidFill>
              </a:rPr>
              <a:t>LOT별 추적</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606040"/>
            <a:ext cx="4389120" cy="1645920"/>
          </a:xfrm>
          <a:prstGeom prst="rect">
            <a:avLst/>
          </a:prstGeom>
          <a:noFill/>
          <a:ln/>
        </p:spPr>
        <p:txBody>
          <a:bodyPr wrap="square" lIns="0" tIns="0" rIns="0" bIns="0" rtlCol="0" anchor="t"/>
          <a:lstStyle/>
          <a:p>
            <a:pPr algn="l" indent="0" marL="0">
              <a:buNone/>
            </a:pPr>
            <a:r>
              <a:rPr lang="en-US" sz="4000" b="1" dirty="0">
                <a:solidFill>
                  <a:schemeClr val="tx1"/>
                </a:solidFill>
              </a:rPr>
              <a:t>감사합니다</a:t>
            </a:r>
            <a:endParaRPr lang="en-US" sz="4000" dirty="0"/>
          </a:p>
        </p:txBody>
      </p:sp>
      <p:sp>
        <p:nvSpPr>
          <p:cNvPr id="3" name="qa"/>
          <p:cNvSpPr txBox="1"/>
          <p:nvPr/>
        </p:nvSpPr>
        <p:spPr>
          <a:xfrm>
            <a:off x="548640" y="3429000"/>
            <a:ext cx="4206240" cy="640080"/>
          </a:xfrm>
          <a:prstGeom prst="rect">
            <a:avLst/>
          </a:prstGeom>
          <a:noFill/>
          <a:ln/>
        </p:spPr>
        <p:txBody>
          <a:bodyPr wrap="square" lIns="0" tIns="0" rIns="0" bIns="0" rtlCol="0" anchor="t"/>
          <a:lstStyle/>
          <a:p>
            <a:pPr indent="0" marL="0">
              <a:buNone/>
            </a:pPr>
            <a:r>
              <a:rPr lang="en-US" sz="3200" b="1" dirty="0">
                <a:solidFill>
                  <a:schemeClr val="accent1"/>
                </a:solidFill>
              </a:rPr>
              <a:t>Q&amp;A</a:t>
            </a:r>
            <a:endParaRPr lang="en-US" sz="3200" dirty="0"/>
          </a:p>
        </p:txBody>
      </p:sp>
      <p:sp>
        <p:nvSpPr>
          <p:cNvPr id="4" name="presenter"/>
          <p:cNvSpPr txBox="1"/>
          <p:nvPr/>
        </p:nvSpPr>
        <p:spPr>
          <a:xfrm>
            <a:off x="548640" y="4343400"/>
            <a:ext cx="4206240" cy="365760"/>
          </a:xfrm>
          <a:prstGeom prst="rect">
            <a:avLst/>
          </a:prstGeom>
          <a:noFill/>
          <a:ln/>
        </p:spPr>
        <p:txBody>
          <a:bodyPr wrap="square" lIns="0" tIns="0" rIns="0" bIns="0" rtlCol="0" anchor="t"/>
          <a:lstStyle/>
          <a:p>
            <a:pPr indent="0" marL="0">
              <a:buNone/>
            </a:pPr>
            <a:r>
              <a:rPr lang="en-US" sz="1600" b="1" dirty="0">
                <a:solidFill>
                  <a:schemeClr val="tx1"/>
                </a:solidFill>
              </a:rPr>
              <a:t>최예현</a:t>
            </a:r>
            <a:endParaRPr lang="en-US" sz="1600" dirty="0"/>
          </a:p>
        </p:txBody>
      </p:sp>
    </p:spTree>
  </p:cSld>
  <p:clrMapOvr>
    <a:masterClrMapping/>
  </p:clrMapOvr>
</p:sld>
</file>

<file path=ppt/theme/theme1.xml><?xml version="1.0" encoding="utf-8"?>
<a:theme xmlns:a="http://schemas.openxmlformats.org/drawingml/2006/main" name="BatteryVision Dark">
  <a:themeElements>
    <a:clrScheme name="BatteryVision Dark">
      <a:dk1>
        <a:srgbClr val="EEF1F5"/>
      </a:dk1>
      <a:lt1>
        <a:srgbClr val="16191E"/>
      </a:lt1>
      <a:dk2>
        <a:srgbClr val="9AA4B2"/>
      </a:dk2>
      <a:lt2>
        <a:srgbClr val="23272F"/>
      </a:lt2>
      <a:accent1>
        <a:srgbClr val="4FD1C5"/>
      </a:accent1>
      <a:accent2>
        <a:srgbClr val="E5534B"/>
      </a:accent2>
      <a:accent3>
        <a:srgbClr val="F2B33D"/>
      </a:accent3>
      <a:accent4>
        <a:srgbClr val="3B8BEB"/>
      </a:accent4>
      <a:accent5>
        <a:srgbClr val="EB6834"/>
      </a:accent5>
      <a:accent6>
        <a:srgbClr val="1BAF7A"/>
      </a:accent6>
      <a:hlink>
        <a:srgbClr val="4FD1C5"/>
      </a:hlink>
      <a:folHlink>
        <a:srgbClr val="9AA4B2"/>
      </a:folHlink>
    </a:clrScheme>
    <a:fontScheme name="BatteryVision Dark">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배터리 표면 식별 Vision AI</dc:title>
  <dc:subject>PptxGenJS Presentation</dc:subject>
  <dc:creator>PptxGenJS</dc:creator>
  <cp:lastModifiedBy>PptxGenJS</cp:lastModifiedBy>
  <cp:revision>1</cp:revision>
  <dcterms:created xsi:type="dcterms:W3CDTF">2026-10-21T05:11:41Z</dcterms:created>
  <dcterms:modified xsi:type="dcterms:W3CDTF">2026-10-21T05:11:41Z</dcterms:modified>
</cp:coreProperties>
</file>